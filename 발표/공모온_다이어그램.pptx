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5e0379174ead4efa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ableStyles" Target="tableStyles.xml" Id="rId7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heme" Target="theme/theme1.xml" Id="rId6" /><Relationship Type="http://schemas.openxmlformats.org/officeDocument/2006/relationships/viewProps" Target="viewProps.xml" Id="rId5" /><Relationship Type="http://schemas.openxmlformats.org/officeDocument/2006/relationships/presProps" Target="presProps.xml" Id="rId4" /><Relationship Type="http://schemas.openxmlformats.org/officeDocument/2006/relationships/slide" Target="/ppt/slides/slide3.xml" Id="R5e0379174ead4ef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f84f796a6409e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itle"/>
          <p:cNvSpPr txBox="1"/>
          <p:nvPr/>
        </p:nvSpPr>
        <p:spPr>
          <a:xfrm>
            <a:off x="540000" y="252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000000"/>
                </a:solidFill>
                <a:latin typeface="Malgun Gothic"/>
                <a:ea typeface="Malgun Gothic"/>
              </a:rPr>
              <a:t>화면 와이어프레임 — 9개 화면</a:t>
            </a:r>
          </a:p>
        </p:txBody>
      </p:sp>
      <p:sp>
        <p:nvSpPr>
          <p:cNvPr id="100001" name="Sub"/>
          <p:cNvSpPr txBox="1"/>
          <p:nvPr/>
        </p:nvSpPr>
        <p:spPr>
          <a:xfrm>
            <a:off x="540000" y="918000"/>
            <a:ext cx="10800000" cy="324000"/>
          </a:xfrm>
          <a:prstGeom prst="rect">
            <a:avLst/>
          </a:prstGeom>
        </p:spPr>
        <p:txBody>
          <a:bodyPr/>
          <a:lstStyle/>
          <a:p>
            <a:r>
              <a:rPr lang="en-US" sz="1400">
                <a:solidFill>
                  <a:srgbClr val="6B7280"/>
                </a:solidFill>
                <a:latin typeface="Malgun Gothic"/>
                <a:ea typeface="Malgun Gothic"/>
              </a:rPr>
              <a:t>공모온 화면 구성과 실제 주소(URL) — History API 직접 구현 라우팅</a:t>
            </a:r>
          </a:p>
        </p:txBody>
      </p:sp>
      <p:sp>
        <p:nvSpPr>
          <p:cNvPr id="100002" name="C1F"/>
          <p:cNvSpPr/>
          <p:nvPr/>
        </p:nvSpPr>
        <p:spPr>
          <a:xfrm>
            <a:off x="540000" y="1332000"/>
            <a:ext cx="3492000" cy="156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03" name="C1H"/>
          <p:cNvSpPr/>
          <p:nvPr/>
        </p:nvSpPr>
        <p:spPr>
          <a:xfrm>
            <a:off x="540000" y="1332000"/>
            <a:ext cx="3492000" cy="34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lIns="126000" tIns="36000" rIns="72000" bIns="36000" anchor="ctr"/>
          <a:lstStyle/>
          <a:p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1 · 홈   (/)</a:t>
            </a:r>
          </a:p>
        </p:txBody>
      </p:sp>
      <p:sp>
        <p:nvSpPr>
          <p:cNvPr id="100004" name="C1B"/>
          <p:cNvSpPr/>
          <p:nvPr/>
        </p:nvSpPr>
        <p:spPr>
          <a:xfrm>
            <a:off x="540000" y="1674000"/>
            <a:ext cx="3492000" cy="1224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lIns="126000" tIns="54000" rIns="90000" bIns="54000" anchor="ctr"/>
          <a:lstStyle/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히어로 — 서비스 소개·타이핑 문구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검색창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서비스 바로가기 (하단 ☰ 메뉴)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오늘의 공모전 카드</a:t>
            </a:r>
          </a:p>
        </p:txBody>
      </p:sp>
      <p:sp>
        <p:nvSpPr>
          <p:cNvPr id="100005" name="C2F"/>
          <p:cNvSpPr/>
          <p:nvPr/>
        </p:nvSpPr>
        <p:spPr>
          <a:xfrm>
            <a:off x="4356000" y="1332000"/>
            <a:ext cx="3492000" cy="156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06" name="C2H"/>
          <p:cNvSpPr/>
          <p:nvPr/>
        </p:nvSpPr>
        <p:spPr>
          <a:xfrm>
            <a:off x="4356000" y="1332000"/>
            <a:ext cx="3492000" cy="34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lIns="126000" tIns="36000" rIns="72000" bIns="36000" anchor="ctr"/>
          <a:lstStyle/>
          <a:p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2 · 유형 검사   (/test)</a:t>
            </a:r>
          </a:p>
        </p:txBody>
      </p:sp>
      <p:sp>
        <p:nvSpPr>
          <p:cNvPr id="100007" name="C2B"/>
          <p:cNvSpPr/>
          <p:nvPr/>
        </p:nvSpPr>
        <p:spPr>
          <a:xfrm>
            <a:off x="4356000" y="1674000"/>
            <a:ext cx="3492000" cy="1224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lIns="126000" tIns="54000" rIns="90000" bIns="54000" anchor="ctr"/>
          <a:lstStyle/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진행 상태 표시 (30문항)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문항 · 선택지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이전 · 다음 버튼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결과 — 유형·일치율·강점·힌트</a:t>
            </a:r>
          </a:p>
        </p:txBody>
      </p:sp>
      <p:sp>
        <p:nvSpPr>
          <p:cNvPr id="100008" name="C3F"/>
          <p:cNvSpPr/>
          <p:nvPr/>
        </p:nvSpPr>
        <p:spPr>
          <a:xfrm>
            <a:off x="8172000" y="1332000"/>
            <a:ext cx="3492000" cy="156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09" name="C3H"/>
          <p:cNvSpPr/>
          <p:nvPr/>
        </p:nvSpPr>
        <p:spPr>
          <a:xfrm>
            <a:off x="8172000" y="1332000"/>
            <a:ext cx="3492000" cy="34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lIns="126000" tIns="36000" rIns="72000" bIns="36000" anchor="ctr"/>
          <a:lstStyle/>
          <a:p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3 · 아이디어 입력   (/input)</a:t>
            </a:r>
          </a:p>
        </p:txBody>
      </p:sp>
      <p:sp>
        <p:nvSpPr>
          <p:cNvPr id="100010" name="C3B"/>
          <p:cNvSpPr/>
          <p:nvPr/>
        </p:nvSpPr>
        <p:spPr>
          <a:xfrm>
            <a:off x="8172000" y="1674000"/>
            <a:ext cx="3492000" cy="1224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lIns="126000" tIns="54000" rIns="90000" bIns="54000" anchor="ctr"/>
          <a:lstStyle/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제목 · 설명 입력칸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관심 분야 선택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맞춤 아이디어 힌트 3개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분석하기 버튼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내 아이디어 보관함</a:t>
            </a:r>
          </a:p>
        </p:txBody>
      </p:sp>
      <p:sp>
        <p:nvSpPr>
          <p:cNvPr id="100011" name="C4F"/>
          <p:cNvSpPr/>
          <p:nvPr/>
        </p:nvSpPr>
        <p:spPr>
          <a:xfrm>
            <a:off x="540000" y="3078000"/>
            <a:ext cx="3492000" cy="156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12" name="C4H"/>
          <p:cNvSpPr/>
          <p:nvPr/>
        </p:nvSpPr>
        <p:spPr>
          <a:xfrm>
            <a:off x="540000" y="3078000"/>
            <a:ext cx="3492000" cy="34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lIns="126000" tIns="36000" rIns="72000" bIns="36000" anchor="ctr"/>
          <a:lstStyle/>
          <a:p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4 · 분석 결과   (/result)</a:t>
            </a:r>
          </a:p>
        </p:txBody>
      </p:sp>
      <p:sp>
        <p:nvSpPr>
          <p:cNvPr id="100013" name="C4B"/>
          <p:cNvSpPr/>
          <p:nvPr/>
        </p:nvSpPr>
        <p:spPr>
          <a:xfrm>
            <a:off x="540000" y="3420000"/>
            <a:ext cx="3492000" cy="1224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lIns="126000" tIns="54000" rIns="90000" bIns="54000" anchor="ctr"/>
          <a:lstStyle/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한 줄 요약 배너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상세 분석 — 강점·보완·심사·확장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추천 공모전 순위 (적합도)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제안서 초안 · 자가 점검</a:t>
            </a:r>
          </a:p>
        </p:txBody>
      </p:sp>
      <p:sp>
        <p:nvSpPr>
          <p:cNvPr id="100014" name="C5F"/>
          <p:cNvSpPr/>
          <p:nvPr/>
        </p:nvSpPr>
        <p:spPr>
          <a:xfrm>
            <a:off x="4356000" y="3078000"/>
            <a:ext cx="3492000" cy="156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15" name="C5H"/>
          <p:cNvSpPr/>
          <p:nvPr/>
        </p:nvSpPr>
        <p:spPr>
          <a:xfrm>
            <a:off x="4356000" y="3078000"/>
            <a:ext cx="3492000" cy="34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lIns="126000" tIns="36000" rIns="72000" bIns="36000" anchor="ctr"/>
          <a:lstStyle/>
          <a:p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5 · 공모전 탐색   (/contest)</a:t>
            </a:r>
          </a:p>
        </p:txBody>
      </p:sp>
      <p:sp>
        <p:nvSpPr>
          <p:cNvPr id="100016" name="C5B"/>
          <p:cNvSpPr/>
          <p:nvPr/>
        </p:nvSpPr>
        <p:spPr>
          <a:xfrm>
            <a:off x="4356000" y="3420000"/>
            <a:ext cx="3492000" cy="1224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lIns="126000" tIns="54000" rIns="90000" bIns="54000" anchor="ctr"/>
          <a:lstStyle/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검색창 · 접수 상태 필터 (?status=)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정렬 (적합도 · 마감순)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공모전 목록 카드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   제목 · D-Day · 적합도 배지</a:t>
            </a:r>
          </a:p>
        </p:txBody>
      </p:sp>
      <p:sp>
        <p:nvSpPr>
          <p:cNvPr id="100017" name="C6F"/>
          <p:cNvSpPr/>
          <p:nvPr/>
        </p:nvSpPr>
        <p:spPr>
          <a:xfrm>
            <a:off x="8172000" y="3078000"/>
            <a:ext cx="3492000" cy="156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18" name="C6H"/>
          <p:cNvSpPr/>
          <p:nvPr/>
        </p:nvSpPr>
        <p:spPr>
          <a:xfrm>
            <a:off x="8172000" y="3078000"/>
            <a:ext cx="3492000" cy="34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lIns="126000" tIns="36000" rIns="72000" bIns="36000" anchor="ctr"/>
          <a:lstStyle/>
          <a:p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6 · 공모전 상세   (/contest/{id})</a:t>
            </a:r>
          </a:p>
        </p:txBody>
      </p:sp>
      <p:sp>
        <p:nvSpPr>
          <p:cNvPr id="100019" name="C6B"/>
          <p:cNvSpPr/>
          <p:nvPr/>
        </p:nvSpPr>
        <p:spPr>
          <a:xfrm>
            <a:off x="8172000" y="3420000"/>
            <a:ext cx="3492000" cy="1224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lIns="126000" tIns="54000" rIns="90000" bIns="54000" anchor="ctr"/>
          <a:lstStyle/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대표 이미지 · 제목 · 주최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D-Day · 자격 요건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설명 · 응모 방법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찜 · 응모 기록 버튼</a:t>
            </a:r>
          </a:p>
        </p:txBody>
      </p:sp>
      <p:sp>
        <p:nvSpPr>
          <p:cNvPr id="100020" name="C7F"/>
          <p:cNvSpPr/>
          <p:nvPr/>
        </p:nvSpPr>
        <p:spPr>
          <a:xfrm>
            <a:off x="540000" y="4824000"/>
            <a:ext cx="3492000" cy="156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21" name="C7H"/>
          <p:cNvSpPr/>
          <p:nvPr/>
        </p:nvSpPr>
        <p:spPr>
          <a:xfrm>
            <a:off x="540000" y="4824000"/>
            <a:ext cx="3492000" cy="34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lIns="126000" tIns="36000" rIns="72000" bIns="36000" anchor="ctr"/>
          <a:lstStyle/>
          <a:p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7 · 연습 노트   (/notes)</a:t>
            </a:r>
          </a:p>
        </p:txBody>
      </p:sp>
      <p:sp>
        <p:nvSpPr>
          <p:cNvPr id="100022" name="C7B"/>
          <p:cNvSpPr/>
          <p:nvPr/>
        </p:nvSpPr>
        <p:spPr>
          <a:xfrm>
            <a:off x="540000" y="5166000"/>
            <a:ext cx="3492000" cy="1224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lIns="126000" tIns="54000" rIns="90000" bIns="54000" anchor="ctr"/>
          <a:lstStyle/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저장된 아이디어 선택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예상 질문 목록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답변 작성 · 저장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연습 기록 누적</a:t>
            </a:r>
          </a:p>
        </p:txBody>
      </p:sp>
      <p:sp>
        <p:nvSpPr>
          <p:cNvPr id="100023" name="C8F"/>
          <p:cNvSpPr/>
          <p:nvPr/>
        </p:nvSpPr>
        <p:spPr>
          <a:xfrm>
            <a:off x="4356000" y="4824000"/>
            <a:ext cx="3492000" cy="156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24" name="C8H"/>
          <p:cNvSpPr/>
          <p:nvPr/>
        </p:nvSpPr>
        <p:spPr>
          <a:xfrm>
            <a:off x="4356000" y="4824000"/>
            <a:ext cx="3492000" cy="34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lIns="126000" tIns="36000" rIns="72000" bIns="36000" anchor="ctr"/>
          <a:lstStyle/>
          <a:p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8 · 대시보드   (/dashboard)</a:t>
            </a:r>
          </a:p>
        </p:txBody>
      </p:sp>
      <p:sp>
        <p:nvSpPr>
          <p:cNvPr id="100025" name="C8B"/>
          <p:cNvSpPr/>
          <p:nvPr/>
        </p:nvSpPr>
        <p:spPr>
          <a:xfrm>
            <a:off x="4356000" y="5166000"/>
            <a:ext cx="3492000" cy="1224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lIns="126000" tIns="54000" rIns="90000" bIns="54000" anchor="ctr"/>
          <a:lstStyle/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KPI 카드 — 응모·찜·아이디어·완주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마감 임박 공모전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도전 히스토리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출품 로드맵</a:t>
            </a:r>
          </a:p>
        </p:txBody>
      </p:sp>
      <p:sp>
        <p:nvSpPr>
          <p:cNvPr id="100026" name="C9F"/>
          <p:cNvSpPr/>
          <p:nvPr/>
        </p:nvSpPr>
        <p:spPr>
          <a:xfrm>
            <a:off x="8172000" y="4824000"/>
            <a:ext cx="3492000" cy="156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27" name="C9H"/>
          <p:cNvSpPr/>
          <p:nvPr/>
        </p:nvSpPr>
        <p:spPr>
          <a:xfrm>
            <a:off x="8172000" y="4824000"/>
            <a:ext cx="3492000" cy="342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lIns="126000" tIns="36000" rIns="72000" bIns="36000" anchor="ctr"/>
          <a:lstStyle/>
          <a:p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9 · 마이페이지   (/mypage)</a:t>
            </a:r>
          </a:p>
        </p:txBody>
      </p:sp>
      <p:sp>
        <p:nvSpPr>
          <p:cNvPr id="100028" name="C9B"/>
          <p:cNvSpPr/>
          <p:nvPr/>
        </p:nvSpPr>
        <p:spPr>
          <a:xfrm>
            <a:off x="8172000" y="5166000"/>
            <a:ext cx="3492000" cy="1224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lIns="126000" tIns="54000" rIns="90000" bIns="54000" anchor="ctr"/>
          <a:lstStyle/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찜 · 응모 기록 (?section=)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응모 달력 (마감·결과 표시)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회원정보 수정</a:t>
            </a:r>
          </a:p>
          <a:p>
            <a:r>
              <a:rPr lang="en-US" sz="1050">
                <a:solidFill>
                  <a:srgbClr val="4B5563"/>
                </a:solidFill>
                <a:latin typeface="Malgun Gothic"/>
                <a:ea typeface="Malgun Gothic"/>
              </a:rPr>
              <a:t>· 알림 설정</a:t>
            </a:r>
          </a:p>
        </p:txBody>
      </p:sp>
      <p:sp>
        <p:nvSpPr>
          <p:cNvPr id="100029" name="Caption"/>
          <p:cNvSpPr txBox="1"/>
          <p:nvPr/>
        </p:nvSpPr>
        <p:spPr>
          <a:xfrm>
            <a:off x="540000" y="6516000"/>
            <a:ext cx="11113200" cy="288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6B7280"/>
                </a:solidFill>
                <a:latin typeface="Malgun Gothic"/>
                <a:ea typeface="Malgun Gothic"/>
              </a:rPr>
              <a:t>번호 = 이용 흐름 (1 검사 → 3 입력 → 4 결과) — 각 화면은 주소로 직접 진입·공유 가능 (/contest/{id}, ?status=, ?section=)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6" name="Title"/>
          <p:cNvSpPr txBox="1"/>
          <p:nvPr/>
        </p:nvSpPr>
        <p:spPr>
          <a:xfrm xmlns:a="http://schemas.openxmlformats.org/drawingml/2006/main">
            <a:off x="540000" y="252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000000"/>
                </a:solidFill>
                <a:latin typeface="Malgun Gothic"/>
                <a:ea typeface="Malgun Gothic"/>
              </a:rPr>
              <a:t>데이터 구조 (ERD) — PostgreSQL 8테이블</a:t>
            </a:r>
          </a:p>
        </p:txBody>
      </p:sp>
      <p:sp>
        <p:nvSpPr>
          <p:cNvPr id="100057" name="Sub"/>
          <p:cNvSpPr txBox="1"/>
          <p:nvPr/>
        </p:nvSpPr>
        <p:spPr>
          <a:xfrm xmlns:a="http://schemas.openxmlformats.org/drawingml/2006/main">
            <a:off x="540000" y="918000"/>
            <a:ext cx="72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B7280"/>
                </a:solidFill>
                <a:latin typeface="Malgun Gothic"/>
                <a:ea typeface="Malgun Gothic"/>
              </a:rPr>
              <a:t>Docker PostgreSQL 17 · 컨테이너 gongmo-on-db · 접속 backend/.env DATABASE_URL</a:t>
            </a:r>
          </a:p>
        </p:txBody>
      </p:sp>
      <p:sp>
        <p:nvSpPr>
          <p:cNvPr id="100058" name="E1H"/>
          <p:cNvSpPr/>
          <p:nvPr/>
        </p:nvSpPr>
        <p:spPr>
          <a:xfrm xmlns:a="http://schemas.openxmlformats.org/drawingml/2006/main">
            <a:off x="540000" y="1512000"/>
            <a:ext cx="2952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8000" tIns="18000" rIns="54000" bIns="18000" anchor="ctr"/>
          <a:lstStyle xmlns:a="http://schemas.openxmlformats.org/drawingml/2006/main"/>
          <a:p xmlns:a="http://schemas.openxmlformats.org/drawingml/2006/main"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accounts · 계정</a:t>
            </a:r>
          </a:p>
        </p:txBody>
      </p:sp>
      <p:sp>
        <p:nvSpPr>
          <p:cNvPr id="100059" name="E1B"/>
          <p:cNvSpPr/>
          <p:nvPr/>
        </p:nvSpPr>
        <p:spPr>
          <a:xfrm xmlns:a="http://schemas.openxmlformats.org/drawingml/2006/main">
            <a:off x="540000" y="1818000"/>
            <a:ext cx="2952000" cy="15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ADE"/>
            </a:solidFill>
          </a:ln>
        </p:spPr>
        <p:txBody>
          <a:bodyPr xmlns:a="http://schemas.openxmlformats.org/drawingml/2006/main" lIns="108000" tIns="54000" rIns="72000" bIns="54000" anchor="ctr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nickname (PK)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salt + password_hash (scrypt)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email · phone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created_at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· 비밀번호 원본 미저장</a:t>
            </a:r>
          </a:p>
        </p:txBody>
      </p:sp>
      <p:sp>
        <p:nvSpPr>
          <p:cNvPr id="100060" name="E2H"/>
          <p:cNvSpPr/>
          <p:nvPr/>
        </p:nvSpPr>
        <p:spPr>
          <a:xfrm xmlns:a="http://schemas.openxmlformats.org/drawingml/2006/main">
            <a:off x="4320000" y="936000"/>
            <a:ext cx="2952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8000" tIns="18000" rIns="54000" bIns="18000" anchor="ctr"/>
          <a:lstStyle xmlns:a="http://schemas.openxmlformats.org/drawingml/2006/main"/>
          <a:p xmlns:a="http://schemas.openxmlformats.org/drawingml/2006/main"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sessions · 로그인 세션</a:t>
            </a:r>
          </a:p>
        </p:txBody>
      </p:sp>
      <p:sp>
        <p:nvSpPr>
          <p:cNvPr id="100061" name="E2B"/>
          <p:cNvSpPr/>
          <p:nvPr/>
        </p:nvSpPr>
        <p:spPr>
          <a:xfrm xmlns:a="http://schemas.openxmlformats.org/drawingml/2006/main">
            <a:off x="4320000" y="1242000"/>
            <a:ext cx="2952000" cy="10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ADE"/>
            </a:solidFill>
          </a:ln>
        </p:spPr>
        <p:txBody>
          <a:bodyPr xmlns:a="http://schemas.openxmlformats.org/drawingml/2006/main" lIns="108000" tIns="54000" rIns="72000" bIns="54000" anchor="ctr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token (PK)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nickname (FK → accounts)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created_at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· 30일 만료 · 사용자당 최대 5개</a:t>
            </a:r>
          </a:p>
        </p:txBody>
      </p:sp>
      <p:sp>
        <p:nvSpPr>
          <p:cNvPr id="100062" name="E3H"/>
          <p:cNvSpPr/>
          <p:nvPr/>
        </p:nvSpPr>
        <p:spPr>
          <a:xfrm xmlns:a="http://schemas.openxmlformats.org/drawingml/2006/main">
            <a:off x="4320000" y="2520000"/>
            <a:ext cx="2952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8000" tIns="18000" rIns="54000" bIns="18000" anchor="ctr"/>
          <a:lstStyle xmlns:a="http://schemas.openxmlformats.org/drawingml/2006/main"/>
          <a:p xmlns:a="http://schemas.openxmlformats.org/drawingml/2006/main"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userdata · 사용자 데이터</a:t>
            </a:r>
          </a:p>
        </p:txBody>
      </p:sp>
      <p:sp>
        <p:nvSpPr>
          <p:cNvPr id="100063" name="E3B"/>
          <p:cNvSpPr/>
          <p:nvPr/>
        </p:nvSpPr>
        <p:spPr>
          <a:xfrm xmlns:a="http://schemas.openxmlformats.org/drawingml/2006/main">
            <a:off x="4320000" y="2826000"/>
            <a:ext cx="2952000" cy="165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ADE"/>
            </a:solidFill>
          </a:ln>
        </p:spPr>
        <p:txBody>
          <a:bodyPr xmlns:a="http://schemas.openxmlformats.org/drawingml/2006/main" lIns="108000" tIns="54000" rIns="72000" bIns="54000" anchor="ctr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nickname (PK · FK → accounts)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data (jsonb) · updated_at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· myContests[] · wishlist[]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· savedIdeas[] · typeTest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· checklist{} · roadmaps{}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· practiceNotes[]</a:t>
            </a:r>
          </a:p>
        </p:txBody>
      </p:sp>
      <p:sp>
        <p:nvSpPr>
          <p:cNvPr id="100064" name="E4H"/>
          <p:cNvSpPr/>
          <p:nvPr/>
        </p:nvSpPr>
        <p:spPr>
          <a:xfrm xmlns:a="http://schemas.openxmlformats.org/drawingml/2006/main">
            <a:off x="8064000" y="936000"/>
            <a:ext cx="360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8000" tIns="18000" rIns="54000" bIns="18000" anchor="ctr"/>
          <a:lstStyle xmlns:a="http://schemas.openxmlformats.org/drawingml/2006/main"/>
          <a:p xmlns:a="http://schemas.openxmlformats.org/drawingml/2006/main"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contests · 공모전 DB</a:t>
            </a:r>
          </a:p>
        </p:txBody>
      </p:sp>
      <p:sp>
        <p:nvSpPr>
          <p:cNvPr id="100065" name="E4B"/>
          <p:cNvSpPr/>
          <p:nvPr/>
        </p:nvSpPr>
        <p:spPr>
          <a:xfrm xmlns:a="http://schemas.openxmlformats.org/drawingml/2006/main">
            <a:off x="8064000" y="1242000"/>
            <a:ext cx="3600000" cy="2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ADE"/>
            </a:solidFill>
          </a:ln>
        </p:spPr>
        <p:txBody>
          <a:bodyPr xmlns:a="http://schemas.openxmlformats.org/drawingml/2006/main" lIns="108000" tIns="54000" rIns="72000" bIns="54000" anchor="ctr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id (PK · 1000+)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UNIQUE (source + source_id)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title · organizer · field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start_date · deadline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eligibility · age_groups (jsonb)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image · url · description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apply_steps (jsonb)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· 위비티·콘테스트코리아 자동 수집</a:t>
            </a:r>
          </a:p>
        </p:txBody>
      </p:sp>
      <p:sp>
        <p:nvSpPr>
          <p:cNvPr id="100066" name="E5H"/>
          <p:cNvSpPr/>
          <p:nvPr/>
        </p:nvSpPr>
        <p:spPr>
          <a:xfrm xmlns:a="http://schemas.openxmlformats.org/drawingml/2006/main">
            <a:off x="540000" y="4536000"/>
            <a:ext cx="2952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8000" tIns="18000" rIns="54000" bIns="18000" anchor="ctr"/>
          <a:lstStyle xmlns:a="http://schemas.openxmlformats.org/drawingml/2006/main"/>
          <a:p xmlns:a="http://schemas.openxmlformats.org/drawingml/2006/main"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subscribers · 이메일 구독</a:t>
            </a:r>
          </a:p>
        </p:txBody>
      </p:sp>
      <p:sp>
        <p:nvSpPr>
          <p:cNvPr id="100067" name="E5B"/>
          <p:cNvSpPr/>
          <p:nvPr/>
        </p:nvSpPr>
        <p:spPr>
          <a:xfrm xmlns:a="http://schemas.openxmlformats.org/drawingml/2006/main">
            <a:off x="540000" y="4842000"/>
            <a:ext cx="2952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ADE"/>
            </a:solidFill>
          </a:ln>
        </p:spPr>
        <p:txBody>
          <a:bodyPr xmlns:a="http://schemas.openxmlformats.org/drawingml/2006/main" lIns="108000" tIns="54000" rIns="72000" bIns="54000" anchor="ctr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nickname (PK) + email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idea_categories (jsonb)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contests (jsonb · 최대 50)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opt_in · sent_keys (jsonb)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· 계정 FK 없음 — 비로그인 구독</a:t>
            </a:r>
          </a:p>
        </p:txBody>
      </p:sp>
      <p:sp>
        <p:nvSpPr>
          <p:cNvPr id="100068" name="E6H"/>
          <p:cNvSpPr/>
          <p:nvPr/>
        </p:nvSpPr>
        <p:spPr>
          <a:xfrm xmlns:a="http://schemas.openxmlformats.org/drawingml/2006/main">
            <a:off x="8064000" y="4932000"/>
            <a:ext cx="360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8000" tIns="18000" rIns="54000" bIns="18000" anchor="ctr"/>
          <a:lstStyle xmlns:a="http://schemas.openxmlformats.org/drawingml/2006/main"/>
          <a:p xmlns:a="http://schemas.openxmlformats.org/drawingml/2006/main"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outbox · 발송 기록</a:t>
            </a:r>
          </a:p>
        </p:txBody>
      </p:sp>
      <p:sp>
        <p:nvSpPr>
          <p:cNvPr id="100069" name="E6B"/>
          <p:cNvSpPr/>
          <p:nvPr/>
        </p:nvSpPr>
        <p:spPr>
          <a:xfrm xmlns:a="http://schemas.openxmlformats.org/drawingml/2006/main">
            <a:off x="8064000" y="5238000"/>
            <a:ext cx="360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ADE"/>
            </a:solidFill>
          </a:ln>
        </p:spPr>
        <p:txBody>
          <a:bodyPr xmlns:a="http://schemas.openxmlformats.org/drawingml/2006/main" lIns="108000" tIns="54000" rIns="72000" bIns="54000" anchor="ctr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id (PK) · at · channel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to_addr · subject · body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via (smtp | log | failed)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· 최대 200건</a:t>
            </a:r>
          </a:p>
        </p:txBody>
      </p:sp>
      <p:sp>
        <p:nvSpPr>
          <p:cNvPr id="100070" name="E7H"/>
          <p:cNvSpPr/>
          <p:nvPr/>
        </p:nvSpPr>
        <p:spPr>
          <a:xfrm xmlns:a="http://schemas.openxmlformats.org/drawingml/2006/main">
            <a:off x="4320000" y="4716000"/>
            <a:ext cx="2952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8000" tIns="18000" rIns="54000" bIns="18000" anchor="ctr"/>
          <a:lstStyle xmlns:a="http://schemas.openxmlformats.org/drawingml/2006/main"/>
          <a:p xmlns:a="http://schemas.openxmlformats.org/drawingml/2006/main"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inquiries · 문의 접수</a:t>
            </a:r>
          </a:p>
        </p:txBody>
      </p:sp>
      <p:sp>
        <p:nvSpPr>
          <p:cNvPr id="100071" name="E7B"/>
          <p:cNvSpPr/>
          <p:nvPr/>
        </p:nvSpPr>
        <p:spPr>
          <a:xfrm xmlns:a="http://schemas.openxmlformats.org/drawingml/2006/main">
            <a:off x="4320000" y="5022000"/>
            <a:ext cx="2952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ADE"/>
            </a:solidFill>
          </a:ln>
        </p:spPr>
        <p:txBody>
          <a:bodyPr xmlns:a="http://schemas.openxmlformats.org/drawingml/2006/main" lIns="108000" tIns="54000" rIns="72000" bIns="54000" anchor="ctr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id (PK) · at · email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category · content (최대 2,000자)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· 최대 500건</a:t>
            </a:r>
          </a:p>
        </p:txBody>
      </p:sp>
      <p:sp>
        <p:nvSpPr>
          <p:cNvPr id="100072" name="E8H"/>
          <p:cNvSpPr/>
          <p:nvPr/>
        </p:nvSpPr>
        <p:spPr>
          <a:xfrm xmlns:a="http://schemas.openxmlformats.org/drawingml/2006/main">
            <a:off x="8064000" y="3492000"/>
            <a:ext cx="360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8000" tIns="18000" rIns="54000" bIns="18000" anchor="ctr"/>
          <a:lstStyle xmlns:a="http://schemas.openxmlformats.org/drawingml/2006/main"/>
          <a:p xmlns:a="http://schemas.openxmlformats.org/drawingml/2006/main">
            <a:r>
              <a:rPr lang="en-US" sz="1250" b="1">
                <a:solidFill>
                  <a:srgbClr val="FFFFFF"/>
                </a:solidFill>
                <a:latin typeface="Malgun Gothic"/>
                <a:ea typeface="Malgun Gothic"/>
              </a:rPr>
              <a:t>sync_state · 수집기 상태</a:t>
            </a:r>
          </a:p>
        </p:txBody>
      </p:sp>
      <p:sp>
        <p:nvSpPr>
          <p:cNvPr id="100073" name="E8B"/>
          <p:cNvSpPr/>
          <p:nvPr/>
        </p:nvSpPr>
        <p:spPr>
          <a:xfrm xmlns:a="http://schemas.openxmlformats.org/drawingml/2006/main">
            <a:off x="8064000" y="3798000"/>
            <a:ext cx="36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ADE"/>
            </a:solidFill>
          </a:ln>
        </p:spPr>
        <p:txBody>
          <a:bodyPr xmlns:a="http://schemas.openxmlformats.org/drawingml/2006/main" lIns="108000" tIns="54000" rIns="72000" bIns="54000" anchor="ctr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id = 1 (단일 행)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next_id · registry (jsonb)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last_sync</a:t>
            </a:r>
          </a:p>
          <a:p xmlns:a="http://schemas.openxmlformats.org/drawingml/2006/main">
            <a:r>
              <a:rPr lang="en-US" sz="1000">
                <a:solidFill>
                  <a:srgbClr val="374151"/>
                </a:solidFill>
                <a:latin typeface="Malgun Gothic"/>
                <a:ea typeface="Malgun Gothic"/>
              </a:rPr>
              <a:t>· 공모전 자동 수집의 내부 상태</a:t>
            </a:r>
          </a:p>
        </p:txBody>
      </p:sp>
      <p:sp>
        <p:nvSpPr>
          <p:cNvPr id="100074" name="L1"/>
          <p:cNvSpPr txBox="1"/>
          <p:nvPr/>
        </p:nvSpPr>
        <p:spPr>
          <a:xfrm xmlns:a="http://schemas.openxmlformats.org/drawingml/2006/main">
            <a:off x="3618000" y="1908000"/>
            <a:ext cx="576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050" b="1">
                <a:solidFill>
                  <a:srgbClr val="2563EB"/>
                </a:solidFill>
                <a:latin typeface="Malgun Gothic"/>
                <a:ea typeface="Malgun Gothic"/>
              </a:rPr>
              <a:t>1 : N</a:t>
            </a:r>
          </a:p>
        </p:txBody>
      </p:sp>
      <p:sp>
        <p:nvSpPr>
          <p:cNvPr id="100075" name="L2"/>
          <p:cNvSpPr txBox="1"/>
          <p:nvPr/>
        </p:nvSpPr>
        <p:spPr>
          <a:xfrm xmlns:a="http://schemas.openxmlformats.org/drawingml/2006/main">
            <a:off x="3618000" y="2952000"/>
            <a:ext cx="576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050" b="1">
                <a:solidFill>
                  <a:srgbClr val="2563EB"/>
                </a:solidFill>
                <a:latin typeface="Malgun Gothic"/>
                <a:ea typeface="Malgun Gothic"/>
              </a:rPr>
              <a:t>1 : 1</a:t>
            </a:r>
          </a:p>
        </p:txBody>
      </p:sp>
      <p:sp>
        <p:nvSpPr>
          <p:cNvPr id="100076" name="L3"/>
          <p:cNvSpPr txBox="1"/>
          <p:nvPr/>
        </p:nvSpPr>
        <p:spPr>
          <a:xfrm xmlns:a="http://schemas.openxmlformats.org/drawingml/2006/main">
            <a:off x="2124000" y="4032000"/>
            <a:ext cx="864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050" b="1">
                <a:solidFill>
                  <a:srgbClr val="9CA3AF"/>
                </a:solidFill>
                <a:latin typeface="Malgun Gothic"/>
                <a:ea typeface="Malgun Gothic"/>
              </a:rPr>
              <a:t>FK 없음</a:t>
            </a:r>
          </a:p>
        </p:txBody>
      </p:sp>
      <p:sp>
        <p:nvSpPr>
          <p:cNvPr id="100077" name="L4"/>
          <p:cNvSpPr txBox="1"/>
          <p:nvPr/>
        </p:nvSpPr>
        <p:spPr>
          <a:xfrm xmlns:a="http://schemas.openxmlformats.org/drawingml/2006/main">
            <a:off x="7380000" y="2880000"/>
            <a:ext cx="684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050" b="1">
                <a:solidFill>
                  <a:srgbClr val="9CA3AF"/>
                </a:solidFill>
                <a:latin typeface="Malgun Gothic"/>
                <a:ea typeface="Malgun Gothic"/>
              </a:rPr>
              <a:t>N : 1 (참조)</a:t>
            </a:r>
          </a:p>
        </p:txBody>
      </p:sp>
      <p:sp>
        <p:nvSpPr>
          <p:cNvPr id="100078" name="L5"/>
          <p:cNvSpPr txBox="1"/>
          <p:nvPr/>
        </p:nvSpPr>
        <p:spPr>
          <a:xfrm xmlns:a="http://schemas.openxmlformats.org/drawingml/2006/main">
            <a:off x="8748000" y="3258000"/>
            <a:ext cx="504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050" b="1">
                <a:solidFill>
                  <a:srgbClr val="6B7280"/>
                </a:solidFill>
                <a:latin typeface="Malgun Gothic"/>
                <a:ea typeface="Malgun Gothic"/>
              </a:rPr>
              <a:t>1 : N</a:t>
            </a:r>
          </a:p>
        </p:txBody>
      </p:sp>
      <p:sp>
        <p:nvSpPr>
          <p:cNvPr id="100079" name="Caption"/>
          <p:cNvSpPr txBox="1"/>
          <p:nvPr/>
        </p:nvSpPr>
        <p:spPr>
          <a:xfrm xmlns:a="http://schemas.openxmlformats.org/drawingml/2006/main">
            <a:off x="540000" y="6534000"/>
            <a:ext cx="111132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6B7280"/>
                </a:solidFill>
                <a:latin typeface="Malgun Gothic"/>
                <a:ea typeface="Malgun Gothic"/>
              </a:rPr>
              <a:t>모든 서비스 데이터는 Docker PostgreSQL에 저장됩니다. 계정 삭제 시 세션·userdata도 함께 삭제(CASCADE)되고, 로그인하면 브라우저의 데이터가 userdata에 백업·복원됩니다 (PUT 시 전체 교체 + sanitize)</a:t>
            </a:r>
          </a:p>
        </p:txBody>
      </p:sp>
      <p:cxnSp>
        <p:nvCxnSpPr>
          <p:cNvPr id="100080" name="R1"/>
          <p:cNvCxnSpPr>
            <a:stCxn xmlns:a="http://schemas.openxmlformats.org/drawingml/2006/main" id="100059" idx="0"/>
            <a:endCxn xmlns:a="http://schemas.openxmlformats.org/drawingml/2006/main" id="100061" idx="0"/>
          </p:cNvCxnSpPr>
          <p:nvPr/>
        </p:nvCxnSpPr>
        <p:spPr>
          <a:xfrm xmlns:a="http://schemas.openxmlformats.org/drawingml/2006/main" flipV="1">
            <a:off x="3492000" y="1764000"/>
            <a:ext cx="828000" cy="828000"/>
          </a:xfrm>
          <a:prstGeom xmlns:a="http://schemas.openxmlformats.org/drawingml/2006/main" prst="bentConnector3">
            <a:avLst/>
          </a:prstGeom>
          <a:ln xmlns:a="http://schemas.openxmlformats.org/drawingml/2006/main" w="15875">
            <a:solidFill>
              <a:srgbClr val="6B7280"/>
            </a:solidFill>
          </a:ln>
        </p:spPr>
      </p:cxnSp>
      <p:cxnSp>
        <p:nvCxnSpPr>
          <p:cNvPr id="100081" name="R2"/>
          <p:cNvCxnSpPr>
            <a:stCxn xmlns:a="http://schemas.openxmlformats.org/drawingml/2006/main" id="100059" idx="0"/>
            <a:endCxn xmlns:a="http://schemas.openxmlformats.org/drawingml/2006/main" id="100063" idx="0"/>
          </p:cNvCxnSpPr>
          <p:nvPr/>
        </p:nvCxnSpPr>
        <p:spPr>
          <a:xfrm xmlns:a="http://schemas.openxmlformats.org/drawingml/2006/main">
            <a:off x="3492000" y="2592000"/>
            <a:ext cx="828000" cy="1062000"/>
          </a:xfrm>
          <a:prstGeom xmlns:a="http://schemas.openxmlformats.org/drawingml/2006/main" prst="bentConnector3">
            <a:avLst/>
          </a:prstGeom>
          <a:ln xmlns:a="http://schemas.openxmlformats.org/drawingml/2006/main" w="15875">
            <a:solidFill>
              <a:srgbClr val="6B7280"/>
            </a:solidFill>
          </a:ln>
        </p:spPr>
      </p:cxnSp>
      <p:cxnSp>
        <p:nvCxnSpPr>
          <p:cNvPr id="100082" name="R3"/>
          <p:cNvCxnSpPr>
            <a:stCxn xmlns:a="http://schemas.openxmlformats.org/drawingml/2006/main" id="100059" idx="0"/>
            <a:endCxn xmlns:a="http://schemas.openxmlformats.org/drawingml/2006/main" id="100067" idx="0"/>
          </p:cNvCxnSpPr>
          <p:nvPr/>
        </p:nvCxnSpPr>
        <p:spPr>
          <a:xfrm xmlns:a="http://schemas.openxmlformats.org/drawingml/2006/main">
            <a:off x="2016000" y="3366000"/>
            <a:ext cx="0" cy="147600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9CA3AF"/>
            </a:solidFill>
            <a:prstDash val="dash"/>
          </a:ln>
        </p:spPr>
      </p:cxnSp>
      <p:cxnSp>
        <p:nvCxnSpPr>
          <p:cNvPr id="100083" name="R4"/>
          <p:cNvCxnSpPr>
            <a:stCxn xmlns:a="http://schemas.openxmlformats.org/drawingml/2006/main" id="100063" idx="0"/>
            <a:endCxn xmlns:a="http://schemas.openxmlformats.org/drawingml/2006/main" id="100065" idx="0"/>
          </p:cNvCxnSpPr>
          <p:nvPr/>
        </p:nvCxnSpPr>
        <p:spPr>
          <a:xfrm xmlns:a="http://schemas.openxmlformats.org/drawingml/2006/main" flipV="1">
            <a:off x="7272000" y="2250000"/>
            <a:ext cx="792000" cy="1404000"/>
          </a:xfrm>
          <a:prstGeom xmlns:a="http://schemas.openxmlformats.org/drawingml/2006/main" prst="bentConnector3">
            <a:avLst/>
          </a:prstGeom>
          <a:ln xmlns:a="http://schemas.openxmlformats.org/drawingml/2006/main" w="15875">
            <a:solidFill>
              <a:srgbClr val="9CA3AF"/>
            </a:solidFill>
            <a:prstDash val="dash"/>
          </a:ln>
        </p:spPr>
      </p:cxnSp>
      <p:cxnSp>
        <p:nvCxnSpPr>
          <p:cNvPr id="100084" name="R5"/>
          <p:cNvCxnSpPr>
            <a:stCxn xmlns:a="http://schemas.openxmlformats.org/drawingml/2006/main" id="100073" idx="0"/>
            <a:endCxn xmlns:a="http://schemas.openxmlformats.org/drawingml/2006/main" id="100065" idx="0"/>
          </p:cNvCxnSpPr>
          <p:nvPr/>
        </p:nvCxnSpPr>
        <p:spPr>
          <a:xfrm xmlns:a="http://schemas.openxmlformats.org/drawingml/2006/main" flipV="1">
            <a:off x="9864000" y="3258000"/>
            <a:ext cx="0" cy="54000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6B7280"/>
            </a:solidFill>
          </a:ln>
        </p:spPr>
      </p:cxn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Microsoft Office PowerPoint</Application>
  <PresentationFormat>와이드스크린</PresentationFormat>
  <Paragraphs>101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Malgun Gothic</vt:lpstr>
      <vt:lpstr>Arial</vt:lpstr>
      <vt:lpstr>Office Theme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gaeul kim</cp:lastModifiedBy>
  <cp:revision>1</cp:revision>
  <dcterms:created xsi:type="dcterms:W3CDTF">2026-10-15T05:17:23Z</dcterms:created>
  <dcterms:modified xsi:type="dcterms:W3CDTF">2026-10-15T05:25:04Z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OfficeCLI.Version">
    <vt:lpwstr>1.0.143</vt:lpwstr>
  </op:property>
  <op:property fmtid="{D5CDD505-2E9C-101B-9397-08002B2CF9AE}" pid="3" name="OfficeCLI.LastModified">
    <vt:lpwstr>2026-10-15T05:54:34Z</vt:lpwstr>
  </op:property>
</op:Properties>
</file>