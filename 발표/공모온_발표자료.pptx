
<file path=[Content_Types].xml><?xml version="1.0" encoding="utf-8"?>
<Types xmlns="http://schemas.openxmlformats.org/package/2006/content-types">
  <Default Extension="xml" ContentType="application/vnd.openxmlformats-officedocument.presentationml.presentation.main+xml"/>
  <Default Extension="rels" ContentType="application/vnd.openxmlformats-package.relationships+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notesMasters/notesMaster1.xml" ContentType="application/vnd.openxmlformats-officedocument.presentationml.notesMaster+xml"/>
  <Override PartName="/ppt/notesMasters/theme/theme2.xml" ContentType="application/vnd.openxmlformats-officedocument.them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officeDocument/2006/relationships/officeDocument" Target="/ppt/presentation.xml" Id="R222f52b8f61a41ab" /><Relationship Type="http://schemas.openxmlformats.org/package/2006/relationships/metadata/core-properties" Target="/docProps/core.xml" Id="Red0dc850e9764e74" /><Relationship Type="http://schemas.openxmlformats.org/officeDocument/2006/relationships/extended-properties" Target="/docProps/app.xml" Id="R107cc19fad7d48e0" /><Relationship Type="http://schemas.openxmlformats.org/officeDocument/2006/relationships/custom-properties" Target="/docProps/custom.xml" Id="Rd8157470fad24298" /></Relationships>
</file>

<file path=ppt/presentation.xml><?xml version="1.0" encoding="utf-8"?>
<p:presentation xmlns:r="http://schemas.openxmlformats.org/officeDocument/2006/relationships" xmlns:p="http://schemas.openxmlformats.org/presentationml/2006/main">
  <p:sldMasterIdLst>
    <p:sldMasterId xmlns:r="http://schemas.openxmlformats.org/officeDocument/2006/relationships" id="2147483648" r:id="rId1"/>
  </p:sldMasterIdLst>
  <p:notesMasterIdLst>
    <p:notesMasterId r:id="Rbee942dc4aee48d6"/>
  </p:notesMasterIdLst>
  <p:sldIdLst>
    <p:sldId id="256" r:id="R0fc256c9f5f74ac5"/>
    <p:sldId id="257" r:id="R14a1f73670e34ce1"/>
    <p:sldId id="258" r:id="Rb92666055c9f4d85"/>
    <p:sldId id="259" r:id="R388c200a2db3459f"/>
    <p:sldId id="260" r:id="R4c2ed8350dc449e9"/>
    <p:sldId id="261" r:id="R409fc355b5d540c8"/>
    <p:sldId id="262" r:id="R107ec7e883134171"/>
    <p:sldId id="263" r:id="R17ca394f8ce54751"/>
    <p:sldId id="264" r:id="Ra7663def1c6c4576"/>
    <p:sldId id="265" r:id="Ra359e2f9e2a546a6"/>
    <p:sldId id="266" r:id="R4e46ffe9167042b1"/>
    <p:sldId id="267" r:id="R17e0f93e6d7e4f8d"/>
  </p:sldIdLst>
  <p:sldSz cx="12192000" cy="6858000"/>
  <p:notesSz cx="6858000" cy="9144000"/>
</p:presentation>
</file>

<file path=ppt/_rels/presentation.xml.rels>&#65279;<?xml version="1.0" encoding="utf-8"?><Relationships xmlns="http://schemas.openxmlformats.org/package/2006/relationships"><Relationship Type="http://schemas.openxmlformats.org/officeDocument/2006/relationships/slideMaster" Target="/ppt/slideMasters/slideMaster1.xml" Id="rId1" /><Relationship Type="http://schemas.openxmlformats.org/officeDocument/2006/relationships/theme" Target="/ppt/theme/theme1.xml" Id="rId2" /><Relationship Type="http://schemas.openxmlformats.org/officeDocument/2006/relationships/slide" Target="/ppt/slides/slide1.xml" Id="R0fc256c9f5f74ac5" /><Relationship Type="http://schemas.openxmlformats.org/officeDocument/2006/relationships/notesMaster" Target="/ppt/notesMasters/notesMaster1.xml" Id="Rbee942dc4aee48d6" /><Relationship Type="http://schemas.openxmlformats.org/officeDocument/2006/relationships/slide" Target="/ppt/slides/slide2.xml" Id="R14a1f73670e34ce1" /><Relationship Type="http://schemas.openxmlformats.org/officeDocument/2006/relationships/slide" Target="/ppt/slides/slide3.xml" Id="Rb92666055c9f4d85" /><Relationship Type="http://schemas.openxmlformats.org/officeDocument/2006/relationships/slide" Target="/ppt/slides/slide4.xml" Id="R388c200a2db3459f" /><Relationship Type="http://schemas.openxmlformats.org/officeDocument/2006/relationships/slide" Target="/ppt/slides/slide5.xml" Id="R4c2ed8350dc449e9" /><Relationship Type="http://schemas.openxmlformats.org/officeDocument/2006/relationships/slide" Target="/ppt/slides/slide6.xml" Id="R409fc355b5d540c8" /><Relationship Type="http://schemas.openxmlformats.org/officeDocument/2006/relationships/slide" Target="/ppt/slides/slide7.xml" Id="R107ec7e883134171" /><Relationship Type="http://schemas.openxmlformats.org/officeDocument/2006/relationships/slide" Target="/ppt/slides/slide8.xml" Id="R17ca394f8ce54751" /><Relationship Type="http://schemas.openxmlformats.org/officeDocument/2006/relationships/slide" Target="/ppt/slides/slide9.xml" Id="Ra7663def1c6c4576" /><Relationship Type="http://schemas.openxmlformats.org/officeDocument/2006/relationships/slide" Target="/ppt/slides/slide10.xml" Id="Ra359e2f9e2a546a6" /><Relationship Type="http://schemas.openxmlformats.org/officeDocument/2006/relationships/slide" Target="/ppt/slides/slide11.xml" Id="R4e46ffe9167042b1" /><Relationship Type="http://schemas.openxmlformats.org/officeDocument/2006/relationships/slide" Target="/ppt/slides/slide12.xml" Id="R17e0f93e6d7e4f8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ab3c2ce03c0943f9"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맑은 고딕"/>
        <a:cs typeface=""/>
      </a:majorFont>
      <a:minorFont>
        <a:latin typeface="Calibri"/>
        <a:ea typeface="맑은 고딕"/>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notesMaster" Target="/ppt/notesMasters/notesMaster1.xml" Id="R23ab1cfac007405c" /><Relationship Type="http://schemas.openxmlformats.org/officeDocument/2006/relationships/slide" Target="/ppt/slides/slide1.xml" Id="R1c6a984733c9408e" /></Relationships>
</file>

<file path=ppt/notesSlides/_rels/notesSlide2.xml.rels>&#65279;<?xml version="1.0" encoding="utf-8"?><Relationships xmlns="http://schemas.openxmlformats.org/package/2006/relationships"><Relationship Type="http://schemas.openxmlformats.org/officeDocument/2006/relationships/notesMaster" Target="/ppt/notesMasters/notesMaster1.xml" Id="R085b7e3f3662480a" /><Relationship Type="http://schemas.openxmlformats.org/officeDocument/2006/relationships/slide" Target="/ppt/slides/slide2.xml" Id="Rd007d0f29d6d41db" /></Relationships>
</file>

<file path=ppt/notesSlides/_rels/notesSlide3.xml.rels>&#65279;<?xml version="1.0" encoding="utf-8"?><Relationships xmlns="http://schemas.openxmlformats.org/package/2006/relationships"><Relationship Type="http://schemas.openxmlformats.org/officeDocument/2006/relationships/notesMaster" Target="/ppt/notesMasters/notesMaster1.xml" Id="R6db28d03b6d24085" /><Relationship Type="http://schemas.openxmlformats.org/officeDocument/2006/relationships/slide" Target="/ppt/slides/slide3.xml" Id="Rd8cf6296468c4997" /></Relationships>
</file>

<file path=ppt/notesSlides/_rels/notesSlide4.xml.rels>&#65279;<?xml version="1.0" encoding="utf-8"?><Relationships xmlns="http://schemas.openxmlformats.org/package/2006/relationships"><Relationship Type="http://schemas.openxmlformats.org/officeDocument/2006/relationships/notesMaster" Target="/ppt/notesMasters/notesMaster1.xml" Id="R465e701ea3484a42" /><Relationship Type="http://schemas.openxmlformats.org/officeDocument/2006/relationships/slide" Target="/ppt/slides/slide4.xml" Id="Ra23bca6a62294033" /></Relationships>
</file>

<file path=ppt/notesSlides/_rels/notesSlide5.xml.rels>&#65279;<?xml version="1.0" encoding="utf-8"?><Relationships xmlns="http://schemas.openxmlformats.org/package/2006/relationships"><Relationship Type="http://schemas.openxmlformats.org/officeDocument/2006/relationships/notesMaster" Target="/ppt/notesMasters/notesMaster1.xml" Id="Rc0667c4fb81942c8" /><Relationship Type="http://schemas.openxmlformats.org/officeDocument/2006/relationships/slide" Target="/ppt/slides/slide5.xml" Id="R8ef39826f2884c5a" /></Relationships>
</file>

<file path=ppt/notesSlides/_rels/notesSlide6.xml.rels>&#65279;<?xml version="1.0" encoding="utf-8"?><Relationships xmlns="http://schemas.openxmlformats.org/package/2006/relationships"><Relationship Type="http://schemas.openxmlformats.org/officeDocument/2006/relationships/notesMaster" Target="/ppt/notesMasters/notesMaster1.xml" Id="R0cc50bcc5b594e03" /><Relationship Type="http://schemas.openxmlformats.org/officeDocument/2006/relationships/slide" Target="/ppt/slides/slide6.xml" Id="Rd19a063f6935410d" /></Relationships>
</file>

<file path=ppt/notesSlides/_rels/notesSlide7.xml.rels>&#65279;<?xml version="1.0" encoding="utf-8"?><Relationships xmlns="http://schemas.openxmlformats.org/package/2006/relationships"><Relationship Type="http://schemas.openxmlformats.org/officeDocument/2006/relationships/notesMaster" Target="/ppt/notesMasters/notesMaster1.xml" Id="R0f51314c32df463b" /><Relationship Type="http://schemas.openxmlformats.org/officeDocument/2006/relationships/slide" Target="/ppt/slides/slide7.xml" Id="R72c0bb0307224633" /></Relationships>
</file>

<file path=ppt/notesSlides/_rels/notesSlide8.xml.rels>&#65279;<?xml version="1.0" encoding="utf-8"?><Relationships xmlns="http://schemas.openxmlformats.org/package/2006/relationships"><Relationship Type="http://schemas.openxmlformats.org/officeDocument/2006/relationships/notesMaster" Target="/ppt/notesMasters/notesMaster1.xml" Id="R69497260ebc745fb" /><Relationship Type="http://schemas.openxmlformats.org/officeDocument/2006/relationships/slide" Target="/ppt/slides/slide8.xml" Id="Rb40ba8bbf4894b87" /></Relationships>
</file>

<file path=ppt/notesSlides/_rels/notesSlide9.xml.rels>&#65279;<?xml version="1.0" encoding="utf-8"?><Relationships xmlns="http://schemas.openxmlformats.org/package/2006/relationships"><Relationship Type="http://schemas.openxmlformats.org/officeDocument/2006/relationships/notesMaster" Target="/ppt/notesMasters/notesMaster1.xml" Id="Re94b9444344b4254" /><Relationship Type="http://schemas.openxmlformats.org/officeDocument/2006/relationships/slide" Target="/ppt/slides/slide9.xml" Id="R70502d61e18d4353" /></Relationships>
</file>

<file path=ppt/notesSlides/_rels/notesSlide10.xml.rels>&#65279;<?xml version="1.0" encoding="utf-8"?><Relationships xmlns="http://schemas.openxmlformats.org/package/2006/relationships"><Relationship Type="http://schemas.openxmlformats.org/officeDocument/2006/relationships/notesMaster" Target="/ppt/notesMasters/notesMaster1.xml" Id="R9296b2f7ec4c4f20" /><Relationship Type="http://schemas.openxmlformats.org/officeDocument/2006/relationships/slide" Target="/ppt/slides/slide10.xml" Id="R2efbbd3800f04a05" /></Relationships>
</file>

<file path=ppt/notesSlides/_rels/notesSlide11.xml.rels>&#65279;<?xml version="1.0" encoding="utf-8"?><Relationships xmlns="http://schemas.openxmlformats.org/package/2006/relationships"><Relationship Type="http://schemas.openxmlformats.org/officeDocument/2006/relationships/notesMaster" Target="/ppt/notesMasters/notesMaster1.xml" Id="R9ea5e43aa7ea4696" /><Relationship Type="http://schemas.openxmlformats.org/officeDocument/2006/relationships/slide" Target="/ppt/slides/slide11.xml" Id="R454cab9006a647eb" /></Relationships>
</file>

<file path=ppt/notesSlides/_rels/notesSlide12.xml.rels>&#65279;<?xml version="1.0" encoding="utf-8"?><Relationships xmlns="http://schemas.openxmlformats.org/package/2006/relationships"><Relationship Type="http://schemas.openxmlformats.org/officeDocument/2006/relationships/notesMaster" Target="/ppt/notesMasters/notesMaster1.xml" Id="Rd99b31f3581f4f7d" /><Relationship Type="http://schemas.openxmlformats.org/officeDocument/2006/relationships/slide" Target="/ppt/slides/slide12.xml" Id="Rd96e8fdec0f74689"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(인사) 안녕하세요, [발표자 이름]입니다. 오늘 소개할 서비스는 공모온입니다. 가진 아이디어를 분석해 주고, 나에게 맞는 실제 공모전까지 이어 주는 AI 아이디어 분석 서비스입니다. 5분 정도로 '왜 만들었는지'와 '무엇이 다른지'를 보여 드리겠습니다. (약 20초)</a:t>
            </a:r>
          </a:p>
        </p:txBody>
      </p:sp>
    </p:spTree>
  </p:cSld>
  <p:clrMapOvr>
    <a:masterClrMapping xmlns:a="http://schemas.openxmlformats.org/drawingml/2006/main"/>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오늘 발표는 네 파트입니다. 먼저 이 서비스를 왜 기획하게 됐는지 — 이용자 입장에서 어떤 문제를 겪는지부터 보여 드리고, 그다음 우리의 차별점인 유형 검사를 소개합니다. 검사 이후에 분석·제안서·연습까지 어떻게 이어지는지 설명하고, 마지막에 실제 화면으로 시연하겠습니다. (약 15초)</a:t>
            </a:r>
          </a:p>
        </p:txBody>
      </p:sp>
    </p:spTree>
  </p:cSld>
  <p:clrMapOvr>
    <a:masterClrMapping xmlns:a="http://schemas.openxmlformats.org/drawingml/2006/main"/>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(타인 입장) 먼저 저희가 만난 사람 이야기로 시작하겠습니다. 공모전에 도전하고 싶은데 아이디어가 막막해서 포기하는 친구를 여러 번 봤습니다. 위비티·캠퍼스픽 같은 사이트에 정보는 많은데, 내 아이디어와 맞는 걸 찾는 건 별개의 문제고, 괜찮은 아이디어인지 판단해 줄 사람도, 서류·질문 준비를 도와 줄 도구도 없습니다. 이 '준비의 공백'이 공모온을 만든 이유입니다. (약 30초)</a:t>
            </a:r>
          </a:p>
        </p:txBody>
      </p:sp>
    </p:spTree>
  </p:cSld>
  <p:clrMapOvr>
    <a:masterClrMapping xmlns:a="http://schemas.openxmlformats.org/drawingml/2006/main"/>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막막함을 세 가지로 정리했습니다. 첫째, 어디에 내야 할지 — 정보는 많은데 내 것과 맞는지 모릅니다. 둘째, 괜찮은지 판단 — 강점·차별점을 객관적으로 봐 줄 창구가 없습니다. 셋째, 마지막 한 걸음 — 서류와 예상 질문 준비는 전적으로 혼자의 몫입니다. 공모온은 추천, 분석, 준비를 하나의 흐름으로 연결해 이 세 벽을 하나씩 허물었습니다. (약 35초)</a:t>
            </a:r>
          </a:p>
        </p:txBody>
      </p:sp>
    </p:spTree>
  </p:cSld>
  <p:clrMapOvr>
    <a:masterClrMapping xmlns:a="http://schemas.openxmlformats.org/drawingml/2006/main"/>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공모온의 전체 흐름입니다. 30문항 유형 검사로 시작해서, 검사 결과가 아이디어 힌트로 입력 화면에 채워집니다. 한 문장 아이디어를 입력하면 AI가 강점·보완점·심사 포인트를 분석하고, 어울리는 실제 공모전을 적합도와 함께 추천합니다. 추천받은 공모전은 제안서 초안과 연습 노트로 이어지고, 모든 도전은 대시보드에 기록됩니다. 중간에 끊기는 단계 없이 한 흐름입니다. (약 30초)</a:t>
            </a:r>
          </a:p>
        </p:txBody>
      </p:sp>
    </p:spTree>
  </p:cSld>
  <p:clrMapOvr>
    <a:masterClrMapping xmlns:a="http://schemas.openxmlformats.org/drawingml/2006/main"/>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(차별화 파트) 공모온의 가장 큰 차별점은 유형 검사입니다. 30문항을 풀면 7가지 공모전 성향 중 나의 유형과 일치율이 나옵니다. 문제 해결형, 기술 탐험형, 실행 제작형, 이야기 설계형, 감각 창작형, 공감 연결형, 사회 변화형 — 공모전이라는 상황에 맞춰 설계한 성향 분류라는 점이 MBTI 같은 일반 검사와 다릅니다. (약 30초)</a:t>
            </a:r>
          </a:p>
        </p:txBody>
      </p:sp>
    </p:spTree>
  </p:cSld>
  <p:clrMapOvr>
    <a:masterClrMapping xmlns:a="http://schemas.openxmlformats.org/drawingml/2006/main"/>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검사 결과는 유형만 알려 주고 끝나지 않습니다. 강점 3개와 보완점 2개, 팀에서 맡게 될 역할, 준비 로드맵 4단계, 잘 맞는 시너지 유형까지 리포트로 나옵니다. 특히 중요한 건 맞춤 아이디어 힌트 3개 — 이 힌트가 아이디어 입력 화면으로 그대로 넘어가고, 관심 분야도 자동으로 채워집니다. 즉 성향 진단이 곧 출품 준비의 첫 단계가 됩니다. (약 30초)</a:t>
            </a:r>
          </a:p>
        </p:txBody>
      </p:sp>
    </p:spTree>
  </p:cSld>
  <p:clrMapOvr>
    <a:masterClrMapping xmlns:a="http://schemas.openxmlformats.org/drawingml/2006/main"/>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기존 사이트와의 차이를 세 줄로 정리했습니다. 기존 사이트는 목록 나열이 끝이고, 검색도 키워드에 의존합니다. 공모온은 성향 검사에서 시작해 아이디어 내용 기반으로 적합도와 추천 이유를 붙여 주고, 준비 단계인 제안서 초안과 예상 질문 연습 노트까지 제공합니다. 목록 보여 주기를 넘어 준비를 같이하는 것이 차별점입니다. (약 25초)</a:t>
            </a:r>
          </a:p>
        </p:txBody>
      </p:sp>
    </p:spTree>
  </p:cSld>
  <p:clrMapOvr>
    <a:masterClrMapping xmlns:a="http://schemas.openxmlformats.org/drawingml/2006/main"/>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유형 검사 이후의 준비도 함께합니다. 아이디어를 입력하면 AI가 강점·심사 포인트를 분석하고 공모전을 적합도와 함께 추천합니다. 분석 결과는 그대로 6섹션 제안서 초안이 되고, 예상 질문·답변을 정리하는 연습 노트로 이어집니다. 대시보드와 마감 알림, 주간 이메일이 기한을 놓치지 않게 도와줍니다. (약 30초)</a:t>
            </a:r>
          </a:p>
        </p:txBody>
      </p:sp>
    </p:spTree>
  </p:cSld>
  <p:clrMapOvr>
    <a:masterClrMapping xmlns:a="http://schemas.openxmlformats.org/drawingml/2006/main"/>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(여기서 브라우저로 전환) 1) 유형 검사에서 두세 문항만 풀고 바로 결과 화면까지 보여 줍니다 — 일치율, 강점·보완점, 아이디어 힌트 3개를 확인하고 '힌트로 아이디어 쓰기'로 넘어갑니다. 2) 입력 화면에서 제목·설명을 채우고 분석을 실행합니다 — 결과가 나올 때까지 잠깐 걸리는 점을 미리 언급합니다. 3) 결과 화면에서 추천 공모전 순위·이유와 제안서 초안 TXT를 보여 줍니다. (약 2분) 팁: AI 응답이 늦거나 실패하면 데모 분석으로 자동 전환되므로, 시연 전 미리 한 번 돌려 두세요.</a:t>
            </a:r>
          </a:p>
        </p:txBody>
      </p:sp>
    </p:spTree>
  </p:cSld>
  <p:clrMapOvr>
    <a:masterClrMapping xmlns:a="http://schemas.openxmlformats.org/drawingml/2006/main"/>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공모온이 바꾸는 세 가지입니다. 첫째 시간 — 정보를 찾아다니는 대신 아이디어에 맞는 곳을 바로 받습니다. 둘째 완주율 — 분석, 초안, 연습으로 단계가 이어져 중간에 포기할 이유를 줄입니다. 셋째 성장 — 도전 기록과 연습 노트가 쌓여 학생 본인의 포트폴리오가 됩니다. (약 25초)</a:t>
            </a:r>
          </a:p>
        </p:txBody>
      </p:sp>
    </p:spTree>
  </p:cSld>
  <p:clrMapOvr>
    <a:masterClrMapping xmlns:a="http://schemas.openxmlformats.org/drawingml/2006/main"/>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마무리 — 공모온은 '공모전을 하고 싶은데 어떻게 준비해야 할지 모르겠다'는 학생의 첫 단추를 끼워 주는 서비스입니다. 유형 검사로 시작해 분석·추천·제안서·연습까지 하나의 흐름으로 이어 줍니다. 감사합니다. (약 20초) — 질문 대비: 기술 구조를 묻으면 React+TS 프론트, Express 백엔드, OpenAI 호환 LLM 연동, 계정 데이터는 서버 저장+로컬 캐시 하이브리드라고 답하면 됩니다. AI 실패 시 데모 폴백으로 서비스가 끊기지 않는다는 점도 같이 말할 수 있습니다.</a:t>
            </a:r>
          </a:p>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6fed3a691b8441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1a7167d2663454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800b6e435004db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8af028f4f5745a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49c5423cd3c46fa" /></Relationships>
</file>

<file path=ppt/slideLayouts/slideLayout1.xml><?xml version="1.0" encoding="utf-8"?>
<p:sldLayout xmlns:p="http://schemas.openxmlformats.org/presentationml/2006/main" type="blank">
  <p:cSld name="Blank">
    <p:spTree>
      <p:nvGrpSpPr>
        <p:cNvPr id="1" name=""/>
        <p:cNvGrpSpPr/>
        <p:nvPr/>
      </p:nvGrpSpPr>
      <p:grpSpPr/>
    </p:spTree>
  </p:cSld>
</p:sldLayout>
</file>

<file path=ppt/slideLayouts/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Masters/_rels/slideMaster1.xml.rels>&#65279;<?xml version="1.0" encoding="utf-8"?><Relationships xmlns="http://schemas.openxmlformats.org/package/2006/relationships"><Relationship Type="http://schemas.openxmlformats.org/officeDocument/2006/relationships/slideLayout" Target="/ppt/slideLayouts/slideLayout1.xml" Id="rId1" /><Relationship Type="http://schemas.openxmlformats.org/officeDocument/2006/relationships/theme" Target="/ppt/theme/theme1.xml" Id="R65101d0a191740f8" /><Relationship Type="http://schemas.openxmlformats.org/officeDocument/2006/relationships/slideLayout" Target="/ppt/slideLayouts/slideLayout2.xml" Id="rId2" /><Relationship Type="http://schemas.openxmlformats.org/officeDocument/2006/relationships/slideLayout" Target="/ppt/slideLayouts/slideLayout3.xml" Id="rId3" /><Relationship Type="http://schemas.openxmlformats.org/officeDocument/2006/relationships/slideLayout" Target="/ppt/slideLayouts/slideLayout4.xml" Id="rId4" /><Relationship Type="http://schemas.openxmlformats.org/officeDocument/2006/relationships/slideLayout" Target="/ppt/slideLayouts/slideLayout5.xml" Id="rId5" /></Relationships>
</file>

<file path=ppt/slideMasters/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Id1"/>
    <p:sldLayoutId xmlns:r="http://schemas.openxmlformats.org/officeDocument/2006/relationships" id="2147483650" r:id="rId2"/>
    <p:sldLayoutId xmlns:r="http://schemas.openxmlformats.org/officeDocument/2006/relationships" id="2147483651" r:id="rId3"/>
    <p:sldLayoutId xmlns:r="http://schemas.openxmlformats.org/officeDocument/2006/relationships" id="2147483652" r:id="rId4"/>
    <p:sldLayoutId xmlns:r="http://schemas.openxmlformats.org/officeDocument/2006/relationships" id="2147483653" r:id="rId5"/>
  </p:sldLayoutIdLst>
</p:sldMaster>
</file>

<file path=ppt/slides/_rels/slide1.xml.rels>&#65279;<?xml version="1.0" encoding="utf-8"?><Relationships xmlns="http://schemas.openxmlformats.org/package/2006/relationships"><Relationship Type="http://schemas.openxmlformats.org/officeDocument/2006/relationships/slideLayout" Target="/ppt/slideLayouts/slideLayout1.xml" Id="Rcb9e917124414d61" /><Relationship Type="http://schemas.openxmlformats.org/officeDocument/2006/relationships/notesSlide" Target="/ppt/notesSlides/notesSlide1.xml" Id="R39d2c4bf7e2e480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ea21023acb94edf" /><Relationship Type="http://schemas.openxmlformats.org/officeDocument/2006/relationships/notesSlide" Target="/ppt/notesSlides/notesSlide2.xml" Id="R2fd417ab174849f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21e3c342401494c" /><Relationship Type="http://schemas.openxmlformats.org/officeDocument/2006/relationships/notesSlide" Target="/ppt/notesSlides/notesSlide3.xml" Id="Re97e1685564e486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cb106765f254af4" /><Relationship Type="http://schemas.openxmlformats.org/officeDocument/2006/relationships/notesSlide" Target="/ppt/notesSlides/notesSlide4.xml" Id="R82755e2c7bec47a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f0498de2aad4164" /><Relationship Type="http://schemas.openxmlformats.org/officeDocument/2006/relationships/notesSlide" Target="/ppt/notesSlides/notesSlide5.xml" Id="Ra1de5632441040f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380b92bcac1444e" /><Relationship Type="http://schemas.openxmlformats.org/officeDocument/2006/relationships/notesSlide" Target="/ppt/notesSlides/notesSlide6.xml" Id="R5880e6a70da5405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522b4bc9fe84d17" /><Relationship Type="http://schemas.openxmlformats.org/officeDocument/2006/relationships/notesSlide" Target="/ppt/notesSlides/notesSlide7.xml" Id="Re18c89812eee4c5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1ad85f933c84f84" /><Relationship Type="http://schemas.openxmlformats.org/officeDocument/2006/relationships/notesSlide" Target="/ppt/notesSlides/notesSlide8.xml" Id="R10a550a851cf492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2d9982e65ee4bdc" /><Relationship Type="http://schemas.openxmlformats.org/officeDocument/2006/relationships/notesSlide" Target="/ppt/notesSlides/notesSlide9.xml" Id="Ra10dfed6a6454f2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0bae1a456044f29" /><Relationship Type="http://schemas.openxmlformats.org/officeDocument/2006/relationships/notesSlide" Target="/ppt/notesSlides/notesSlide10.xml" Id="R2b4d3c391024422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dbe95fc0f14499d" /><Relationship Type="http://schemas.openxmlformats.org/officeDocument/2006/relationships/notesSlide" Target="/ppt/notesSlides/notesSlide11.xml" Id="Rca3c9836a0e84fe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549934518fbf43dc" /><Relationship Type="http://schemas.openxmlformats.org/officeDocument/2006/relationships/notesSlide" Target="/ppt/notesSlides/notesSlide12.xml" Id="R90ffe03da6e14aad" /></Relationships>
</file>

<file path=ppt/slides/slide1.xml><?xml version="1.0" encoding="utf-8"?>
<p:sld xmlns:a="http://schemas.openxmlformats.org/drawingml/2006/main" xmlns:p="http://schemas.openxmlformats.org/presentationml/2006/main">
  <p:cSld>
    <p:bg>
      <p:bgPr>
        <a:solidFill xmlns:a="http://schemas.openxmlformats.org/drawingml/2006/main">
          <a:srgbClr val="000000"/>
        </a:solidFill>
      </p:bgPr>
    </p:bg>
    <p:spTree>
      <p:nvGrpSpPr>
        <p:cNvPr id="1" name=""/>
        <p:cNvGrpSpPr/>
        <p:nvPr/>
      </p:nvGrpSpPr>
      <p:grpSpPr/>
      <p:sp>
        <p:nvSpPr>
          <p:cNvPr id="100000" name="AccentBar"/>
          <p:cNvSpPr/>
          <p:nvPr/>
        </p:nvSpPr>
        <p:spPr>
          <a:xfrm xmlns:a="http://schemas.openxmlformats.org/drawingml/2006/main">
            <a:off x="5558400" y="1584000"/>
            <a:ext cx="1080000" cy="108000"/>
          </a:xfrm>
          <a:prstGeom xmlns:a="http://schemas.openxmlformats.org/drawingml/2006/main" prst="rect">
            <a:avLst/>
          </a:prstGeom>
          <a:solidFill xmlns:a="http://schemas.openxmlformats.org/drawingml/2006/main">
            <a:srgbClr val="2563EB"/>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01" name="Title"/>
          <p:cNvSpPr txBox="1"/>
          <p:nvPr/>
        </p:nvSpPr>
        <p:spPr>
          <a:xfrm xmlns:a="http://schemas.openxmlformats.org/drawingml/2006/main">
            <a:off x="720000" y="1872000"/>
            <a:ext cx="10753200" cy="1296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lgn="ctr"/>
            <a:r>
              <a:rPr lang="en-US" sz="6600" b="1">
                <a:solidFill>
                  <a:srgbClr val="FFFFFF"/>
                </a:solidFill>
                <a:latin typeface="Malgun Gothic"/>
                <a:ea typeface="Malgun Gothic"/>
              </a:rPr>
              <a:t>공모온</a:t>
            </a:r>
          </a:p>
        </p:txBody>
      </p:sp>
      <p:sp>
        <p:nvSpPr>
          <p:cNvPr id="100002" name="Subtitle"/>
          <p:cNvSpPr txBox="1"/>
          <p:nvPr/>
        </p:nvSpPr>
        <p:spPr>
          <a:xfrm xmlns:a="http://schemas.openxmlformats.org/drawingml/2006/main">
            <a:off x="720000" y="3384000"/>
            <a:ext cx="10753200" cy="576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lgn="ctr"/>
            <a:r>
              <a:rPr lang="en-US" sz="2200">
                <a:solidFill>
                  <a:srgbClr val="D1D5DB"/>
                </a:solidFill>
                <a:latin typeface="Malgun Gothic"/>
                <a:ea typeface="Malgun Gothic"/>
              </a:rPr>
              <a:t>아이디어에서 공모전까지, 가장 빠른 지름길</a:t>
            </a:r>
          </a:p>
        </p:txBody>
      </p:sp>
      <p:sp>
        <p:nvSpPr>
          <p:cNvPr id="100003" name="Meta"/>
          <p:cNvSpPr txBox="1"/>
          <p:nvPr/>
        </p:nvSpPr>
        <p:spPr>
          <a:xfrm xmlns:a="http://schemas.openxmlformats.org/drawingml/2006/main">
            <a:off x="720000" y="4104000"/>
            <a:ext cx="10753200" cy="36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lgn="ctr"/>
            <a:r>
              <a:rPr lang="en-US" sz="1400">
                <a:solidFill>
                  <a:srgbClr val="9CA3AF"/>
                </a:solidFill>
                <a:latin typeface="Malgun Gothic"/>
                <a:ea typeface="Malgun Gothic"/>
              </a:rPr>
              <a:t>AI 아이디어 분석 서비스 · 2026. 10. 20 · 서비스 기획 발표</a:t>
            </a:r>
          </a:p>
        </p:txBody>
      </p:sp>
    </p:spTree>
  </p:cSld>
</p:sld>
</file>

<file path=ppt/slides/slide2.xml><?xml version="1.0" encoding="utf-8"?>
<p:sld xmlns:a="http://schemas.openxmlformats.org/drawingml/2006/main" xmlns:p="http://schemas.openxmlformats.org/presentationml/2006/main">
  <p:cSld>
    <p:bg>
      <p:bgPr>
        <a:solidFill xmlns:a="http://schemas.openxmlformats.org/drawingml/2006/main">
          <a:srgbClr val="FFFFFF"/>
        </a:solidFill>
      </p:bgPr>
    </p:bg>
    <p:spTree>
      <p:nvGrpSpPr>
        <p:cNvPr id="1" name=""/>
        <p:cNvGrpSpPr/>
        <p:nvPr/>
      </p:nvGrpSpPr>
      <p:grpSpPr/>
      <p:sp>
        <p:nvSpPr>
          <p:cNvPr id="100004" name="Marker"/>
          <p:cNvSpPr/>
          <p:nvPr/>
        </p:nvSpPr>
        <p:spPr>
          <a:xfrm xmlns:a="http://schemas.openxmlformats.org/drawingml/2006/main">
            <a:off x="540000" y="468000"/>
            <a:ext cx="180000" cy="180000"/>
          </a:xfrm>
          <a:prstGeom xmlns:a="http://schemas.openxmlformats.org/drawingml/2006/main" prst="rect">
            <a:avLst/>
          </a:prstGeom>
          <a:solidFill xmlns:a="http://schemas.openxmlformats.org/drawingml/2006/main">
            <a:srgbClr val="2563EB"/>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05" name="Title"/>
          <p:cNvSpPr txBox="1"/>
          <p:nvPr/>
        </p:nvSpPr>
        <p:spPr>
          <a:xfrm xmlns:a="http://schemas.openxmlformats.org/drawingml/2006/main">
            <a:off x="828000" y="288000"/>
            <a:ext cx="10440000" cy="72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3600" b="1">
                <a:solidFill>
                  <a:srgbClr val="000000"/>
                </a:solidFill>
                <a:latin typeface="Malgun Gothic"/>
                <a:ea typeface="Malgun Gothic"/>
              </a:rPr>
              <a:t>발표 구성</a:t>
            </a:r>
          </a:p>
        </p:txBody>
      </p:sp>
      <p:sp>
        <p:nvSpPr>
          <p:cNvPr id="100006" name="N1"/>
          <p:cNvSpPr/>
          <p:nvPr/>
        </p:nvSpPr>
        <p:spPr>
          <a:xfrm xmlns:a="http://schemas.openxmlformats.org/drawingml/2006/main">
            <a:off x="792000" y="1512000"/>
            <a:ext cx="576000" cy="576000"/>
          </a:xfrm>
          <a:prstGeom xmlns:a="http://schemas.openxmlformats.org/drawingml/2006/main" prst="ellipse">
            <a:avLst/>
          </a:prstGeom>
          <a:solidFill xmlns:a="http://schemas.openxmlformats.org/drawingml/2006/main">
            <a:srgbClr val="2563EB"/>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ctr"/>
            <a:r>
              <a:rPr lang="en-US" sz="1800" b="1">
                <a:solidFill>
                  <a:srgbClr val="FFFFFF"/>
                </a:solidFill>
                <a:latin typeface="Malgun Gothic"/>
                <a:ea typeface="Malgun Gothic"/>
              </a:rPr>
              <a:t>1</a:t>
            </a:r>
          </a:p>
        </p:txBody>
      </p:sp>
      <p:sp>
        <p:nvSpPr>
          <p:cNvPr id="100007" name="H1"/>
          <p:cNvSpPr txBox="1"/>
          <p:nvPr/>
        </p:nvSpPr>
        <p:spPr>
          <a:xfrm xmlns:a="http://schemas.openxmlformats.org/drawingml/2006/main">
            <a:off x="1656000" y="1476000"/>
            <a:ext cx="9360000" cy="504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2200" b="1">
                <a:solidFill>
                  <a:srgbClr val="000000"/>
                </a:solidFill>
                <a:latin typeface="Malgun Gothic"/>
                <a:ea typeface="Malgun Gothic"/>
              </a:rPr>
              <a:t>왜 만들었나</a:t>
            </a:r>
          </a:p>
        </p:txBody>
      </p:sp>
      <p:sp>
        <p:nvSpPr>
          <p:cNvPr id="100008" name="D1"/>
          <p:cNvSpPr txBox="1"/>
          <p:nvPr/>
        </p:nvSpPr>
        <p:spPr>
          <a:xfrm xmlns:a="http://schemas.openxmlformats.org/drawingml/2006/main">
            <a:off x="1656000" y="2016000"/>
            <a:ext cx="9360000" cy="36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600">
                <a:solidFill>
                  <a:srgbClr val="6B7280"/>
                </a:solidFill>
                <a:latin typeface="Malgun Gothic"/>
                <a:ea typeface="Malgun Gothic"/>
              </a:rPr>
              <a:t>공모전 첫 도전을 막는 세 가지 벽 — 정보, 판단, 마지막 한 걸음</a:t>
            </a:r>
          </a:p>
        </p:txBody>
      </p:sp>
      <p:sp>
        <p:nvSpPr>
          <p:cNvPr id="100009" name="N2"/>
          <p:cNvSpPr/>
          <p:nvPr/>
        </p:nvSpPr>
        <p:spPr>
          <a:xfrm xmlns:a="http://schemas.openxmlformats.org/drawingml/2006/main">
            <a:off x="792000" y="2736000"/>
            <a:ext cx="576000" cy="576000"/>
          </a:xfrm>
          <a:prstGeom xmlns:a="http://schemas.openxmlformats.org/drawingml/2006/main" prst="ellipse">
            <a:avLst/>
          </a:prstGeom>
          <a:solidFill xmlns:a="http://schemas.openxmlformats.org/drawingml/2006/main">
            <a:srgbClr val="2563EB"/>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ctr"/>
            <a:r>
              <a:rPr lang="en-US" sz="1800" b="1">
                <a:solidFill>
                  <a:srgbClr val="FFFFFF"/>
                </a:solidFill>
                <a:latin typeface="Malgun Gothic"/>
                <a:ea typeface="Malgun Gothic"/>
              </a:rPr>
              <a:t>2</a:t>
            </a:r>
          </a:p>
        </p:txBody>
      </p:sp>
      <p:sp>
        <p:nvSpPr>
          <p:cNvPr id="100010" name="H2"/>
          <p:cNvSpPr txBox="1"/>
          <p:nvPr/>
        </p:nvSpPr>
        <p:spPr>
          <a:xfrm xmlns:a="http://schemas.openxmlformats.org/drawingml/2006/main">
            <a:off x="1656000" y="2700000"/>
            <a:ext cx="9360000" cy="504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2200" b="1">
                <a:solidFill>
                  <a:srgbClr val="000000"/>
                </a:solidFill>
                <a:latin typeface="Malgun Gothic"/>
                <a:ea typeface="Malgun Gothic"/>
              </a:rPr>
              <a:t>무엇이 다른가 — 유형 검사</a:t>
            </a:r>
          </a:p>
        </p:txBody>
      </p:sp>
      <p:sp>
        <p:nvSpPr>
          <p:cNvPr id="100011" name="D2"/>
          <p:cNvSpPr txBox="1"/>
          <p:nvPr/>
        </p:nvSpPr>
        <p:spPr>
          <a:xfrm xmlns:a="http://schemas.openxmlformats.org/drawingml/2006/main">
            <a:off x="1656000" y="3240000"/>
            <a:ext cx="9360000" cy="36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600">
                <a:solidFill>
                  <a:srgbClr val="6B7280"/>
                </a:solidFill>
                <a:latin typeface="Malgun Gothic"/>
                <a:ea typeface="Malgun Gothic"/>
              </a:rPr>
              <a:t>성향 진단에서 출품까지 — 30문항, 7유형, 일치율 리포트</a:t>
            </a:r>
          </a:p>
        </p:txBody>
      </p:sp>
      <p:sp>
        <p:nvSpPr>
          <p:cNvPr id="100012" name="N3"/>
          <p:cNvSpPr/>
          <p:nvPr/>
        </p:nvSpPr>
        <p:spPr>
          <a:xfrm xmlns:a="http://schemas.openxmlformats.org/drawingml/2006/main">
            <a:off x="792000" y="3960000"/>
            <a:ext cx="576000" cy="576000"/>
          </a:xfrm>
          <a:prstGeom xmlns:a="http://schemas.openxmlformats.org/drawingml/2006/main" prst="ellipse">
            <a:avLst/>
          </a:prstGeom>
          <a:solidFill xmlns:a="http://schemas.openxmlformats.org/drawingml/2006/main">
            <a:srgbClr val="2563EB"/>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ctr"/>
            <a:r>
              <a:rPr lang="en-US" sz="1800" b="1">
                <a:solidFill>
                  <a:srgbClr val="FFFFFF"/>
                </a:solidFill>
                <a:latin typeface="Malgun Gothic"/>
                <a:ea typeface="Malgun Gothic"/>
              </a:rPr>
              <a:t>3</a:t>
            </a:r>
          </a:p>
        </p:txBody>
      </p:sp>
      <p:sp>
        <p:nvSpPr>
          <p:cNvPr id="100013" name="H3"/>
          <p:cNvSpPr txBox="1"/>
          <p:nvPr/>
        </p:nvSpPr>
        <p:spPr>
          <a:xfrm xmlns:a="http://schemas.openxmlformats.org/drawingml/2006/main">
            <a:off x="1656000" y="3924000"/>
            <a:ext cx="9360000" cy="504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2200" b="1">
                <a:solidFill>
                  <a:srgbClr val="000000"/>
                </a:solidFill>
                <a:latin typeface="Malgun Gothic"/>
                <a:ea typeface="Malgun Gothic"/>
              </a:rPr>
              <a:t>어떻게 도와주나</a:t>
            </a:r>
          </a:p>
        </p:txBody>
      </p:sp>
      <p:sp>
        <p:nvSpPr>
          <p:cNvPr id="100014" name="D3"/>
          <p:cNvSpPr txBox="1"/>
          <p:nvPr/>
        </p:nvSpPr>
        <p:spPr>
          <a:xfrm xmlns:a="http://schemas.openxmlformats.org/drawingml/2006/main">
            <a:off x="1656000" y="4464000"/>
            <a:ext cx="9360000" cy="36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600">
                <a:solidFill>
                  <a:srgbClr val="6B7280"/>
                </a:solidFill>
                <a:latin typeface="Malgun Gothic"/>
                <a:ea typeface="Malgun Gothic"/>
              </a:rPr>
              <a:t>AI 아이디어 분석 · 적합도 추천 · 제안서 초안 · 연습 노트</a:t>
            </a:r>
          </a:p>
        </p:txBody>
      </p:sp>
      <p:sp>
        <p:nvSpPr>
          <p:cNvPr id="100015" name="N4"/>
          <p:cNvSpPr/>
          <p:nvPr/>
        </p:nvSpPr>
        <p:spPr>
          <a:xfrm xmlns:a="http://schemas.openxmlformats.org/drawingml/2006/main">
            <a:off x="792000" y="5184000"/>
            <a:ext cx="576000" cy="576000"/>
          </a:xfrm>
          <a:prstGeom xmlns:a="http://schemas.openxmlformats.org/drawingml/2006/main" prst="ellipse">
            <a:avLst/>
          </a:prstGeom>
          <a:solidFill xmlns:a="http://schemas.openxmlformats.org/drawingml/2006/main">
            <a:srgbClr val="2563EB"/>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ctr"/>
            <a:r>
              <a:rPr lang="en-US" sz="1800" b="1">
                <a:solidFill>
                  <a:srgbClr val="FFFFFF"/>
                </a:solidFill>
                <a:latin typeface="Malgun Gothic"/>
                <a:ea typeface="Malgun Gothic"/>
              </a:rPr>
              <a:t>4</a:t>
            </a:r>
          </a:p>
        </p:txBody>
      </p:sp>
      <p:sp>
        <p:nvSpPr>
          <p:cNvPr id="100016" name="H4"/>
          <p:cNvSpPr txBox="1"/>
          <p:nvPr/>
        </p:nvSpPr>
        <p:spPr>
          <a:xfrm xmlns:a="http://schemas.openxmlformats.org/drawingml/2006/main">
            <a:off x="1656000" y="5148000"/>
            <a:ext cx="9360000" cy="504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2200" b="1">
                <a:solidFill>
                  <a:srgbClr val="000000"/>
                </a:solidFill>
                <a:latin typeface="Malgun Gothic"/>
                <a:ea typeface="Malgun Gothic"/>
              </a:rPr>
              <a:t>직접 보기</a:t>
            </a:r>
          </a:p>
        </p:txBody>
      </p:sp>
      <p:sp>
        <p:nvSpPr>
          <p:cNvPr id="100017" name="D4"/>
          <p:cNvSpPr txBox="1"/>
          <p:nvPr/>
        </p:nvSpPr>
        <p:spPr>
          <a:xfrm xmlns:a="http://schemas.openxmlformats.org/drawingml/2006/main">
            <a:off x="1656000" y="5688000"/>
            <a:ext cx="9360000" cy="36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600">
                <a:solidFill>
                  <a:srgbClr val="6B7280"/>
                </a:solidFill>
                <a:latin typeface="Malgun Gothic"/>
                <a:ea typeface="Malgun Gothic"/>
              </a:rPr>
              <a:t>유형 검사 → AI 분석 → 추천 → 제안서 초안까지 실제 화면으로</a:t>
            </a:r>
          </a:p>
        </p:txBody>
      </p:sp>
    </p:spTree>
  </p:cSld>
</p:sld>
</file>

<file path=ppt/slides/slide3.xml><?xml version="1.0" encoding="utf-8"?>
<p:sld xmlns:a="http://schemas.openxmlformats.org/drawingml/2006/main" xmlns:p="http://schemas.openxmlformats.org/presentationml/2006/main">
  <p:cSld>
    <p:bg>
      <p:bgPr>
        <a:solidFill xmlns:a="http://schemas.openxmlformats.org/drawingml/2006/main">
          <a:srgbClr val="FFFFFF"/>
        </a:solidFill>
      </p:bgPr>
    </p:bg>
    <p:spTree>
      <p:nvGrpSpPr>
        <p:cNvPr id="1" name=""/>
        <p:cNvGrpSpPr/>
        <p:nvPr/>
      </p:nvGrpSpPr>
      <p:grpSpPr/>
      <p:sp>
        <p:nvSpPr>
          <p:cNvPr id="100018" name="Marker"/>
          <p:cNvSpPr/>
          <p:nvPr/>
        </p:nvSpPr>
        <p:spPr>
          <a:xfrm xmlns:a="http://schemas.openxmlformats.org/drawingml/2006/main">
            <a:off x="540000" y="468000"/>
            <a:ext cx="180000" cy="180000"/>
          </a:xfrm>
          <a:prstGeom xmlns:a="http://schemas.openxmlformats.org/drawingml/2006/main" prst="rect">
            <a:avLst/>
          </a:prstGeom>
          <a:solidFill xmlns:a="http://schemas.openxmlformats.org/drawingml/2006/main">
            <a:srgbClr val="2563EB"/>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19" name="Title"/>
          <p:cNvSpPr txBox="1"/>
          <p:nvPr/>
        </p:nvSpPr>
        <p:spPr>
          <a:xfrm xmlns:a="http://schemas.openxmlformats.org/drawingml/2006/main">
            <a:off x="828000" y="288000"/>
            <a:ext cx="10440000" cy="72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3600" b="1">
                <a:solidFill>
                  <a:srgbClr val="000000"/>
                </a:solidFill>
                <a:latin typeface="Malgun Gothic"/>
                <a:ea typeface="Malgun Gothic"/>
              </a:rPr>
              <a:t>공모전, 하고 싶은데…</a:t>
            </a:r>
          </a:p>
        </p:txBody>
      </p:sp>
      <p:sp>
        <p:nvSpPr>
          <p:cNvPr id="100020" name="QuoteCard"/>
          <p:cNvSpPr/>
          <p:nvPr/>
        </p:nvSpPr>
        <p:spPr>
          <a:xfrm xmlns:a="http://schemas.openxmlformats.org/drawingml/2006/main">
            <a:off x="720000" y="1368000"/>
            <a:ext cx="10753200" cy="2880000"/>
          </a:xfrm>
          <a:prstGeom xmlns:a="http://schemas.openxmlformats.org/drawingml/2006/main" prst="roundRect">
            <a:avLst/>
          </a:prstGeom>
          <a:solidFill xmlns:a="http://schemas.openxmlformats.org/drawingml/2006/main">
            <a:srgbClr val="F5F6F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21" name="Quote"/>
          <p:cNvSpPr txBox="1"/>
          <p:nvPr/>
        </p:nvSpPr>
        <p:spPr>
          <a:xfrm xmlns:a="http://schemas.openxmlformats.org/drawingml/2006/main">
            <a:off x="1260000" y="1800000"/>
            <a:ext cx="9673200" cy="2016000"/>
          </a:xfrm>
          <a:prstGeom xmlns:a="http://schemas.openxmlformats.org/drawingml/2006/main" prst="rect">
            <a:avLst/>
          </a:prstGeom>
        </p:spPr>
        <p:txBody>
          <a:bodyPr xmlns:a="http://schemas.openxmlformats.org/drawingml/2006/main" anchor="ctr"/>
          <a:lstStyle xmlns:a="http://schemas.openxmlformats.org/drawingml/2006/main"/>
          <a:p xmlns:a="http://schemas.openxmlformats.org/drawingml/2006/main">
            <a:pPr algn="ctr"/>
            <a:r>
              <a:rPr lang="en-US" sz="2600" b="1">
                <a:solidFill>
                  <a:srgbClr val="000000"/>
                </a:solidFill>
                <a:latin typeface="Malgun Gothic"/>
                <a:ea typeface="Malgun Gothic"/>
              </a:rPr>
              <a:t>아이디어는 있는데,</a:t>
            </a:r>
          </a:p>
          <a:p xmlns:a="http://schemas.openxmlformats.org/drawingml/2006/main">
            <a:pPr algn="ctr"/>
            <a:r>
              <a:rPr lang="en-US" sz="2600" b="1">
                <a:solidFill>
                  <a:srgbClr val="000000"/>
                </a:solidFill>
                <a:latin typeface="Malgun Gothic"/>
                <a:ea typeface="Malgun Gothic"/>
              </a:rPr>
              <a:t>뭘 어떻게 준비해야 할지 모르겠어요.</a:t>
            </a:r>
          </a:p>
        </p:txBody>
      </p:sp>
      <p:sp>
        <p:nvSpPr>
          <p:cNvPr id="100022" name="QuoteSrc"/>
          <p:cNvSpPr txBox="1"/>
          <p:nvPr/>
        </p:nvSpPr>
        <p:spPr>
          <a:xfrm xmlns:a="http://schemas.openxmlformats.org/drawingml/2006/main">
            <a:off x="1260000" y="3744000"/>
            <a:ext cx="9673200" cy="36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lgn="ctr"/>
            <a:r>
              <a:rPr lang="en-US" sz="1400">
                <a:solidFill>
                  <a:srgbClr val="6B7280"/>
                </a:solidFill>
                <a:latin typeface="Malgun Gothic"/>
                <a:ea typeface="Malgun Gothic"/>
              </a:rPr>
              <a:t>— 공모전에 첫 도전하려는 대학생의 고민</a:t>
            </a:r>
          </a:p>
        </p:txBody>
      </p:sp>
      <p:sp>
        <p:nvSpPr>
          <p:cNvPr id="100023" name="Support"/>
          <p:cNvSpPr txBox="1"/>
          <p:nvPr/>
        </p:nvSpPr>
        <p:spPr>
          <a:xfrm xmlns:a="http://schemas.openxmlformats.org/drawingml/2006/main">
            <a:off x="720000" y="4752000"/>
            <a:ext cx="10753200" cy="108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800">
                <a:solidFill>
                  <a:srgbClr val="374151"/>
                </a:solidFill>
                <a:latin typeface="Malgun Gothic"/>
                <a:ea typeface="Malgun Gothic"/>
              </a:rPr>
              <a:t>공모전에 도전하고 싶은 학생은 매년 많습니다. 그런데 '준비'를 도와 주는 창구는 거의 없습니다 —</a:t>
            </a:r>
          </a:p>
          <a:p xmlns:a="http://schemas.openxmlformats.org/drawingml/2006/main">
            <a:r>
              <a:rPr lang="en-US" sz="1800">
                <a:solidFill>
                  <a:srgbClr val="374151"/>
                </a:solidFill>
                <a:latin typeface="Malgun Gothic"/>
                <a:ea typeface="Malgun Gothic"/>
              </a:rPr>
              <a:t>정보는 흩어져 있고, 판단은 혼자 해야 하고, 마지막 서류까지도요.</a:t>
            </a:r>
          </a:p>
        </p:txBody>
      </p:sp>
    </p:spTree>
  </p:cSld>
</p:sld>
</file>

<file path=ppt/slides/slide4.xml><?xml version="1.0" encoding="utf-8"?>
<p:sld xmlns:a="http://schemas.openxmlformats.org/drawingml/2006/main" xmlns:p="http://schemas.openxmlformats.org/presentationml/2006/main">
  <p:cSld>
    <p:bg>
      <p:bgPr>
        <a:solidFill xmlns:a="http://schemas.openxmlformats.org/drawingml/2006/main">
          <a:srgbClr val="FFFFFF"/>
        </a:solidFill>
      </p:bgPr>
    </p:bg>
    <p:spTree>
      <p:nvGrpSpPr>
        <p:cNvPr id="1" name=""/>
        <p:cNvGrpSpPr/>
        <p:nvPr/>
      </p:nvGrpSpPr>
      <p:grpSpPr/>
      <p:sp>
        <p:nvSpPr>
          <p:cNvPr id="100024" name="Marker"/>
          <p:cNvSpPr/>
          <p:nvPr/>
        </p:nvSpPr>
        <p:spPr>
          <a:xfrm xmlns:a="http://schemas.openxmlformats.org/drawingml/2006/main">
            <a:off x="540000" y="468000"/>
            <a:ext cx="180000" cy="180000"/>
          </a:xfrm>
          <a:prstGeom xmlns:a="http://schemas.openxmlformats.org/drawingml/2006/main" prst="rect">
            <a:avLst/>
          </a:prstGeom>
          <a:solidFill xmlns:a="http://schemas.openxmlformats.org/drawingml/2006/main">
            <a:srgbClr val="2563EB"/>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25" name="Title"/>
          <p:cNvSpPr txBox="1"/>
          <p:nvPr/>
        </p:nvSpPr>
        <p:spPr>
          <a:xfrm xmlns:a="http://schemas.openxmlformats.org/drawingml/2006/main">
            <a:off x="828000" y="288000"/>
            <a:ext cx="10440000" cy="72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3600" b="1">
                <a:solidFill>
                  <a:srgbClr val="000000"/>
                </a:solidFill>
                <a:latin typeface="Malgun Gothic"/>
                <a:ea typeface="Malgun Gothic"/>
              </a:rPr>
              <a:t>첫 도전을 막는 세 가지 벽</a:t>
            </a:r>
          </a:p>
        </p:txBody>
      </p:sp>
      <p:sp>
        <p:nvSpPr>
          <p:cNvPr id="100026" name="Card1"/>
          <p:cNvSpPr/>
          <p:nvPr/>
        </p:nvSpPr>
        <p:spPr>
          <a:xfrm xmlns:a="http://schemas.openxmlformats.org/drawingml/2006/main">
            <a:off x="540000" y="1368000"/>
            <a:ext cx="3520800" cy="3240000"/>
          </a:xfrm>
          <a:prstGeom xmlns:a="http://schemas.openxmlformats.org/drawingml/2006/main" prst="roundRect">
            <a:avLst/>
          </a:prstGeom>
          <a:solidFill xmlns:a="http://schemas.openxmlformats.org/drawingml/2006/main">
            <a:srgbClr val="F5F6F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27" name="C1Num"/>
          <p:cNvSpPr txBox="1"/>
          <p:nvPr/>
        </p:nvSpPr>
        <p:spPr>
          <a:xfrm xmlns:a="http://schemas.openxmlformats.org/drawingml/2006/main">
            <a:off x="756000" y="1584000"/>
            <a:ext cx="2880000" cy="576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3000" b="1">
                <a:solidFill>
                  <a:srgbClr val="2563EB"/>
                </a:solidFill>
                <a:latin typeface="Malgun Gothic"/>
                <a:ea typeface="Malgun Gothic"/>
              </a:rPr>
              <a:t>01</a:t>
            </a:r>
          </a:p>
        </p:txBody>
      </p:sp>
      <p:sp>
        <p:nvSpPr>
          <p:cNvPr id="100028" name="C1Title"/>
          <p:cNvSpPr txBox="1"/>
          <p:nvPr/>
        </p:nvSpPr>
        <p:spPr>
          <a:xfrm xmlns:a="http://schemas.openxmlformats.org/drawingml/2006/main">
            <a:off x="756000" y="2304000"/>
            <a:ext cx="3096000" cy="43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900" b="1">
                <a:solidFill>
                  <a:srgbClr val="000000"/>
                </a:solidFill>
                <a:latin typeface="Malgun Gothic"/>
                <a:ea typeface="Malgun Gothic"/>
              </a:rPr>
              <a:t>어디에 내야 할지 모른다</a:t>
            </a:r>
          </a:p>
        </p:txBody>
      </p:sp>
      <p:sp>
        <p:nvSpPr>
          <p:cNvPr id="100029" name="C1Body"/>
          <p:cNvSpPr txBox="1"/>
          <p:nvPr/>
        </p:nvSpPr>
        <p:spPr>
          <a:xfrm xmlns:a="http://schemas.openxmlformats.org/drawingml/2006/main">
            <a:off x="756000" y="2844000"/>
            <a:ext cx="3232800" cy="1512000"/>
          </a:xfrm>
          <a:prstGeom xmlns:a="http://schemas.openxmlformats.org/drawingml/2006/main" prst="rect">
            <a:avLst/>
          </a:prstGeom>
        </p:spPr>
        <p:txBody>
          <a:bodyPr xmlns:a="http://schemas.openxmlformats.org/drawingml/2006/main"/>
          <a:lstStyle xmlns:a="http://schemas.openxmlformats.org/drawingml/2006/main"/>
          <a:p>
            <a:r>
              <a:rPr lang="en-US" sz="1500">
                <a:solidFill>
                  <a:srgbClr val="4B5563"/>
                </a:solidFill>
                <a:latin typeface="Malgun Gothic"/>
                <a:ea typeface="Malgun Gothic"/>
              </a:rPr>
              <a:t>공모전 정보가 여러 사이트에 흩어져 있어, 내 아이디어와 맞는 곳을 찾기 어렵습니다.</a:t>
            </a:r>
          </a:p>
        </p:txBody>
      </p:sp>
      <p:sp>
        <p:nvSpPr>
          <p:cNvPr id="100030" name="Card2"/>
          <p:cNvSpPr/>
          <p:nvPr/>
        </p:nvSpPr>
        <p:spPr>
          <a:xfrm xmlns:a="http://schemas.openxmlformats.org/drawingml/2006/main">
            <a:off x="4334400" y="1368000"/>
            <a:ext cx="3520800" cy="3240000"/>
          </a:xfrm>
          <a:prstGeom xmlns:a="http://schemas.openxmlformats.org/drawingml/2006/main" prst="roundRect">
            <a:avLst/>
          </a:prstGeom>
          <a:solidFill xmlns:a="http://schemas.openxmlformats.org/drawingml/2006/main">
            <a:srgbClr val="F5F6F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31" name="C2Num"/>
          <p:cNvSpPr txBox="1"/>
          <p:nvPr/>
        </p:nvSpPr>
        <p:spPr>
          <a:xfrm xmlns:a="http://schemas.openxmlformats.org/drawingml/2006/main">
            <a:off x="4550400" y="1584000"/>
            <a:ext cx="2880000" cy="576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3000" b="1">
                <a:solidFill>
                  <a:srgbClr val="2563EB"/>
                </a:solidFill>
                <a:latin typeface="Malgun Gothic"/>
                <a:ea typeface="Malgun Gothic"/>
              </a:rPr>
              <a:t>02</a:t>
            </a:r>
          </a:p>
        </p:txBody>
      </p:sp>
      <p:sp>
        <p:nvSpPr>
          <p:cNvPr id="100032" name="C2Title"/>
          <p:cNvSpPr txBox="1"/>
          <p:nvPr/>
        </p:nvSpPr>
        <p:spPr>
          <a:xfrm xmlns:a="http://schemas.openxmlformats.org/drawingml/2006/main">
            <a:off x="4550400" y="2304000"/>
            <a:ext cx="3096000" cy="43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900" b="1">
                <a:solidFill>
                  <a:srgbClr val="000000"/>
                </a:solidFill>
                <a:latin typeface="Malgun Gothic"/>
                <a:ea typeface="Malgun Gothic"/>
              </a:rPr>
              <a:t>괜찮은지 알 수 없다</a:t>
            </a:r>
          </a:p>
        </p:txBody>
      </p:sp>
      <p:sp>
        <p:nvSpPr>
          <p:cNvPr id="100033" name="C2Body"/>
          <p:cNvSpPr txBox="1"/>
          <p:nvPr/>
        </p:nvSpPr>
        <p:spPr>
          <a:xfrm xmlns:a="http://schemas.openxmlformats.org/drawingml/2006/main">
            <a:off x="4550400" y="2844000"/>
            <a:ext cx="3232800" cy="1512000"/>
          </a:xfrm>
          <a:prstGeom xmlns:a="http://schemas.openxmlformats.org/drawingml/2006/main" prst="rect">
            <a:avLst/>
          </a:prstGeom>
        </p:spPr>
        <p:txBody>
          <a:bodyPr xmlns:a="http://schemas.openxmlformats.org/drawingml/2006/main"/>
          <a:lstStyle xmlns:a="http://schemas.openxmlformats.org/drawingml/2006/main"/>
          <a:p>
            <a:r>
              <a:rPr lang="en-US" sz="1500">
                <a:solidFill>
                  <a:srgbClr val="4B5563"/>
                </a:solidFill>
                <a:latin typeface="Malgun Gothic"/>
                <a:ea typeface="Malgun Gothic"/>
              </a:rPr>
              <a:t>아이디어의 강점과 약점, 심사위원이 볼 차별점을 객관적으로 봐 줄 곳이 없습니다.</a:t>
            </a:r>
          </a:p>
        </p:txBody>
      </p:sp>
      <p:sp>
        <p:nvSpPr>
          <p:cNvPr id="100034" name="Card3"/>
          <p:cNvSpPr/>
          <p:nvPr/>
        </p:nvSpPr>
        <p:spPr>
          <a:xfrm xmlns:a="http://schemas.openxmlformats.org/drawingml/2006/main">
            <a:off x="8128800" y="1368000"/>
            <a:ext cx="3520800" cy="3240000"/>
          </a:xfrm>
          <a:prstGeom xmlns:a="http://schemas.openxmlformats.org/drawingml/2006/main" prst="roundRect">
            <a:avLst/>
          </a:prstGeom>
          <a:solidFill xmlns:a="http://schemas.openxmlformats.org/drawingml/2006/main">
            <a:srgbClr val="F5F6F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35" name="C3Num"/>
          <p:cNvSpPr txBox="1"/>
          <p:nvPr/>
        </p:nvSpPr>
        <p:spPr>
          <a:xfrm xmlns:a="http://schemas.openxmlformats.org/drawingml/2006/main">
            <a:off x="8344800" y="1584000"/>
            <a:ext cx="2880000" cy="576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3000" b="1">
                <a:solidFill>
                  <a:srgbClr val="2563EB"/>
                </a:solidFill>
                <a:latin typeface="Malgun Gothic"/>
                <a:ea typeface="Malgun Gothic"/>
              </a:rPr>
              <a:t>03</a:t>
            </a:r>
          </a:p>
        </p:txBody>
      </p:sp>
      <p:sp>
        <p:nvSpPr>
          <p:cNvPr id="100036" name="C3Title"/>
          <p:cNvSpPr txBox="1"/>
          <p:nvPr/>
        </p:nvSpPr>
        <p:spPr>
          <a:xfrm xmlns:a="http://schemas.openxmlformats.org/drawingml/2006/main">
            <a:off x="8344800" y="2304000"/>
            <a:ext cx="3240000" cy="43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900" b="1">
                <a:solidFill>
                  <a:srgbClr val="000000"/>
                </a:solidFill>
                <a:latin typeface="Malgun Gothic"/>
                <a:ea typeface="Malgun Gothic"/>
              </a:rPr>
              <a:t>마지막 한 걸음이 막막하다</a:t>
            </a:r>
          </a:p>
        </p:txBody>
      </p:sp>
      <p:sp>
        <p:nvSpPr>
          <p:cNvPr id="100037" name="C3Body"/>
          <p:cNvSpPr txBox="1"/>
          <p:nvPr/>
        </p:nvSpPr>
        <p:spPr>
          <a:xfrm xmlns:a="http://schemas.openxmlformats.org/drawingml/2006/main">
            <a:off x="8344800" y="2844000"/>
            <a:ext cx="3232800" cy="1512000"/>
          </a:xfrm>
          <a:prstGeom xmlns:a="http://schemas.openxmlformats.org/drawingml/2006/main" prst="rect">
            <a:avLst/>
          </a:prstGeom>
        </p:spPr>
        <p:txBody>
          <a:bodyPr xmlns:a="http://schemas.openxmlformats.org/drawingml/2006/main"/>
          <a:lstStyle xmlns:a="http://schemas.openxmlformats.org/drawingml/2006/main"/>
          <a:p>
            <a:r>
              <a:rPr lang="en-US" sz="1500">
                <a:solidFill>
                  <a:srgbClr val="4B5563"/>
                </a:solidFill>
                <a:latin typeface="Malgun Gothic"/>
                <a:ea typeface="Malgun Gothic"/>
              </a:rPr>
              <a:t>제안서를 쓰고 예상 질문을 준비하는 마무리 단계의 도구는 거의 없습니다.</a:t>
            </a:r>
          </a:p>
        </p:txBody>
      </p:sp>
      <p:sp>
        <p:nvSpPr>
          <p:cNvPr id="100038" name="Answer"/>
          <p:cNvSpPr txBox="1"/>
          <p:nvPr/>
        </p:nvSpPr>
        <p:spPr>
          <a:xfrm xmlns:a="http://schemas.openxmlformats.org/drawingml/2006/main">
            <a:off x="540000" y="5256000"/>
            <a:ext cx="11113200" cy="576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2000" b="1">
                <a:solidFill>
                  <a:srgbClr val="000000"/>
                </a:solidFill>
                <a:latin typeface="Malgun Gothic"/>
                <a:ea typeface="Malgun Gothic"/>
              </a:rPr>
              <a:t>공모온은 이 세 가지를 추천 → 분석 → 준비, 하나의 흐름으로 풀었습니다.</a:t>
            </a:r>
          </a:p>
        </p:txBody>
      </p:sp>
    </p:spTree>
  </p:cSld>
</p:sld>
</file>

<file path=ppt/slides/slide5.xml><?xml version="1.0" encoding="utf-8"?>
<p:sld xmlns:a="http://schemas.openxmlformats.org/drawingml/2006/main" xmlns:p="http://schemas.openxmlformats.org/presentationml/2006/main">
  <p:cSld>
    <p:bg>
      <p:bgPr>
        <a:solidFill xmlns:a="http://schemas.openxmlformats.org/drawingml/2006/main">
          <a:srgbClr val="FFFFFF"/>
        </a:solidFill>
      </p:bgPr>
    </p:bg>
    <p:spTree>
      <p:nvGrpSpPr>
        <p:cNvPr id="1" name=""/>
        <p:cNvGrpSpPr/>
        <p:nvPr/>
      </p:nvGrpSpPr>
      <p:grpSpPr/>
      <p:sp>
        <p:nvSpPr>
          <p:cNvPr id="100039" name="Marker"/>
          <p:cNvSpPr/>
          <p:nvPr/>
        </p:nvSpPr>
        <p:spPr>
          <a:xfrm xmlns:a="http://schemas.openxmlformats.org/drawingml/2006/main">
            <a:off x="540000" y="468000"/>
            <a:ext cx="180000" cy="180000"/>
          </a:xfrm>
          <a:prstGeom xmlns:a="http://schemas.openxmlformats.org/drawingml/2006/main" prst="rect">
            <a:avLst/>
          </a:prstGeom>
          <a:solidFill xmlns:a="http://schemas.openxmlformats.org/drawingml/2006/main">
            <a:srgbClr val="2563EB"/>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40" name="Title"/>
          <p:cNvSpPr txBox="1"/>
          <p:nvPr/>
        </p:nvSpPr>
        <p:spPr>
          <a:xfrm xmlns:a="http://schemas.openxmlformats.org/drawingml/2006/main">
            <a:off x="828000" y="288000"/>
            <a:ext cx="10440000" cy="72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3600" b="1">
                <a:solidFill>
                  <a:srgbClr val="000000"/>
                </a:solidFill>
                <a:latin typeface="Malgun Gothic"/>
                <a:ea typeface="Malgun Gothic"/>
              </a:rPr>
              <a:t>아이디어가 출품까지 이어지는 흐름</a:t>
            </a:r>
          </a:p>
        </p:txBody>
      </p:sp>
      <p:sp>
        <p:nvSpPr>
          <p:cNvPr id="100041" name="Box1"/>
          <p:cNvSpPr/>
          <p:nvPr/>
        </p:nvSpPr>
        <p:spPr>
          <a:xfrm xmlns:a="http://schemas.openxmlformats.org/drawingml/2006/main">
            <a:off x="540000" y="1800000"/>
            <a:ext cx="2077200" cy="1512000"/>
          </a:xfrm>
          <a:prstGeom xmlns:a="http://schemas.openxmlformats.org/drawingml/2006/main" prst="roundRect">
            <a:avLst/>
          </a:prstGeom>
          <a:solidFill xmlns:a="http://schemas.openxmlformats.org/drawingml/2006/main">
            <a:srgbClr val="2563EB"/>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ctr"/>
            <a:r>
              <a:rPr lang="en-US" sz="1600" b="1">
                <a:solidFill>
                  <a:srgbClr val="FFFFFF"/>
                </a:solidFill>
                <a:latin typeface="Malgun Gothic"/>
                <a:ea typeface="Malgun Gothic"/>
              </a:rPr>
              <a:t>유형 검사</a:t>
            </a:r>
          </a:p>
          <a:p xmlns:a="http://schemas.openxmlformats.org/drawingml/2006/main">
            <a:pPr algn="ctr"/>
            <a:r>
              <a:rPr lang="en-US" sz="1600" b="1">
                <a:solidFill>
                  <a:srgbClr val="FFFFFF"/>
                </a:solidFill>
                <a:latin typeface="Malgun Gothic"/>
                <a:ea typeface="Malgun Gothic"/>
              </a:rPr>
              <a:t>성향 진단</a:t>
            </a:r>
          </a:p>
        </p:txBody>
      </p:sp>
      <p:sp>
        <p:nvSpPr>
          <p:cNvPr id="100042" name="Box2"/>
          <p:cNvSpPr/>
          <p:nvPr/>
        </p:nvSpPr>
        <p:spPr>
          <a:xfrm xmlns:a="http://schemas.openxmlformats.org/drawingml/2006/main">
            <a:off x="2797200" y="1800000"/>
            <a:ext cx="2077200" cy="1512000"/>
          </a:xfrm>
          <a:prstGeom xmlns:a="http://schemas.openxmlformats.org/drawingml/2006/main" prst="roundRect">
            <a:avLst/>
          </a:prstGeom>
          <a:solidFill xmlns:a="http://schemas.openxmlformats.org/drawingml/2006/main">
            <a:srgbClr val="F5F6F8"/>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ctr"/>
            <a:r>
              <a:rPr lang="en-US" sz="1600" b="1">
                <a:solidFill>
                  <a:srgbClr val="000000"/>
                </a:solidFill>
                <a:latin typeface="Malgun Gothic"/>
                <a:ea typeface="Malgun Gothic"/>
              </a:rPr>
              <a:t>아이디어 입력</a:t>
            </a:r>
          </a:p>
          <a:p xmlns:a="http://schemas.openxmlformats.org/drawingml/2006/main">
            <a:pPr algn="ctr"/>
            <a:r>
              <a:rPr lang="en-US" sz="1600" b="1">
                <a:solidFill>
                  <a:srgbClr val="000000"/>
                </a:solidFill>
                <a:latin typeface="Malgun Gothic"/>
                <a:ea typeface="Malgun Gothic"/>
              </a:rPr>
              <a:t>제목·설명·분야</a:t>
            </a:r>
          </a:p>
        </p:txBody>
      </p:sp>
      <p:sp>
        <p:nvSpPr>
          <p:cNvPr id="100043" name="Box3"/>
          <p:cNvSpPr/>
          <p:nvPr/>
        </p:nvSpPr>
        <p:spPr>
          <a:xfrm xmlns:a="http://schemas.openxmlformats.org/drawingml/2006/main">
            <a:off x="5054400" y="1800000"/>
            <a:ext cx="2077200" cy="1512000"/>
          </a:xfrm>
          <a:prstGeom xmlns:a="http://schemas.openxmlformats.org/drawingml/2006/main" prst="roundRect">
            <a:avLst/>
          </a:prstGeom>
          <a:solidFill xmlns:a="http://schemas.openxmlformats.org/drawingml/2006/main">
            <a:srgbClr val="F5F6F8"/>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ctr"/>
            <a:r>
              <a:rPr lang="en-US" sz="1600" b="1">
                <a:solidFill>
                  <a:srgbClr val="000000"/>
                </a:solidFill>
                <a:latin typeface="Malgun Gothic"/>
                <a:ea typeface="Malgun Gothic"/>
              </a:rPr>
              <a:t>AI 분석</a:t>
            </a:r>
          </a:p>
          <a:p xmlns:a="http://schemas.openxmlformats.org/drawingml/2006/main">
            <a:pPr algn="ctr"/>
            <a:r>
              <a:rPr lang="en-US" sz="1600" b="1">
                <a:solidFill>
                  <a:srgbClr val="000000"/>
                </a:solidFill>
                <a:latin typeface="Malgun Gothic"/>
                <a:ea typeface="Malgun Gothic"/>
              </a:rPr>
              <a:t>강점·심사 포인트</a:t>
            </a:r>
          </a:p>
        </p:txBody>
      </p:sp>
      <p:sp>
        <p:nvSpPr>
          <p:cNvPr id="100044" name="Box4"/>
          <p:cNvSpPr/>
          <p:nvPr/>
        </p:nvSpPr>
        <p:spPr>
          <a:xfrm xmlns:a="http://schemas.openxmlformats.org/drawingml/2006/main">
            <a:off x="7311600" y="1800000"/>
            <a:ext cx="2077200" cy="1512000"/>
          </a:xfrm>
          <a:prstGeom xmlns:a="http://schemas.openxmlformats.org/drawingml/2006/main" prst="roundRect">
            <a:avLst/>
          </a:prstGeom>
          <a:solidFill xmlns:a="http://schemas.openxmlformats.org/drawingml/2006/main">
            <a:srgbClr val="F5F6F8"/>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ctr"/>
            <a:r>
              <a:rPr lang="en-US" sz="1600" b="1">
                <a:solidFill>
                  <a:srgbClr val="000000"/>
                </a:solidFill>
                <a:latin typeface="Malgun Gothic"/>
                <a:ea typeface="Malgun Gothic"/>
              </a:rPr>
              <a:t>공모전 추천</a:t>
            </a:r>
          </a:p>
          <a:p xmlns:a="http://schemas.openxmlformats.org/drawingml/2006/main">
            <a:pPr algn="ctr"/>
            <a:r>
              <a:rPr lang="en-US" sz="1600" b="1">
                <a:solidFill>
                  <a:srgbClr val="000000"/>
                </a:solidFill>
                <a:latin typeface="Malgun Gothic"/>
                <a:ea typeface="Malgun Gothic"/>
              </a:rPr>
              <a:t>적합도·응모 기록</a:t>
            </a:r>
          </a:p>
        </p:txBody>
      </p:sp>
      <p:sp>
        <p:nvSpPr>
          <p:cNvPr id="100045" name="Box5"/>
          <p:cNvSpPr/>
          <p:nvPr/>
        </p:nvSpPr>
        <p:spPr>
          <a:xfrm xmlns:a="http://schemas.openxmlformats.org/drawingml/2006/main">
            <a:off x="9568800" y="1800000"/>
            <a:ext cx="2077200" cy="1512000"/>
          </a:xfrm>
          <a:prstGeom xmlns:a="http://schemas.openxmlformats.org/drawingml/2006/main" prst="roundRect">
            <a:avLst/>
          </a:prstGeom>
          <a:solidFill xmlns:a="http://schemas.openxmlformats.org/drawingml/2006/main">
            <a:srgbClr val="F5F6F8"/>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ctr"/>
            <a:r>
              <a:rPr lang="en-US" sz="1600" b="1">
                <a:solidFill>
                  <a:srgbClr val="000000"/>
                </a:solidFill>
                <a:latin typeface="Malgun Gothic"/>
                <a:ea typeface="Malgun Gothic"/>
              </a:rPr>
              <a:t>초안·연습</a:t>
            </a:r>
          </a:p>
          <a:p xmlns:a="http://schemas.openxmlformats.org/drawingml/2006/main">
            <a:pPr algn="ctr"/>
            <a:r>
              <a:rPr lang="en-US" sz="1600" b="1">
                <a:solidFill>
                  <a:srgbClr val="000000"/>
                </a:solidFill>
                <a:latin typeface="Malgun Gothic"/>
                <a:ea typeface="Malgun Gothic"/>
              </a:rPr>
              <a:t>제안서·Q&amp;A</a:t>
            </a:r>
          </a:p>
        </p:txBody>
      </p:sp>
      <p:cxnSp>
        <p:nvCxnSpPr>
          <p:cNvPr id="100046" name="Connector 1"/>
          <p:cNvCxnSpPr>
            <a:stCxn xmlns:a="http://schemas.openxmlformats.org/drawingml/2006/main" id="100041" idx="0"/>
            <a:endCxn xmlns:a="http://schemas.openxmlformats.org/drawingml/2006/main" id="100042" idx="0"/>
          </p:cNvCxnSpPr>
          <p:nvPr/>
        </p:nvCxnSpPr>
        <p:spPr>
          <a:xfrm xmlns:a="http://schemas.openxmlformats.org/drawingml/2006/main">
            <a:off x="2617200" y="2556000"/>
            <a:ext cx="180000" cy="0"/>
          </a:xfrm>
          <a:prstGeom xmlns:a="http://schemas.openxmlformats.org/drawingml/2006/main" prst="bentConnector3">
            <a:avLst/>
          </a:prstGeom>
          <a:ln xmlns:a="http://schemas.openxmlformats.org/drawingml/2006/main" w="12700">
            <a:solidFill>
              <a:srgbClr val="9CA3AF"/>
            </a:solidFill>
            <a:tailEnd type="triangle"/>
          </a:ln>
        </p:spPr>
      </p:cxnSp>
      <p:cxnSp>
        <p:nvCxnSpPr>
          <p:cNvPr id="100047" name="Connector 2"/>
          <p:cNvCxnSpPr>
            <a:stCxn xmlns:a="http://schemas.openxmlformats.org/drawingml/2006/main" id="100042" idx="0"/>
            <a:endCxn xmlns:a="http://schemas.openxmlformats.org/drawingml/2006/main" id="100043" idx="0"/>
          </p:cNvCxnSpPr>
          <p:nvPr/>
        </p:nvCxnSpPr>
        <p:spPr>
          <a:xfrm xmlns:a="http://schemas.openxmlformats.org/drawingml/2006/main">
            <a:off x="4874400" y="2556000"/>
            <a:ext cx="180000" cy="0"/>
          </a:xfrm>
          <a:prstGeom xmlns:a="http://schemas.openxmlformats.org/drawingml/2006/main" prst="bentConnector3">
            <a:avLst/>
          </a:prstGeom>
          <a:ln xmlns:a="http://schemas.openxmlformats.org/drawingml/2006/main" w="12700">
            <a:solidFill>
              <a:srgbClr val="9CA3AF"/>
            </a:solidFill>
            <a:tailEnd type="triangle"/>
          </a:ln>
        </p:spPr>
      </p:cxnSp>
      <p:cxnSp>
        <p:nvCxnSpPr>
          <p:cNvPr id="100048" name="Connector 3"/>
          <p:cNvCxnSpPr>
            <a:stCxn xmlns:a="http://schemas.openxmlformats.org/drawingml/2006/main" id="100043" idx="0"/>
            <a:endCxn xmlns:a="http://schemas.openxmlformats.org/drawingml/2006/main" id="100044" idx="0"/>
          </p:cNvCxnSpPr>
          <p:nvPr/>
        </p:nvCxnSpPr>
        <p:spPr>
          <a:xfrm xmlns:a="http://schemas.openxmlformats.org/drawingml/2006/main">
            <a:off x="7131600" y="2556000"/>
            <a:ext cx="180000" cy="0"/>
          </a:xfrm>
          <a:prstGeom xmlns:a="http://schemas.openxmlformats.org/drawingml/2006/main" prst="bentConnector3">
            <a:avLst/>
          </a:prstGeom>
          <a:ln xmlns:a="http://schemas.openxmlformats.org/drawingml/2006/main" w="12700">
            <a:solidFill>
              <a:srgbClr val="9CA3AF"/>
            </a:solidFill>
            <a:tailEnd type="triangle"/>
          </a:ln>
        </p:spPr>
      </p:cxnSp>
      <p:cxnSp>
        <p:nvCxnSpPr>
          <p:cNvPr id="100049" name="Connector 4"/>
          <p:cNvCxnSpPr>
            <a:stCxn xmlns:a="http://schemas.openxmlformats.org/drawingml/2006/main" id="100044" idx="0"/>
            <a:endCxn xmlns:a="http://schemas.openxmlformats.org/drawingml/2006/main" id="100045" idx="0"/>
          </p:cNvCxnSpPr>
          <p:nvPr/>
        </p:nvCxnSpPr>
        <p:spPr>
          <a:xfrm xmlns:a="http://schemas.openxmlformats.org/drawingml/2006/main">
            <a:off x="9388800" y="2556000"/>
            <a:ext cx="180000" cy="0"/>
          </a:xfrm>
          <a:prstGeom xmlns:a="http://schemas.openxmlformats.org/drawingml/2006/main" prst="bentConnector3">
            <a:avLst/>
          </a:prstGeom>
          <a:ln xmlns:a="http://schemas.openxmlformats.org/drawingml/2006/main" w="12700">
            <a:solidFill>
              <a:srgbClr val="9CA3AF"/>
            </a:solidFill>
            <a:tailEnd type="triangle"/>
          </a:ln>
        </p:spPr>
      </p:cxnSp>
      <p:sp>
        <p:nvSpPr>
          <p:cNvPr id="100050" name="Hint"/>
          <p:cNvSpPr txBox="1"/>
          <p:nvPr/>
        </p:nvSpPr>
        <p:spPr>
          <a:xfrm xmlns:a="http://schemas.openxmlformats.org/drawingml/2006/main">
            <a:off x="540000" y="3744000"/>
            <a:ext cx="10753200" cy="43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500">
                <a:solidFill>
                  <a:srgbClr val="6B7280"/>
                </a:solidFill>
                <a:latin typeface="Malgun Gothic"/>
                <a:ea typeface="Malgun Gothic"/>
              </a:rPr>
              <a:t>검사 결과는 맞춤 아이디어 힌트가 되어 입력 화면으로 이어집니다.</a:t>
            </a:r>
          </a:p>
        </p:txBody>
      </p:sp>
      <p:sp>
        <p:nvSpPr>
          <p:cNvPr id="100051" name="Dashboard"/>
          <p:cNvSpPr/>
          <p:nvPr/>
        </p:nvSpPr>
        <p:spPr>
          <a:xfrm xmlns:a="http://schemas.openxmlformats.org/drawingml/2006/main">
            <a:off x="540000" y="4536000"/>
            <a:ext cx="11113200" cy="1296000"/>
          </a:xfrm>
          <a:prstGeom xmlns:a="http://schemas.openxmlformats.org/drawingml/2006/main" prst="roundRect">
            <a:avLst/>
          </a:prstGeom>
          <a:solidFill xmlns:a="http://schemas.openxmlformats.org/drawingml/2006/main">
            <a:srgbClr val="F5F6F8"/>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ctr"/>
            <a:r>
              <a:rPr lang="en-US" sz="1600" b="1">
                <a:solidFill>
                  <a:srgbClr val="000000"/>
                </a:solidFill>
                <a:latin typeface="Malgun Gothic"/>
                <a:ea typeface="Malgun Gothic"/>
              </a:rPr>
              <a:t>대시보드 — 응모 현황 · 마감 임박 · 도전 히스토리를 한눈에 관리</a:t>
            </a:r>
          </a:p>
        </p:txBody>
      </p:sp>
    </p:spTree>
  </p:cSld>
</p:sld>
</file>

<file path=ppt/slides/slide6.xml><?xml version="1.0" encoding="utf-8"?>
<p:sld xmlns:a="http://schemas.openxmlformats.org/drawingml/2006/main" xmlns:p="http://schemas.openxmlformats.org/presentationml/2006/main">
  <p:cSld>
    <p:bg>
      <p:bgPr>
        <a:solidFill xmlns:a="http://schemas.openxmlformats.org/drawingml/2006/main">
          <a:srgbClr val="FFFFFF"/>
        </a:solidFill>
      </p:bgPr>
    </p:bg>
    <p:spTree>
      <p:nvGrpSpPr>
        <p:cNvPr id="1" name=""/>
        <p:cNvGrpSpPr/>
        <p:nvPr/>
      </p:nvGrpSpPr>
      <p:grpSpPr/>
      <p:sp>
        <p:nvSpPr>
          <p:cNvPr id="100052" name="Marker"/>
          <p:cNvSpPr/>
          <p:nvPr/>
        </p:nvSpPr>
        <p:spPr>
          <a:xfrm xmlns:a="http://schemas.openxmlformats.org/drawingml/2006/main">
            <a:off x="540000" y="468000"/>
            <a:ext cx="180000" cy="180000"/>
          </a:xfrm>
          <a:prstGeom xmlns:a="http://schemas.openxmlformats.org/drawingml/2006/main" prst="rect">
            <a:avLst/>
          </a:prstGeom>
          <a:solidFill xmlns:a="http://schemas.openxmlformats.org/drawingml/2006/main">
            <a:srgbClr val="2563EB"/>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53" name="Title"/>
          <p:cNvSpPr txBox="1"/>
          <p:nvPr/>
        </p:nvSpPr>
        <p:spPr>
          <a:xfrm xmlns:a="http://schemas.openxmlformats.org/drawingml/2006/main">
            <a:off x="828000" y="288000"/>
            <a:ext cx="10440000" cy="72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3600" b="1">
                <a:solidFill>
                  <a:srgbClr val="000000"/>
                </a:solidFill>
                <a:latin typeface="Malgun Gothic"/>
                <a:ea typeface="Malgun Gothic"/>
              </a:rPr>
              <a:t>나는 어떤 공모전형 인간?</a:t>
            </a:r>
          </a:p>
        </p:txBody>
      </p:sp>
      <p:sp>
        <p:nvSpPr>
          <p:cNvPr id="100054" name="Sub"/>
          <p:cNvSpPr txBox="1"/>
          <p:nvPr/>
        </p:nvSpPr>
        <p:spPr>
          <a:xfrm xmlns:a="http://schemas.openxmlformats.org/drawingml/2006/main">
            <a:off x="828000" y="1044000"/>
            <a:ext cx="10440000" cy="396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600">
                <a:solidFill>
                  <a:srgbClr val="6B7280"/>
                </a:solidFill>
                <a:latin typeface="Malgun Gothic"/>
                <a:ea typeface="Malgun Gothic"/>
              </a:rPr>
              <a:t>30문항 선택형 검사 — 결과는 일치율(%)로 진단합니다</a:t>
            </a:r>
          </a:p>
        </p:txBody>
      </p:sp>
      <p:sp>
        <p:nvSpPr>
          <p:cNvPr id="100055" name="T1"/>
          <p:cNvSpPr/>
          <p:nvPr/>
        </p:nvSpPr>
        <p:spPr>
          <a:xfrm xmlns:a="http://schemas.openxmlformats.org/drawingml/2006/main">
            <a:off x="540000" y="1656000"/>
            <a:ext cx="2574000" cy="1944000"/>
          </a:xfrm>
          <a:prstGeom xmlns:a="http://schemas.openxmlformats.org/drawingml/2006/main" prst="roundRect">
            <a:avLst/>
          </a:prstGeom>
          <a:solidFill xmlns:a="http://schemas.openxmlformats.org/drawingml/2006/main">
            <a:srgbClr val="F5F6F8"/>
          </a:solidFill>
          <a:ln xmlns:a="http://schemas.openxmlformats.org/drawingml/2006/main">
            <a:noFill/>
          </a:ln>
        </p:spPr>
        <p:txBody>
          <a:bodyPr xmlns:a="http://schemas.openxmlformats.org/drawingml/2006/main" lIns="54000" tIns="54000" rIns="54000" bIns="54000" anchor="ctr"/>
          <a:lstStyle xmlns:a="http://schemas.openxmlformats.org/drawingml/2006/main"/>
          <a:p>
            <a:pPr algn="ctr"/>
            <a:r>
              <a:rPr lang="en-US" sz="1700" b="1">
                <a:solidFill>
                  <a:srgbClr val="000000"/>
                </a:solidFill>
                <a:latin typeface="Malgun Gothic"/>
                <a:ea typeface="Malgun Gothic"/>
              </a:rPr>
              <a:t>문제 해결형</a:t>
            </a:r>
          </a:p>
          <a:p>
            <a:pPr algn="ctr"/>
            <a:r>
              <a:rPr lang="en-US" sz="1700" b="1">
                <a:solidFill>
                  <a:srgbClr val="000000"/>
                </a:solidFill>
                <a:latin typeface="Malgun Gothic"/>
                <a:ea typeface="Malgun Gothic"/>
              </a:rPr>
              <a:t/>
            </a:r>
          </a:p>
          <a:p>
            <a:pPr algn="ctr"/>
            <a:r>
              <a:rPr lang="en-US" sz="1700" b="1">
                <a:solidFill>
                  <a:srgbClr val="000000"/>
                </a:solidFill>
                <a:latin typeface="Malgun Gothic"/>
                <a:ea typeface="Malgun Gothic"/>
              </a:rPr>
              <a:t>불편함을 해결책으로</a:t>
            </a:r>
          </a:p>
          <a:p>
            <a:pPr algn="ctr"/>
            <a:r>
              <a:rPr lang="en-US" sz="1700" b="1">
                <a:solidFill>
                  <a:srgbClr val="000000"/>
                </a:solidFill>
                <a:latin typeface="Malgun Gothic"/>
                <a:ea typeface="Malgun Gothic"/>
              </a:rPr>
              <a:t>바꾸는 사람</a:t>
            </a:r>
          </a:p>
        </p:txBody>
      </p:sp>
      <p:sp>
        <p:nvSpPr>
          <p:cNvPr id="100056" name="T2"/>
          <p:cNvSpPr/>
          <p:nvPr/>
        </p:nvSpPr>
        <p:spPr>
          <a:xfrm xmlns:a="http://schemas.openxmlformats.org/drawingml/2006/main">
            <a:off x="3387600" y="1656000"/>
            <a:ext cx="2574000" cy="1944000"/>
          </a:xfrm>
          <a:prstGeom xmlns:a="http://schemas.openxmlformats.org/drawingml/2006/main" prst="roundRect">
            <a:avLst/>
          </a:prstGeom>
          <a:solidFill xmlns:a="http://schemas.openxmlformats.org/drawingml/2006/main">
            <a:srgbClr val="F5F6F8"/>
          </a:solidFill>
          <a:ln xmlns:a="http://schemas.openxmlformats.org/drawingml/2006/main">
            <a:noFill/>
          </a:ln>
        </p:spPr>
        <p:txBody>
          <a:bodyPr xmlns:a="http://schemas.openxmlformats.org/drawingml/2006/main" lIns="54000" tIns="54000" rIns="54000" bIns="54000" anchor="ctr"/>
          <a:lstStyle xmlns:a="http://schemas.openxmlformats.org/drawingml/2006/main"/>
          <a:p>
            <a:pPr algn="ctr"/>
            <a:r>
              <a:rPr lang="en-US" sz="1700" b="1">
                <a:solidFill>
                  <a:srgbClr val="000000"/>
                </a:solidFill>
                <a:latin typeface="Malgun Gothic"/>
                <a:ea typeface="Malgun Gothic"/>
              </a:rPr>
              <a:t>기술 탐험형</a:t>
            </a:r>
          </a:p>
          <a:p>
            <a:pPr algn="ctr"/>
            <a:r>
              <a:rPr lang="en-US" sz="1700" b="1">
                <a:solidFill>
                  <a:srgbClr val="000000"/>
                </a:solidFill>
                <a:latin typeface="Malgun Gothic"/>
                <a:ea typeface="Malgun Gothic"/>
              </a:rPr>
              <a:t/>
            </a:r>
          </a:p>
          <a:p>
            <a:pPr algn="ctr"/>
            <a:r>
              <a:rPr lang="en-US" sz="1700" b="1">
                <a:solidFill>
                  <a:srgbClr val="000000"/>
                </a:solidFill>
                <a:latin typeface="Malgun Gothic"/>
                <a:ea typeface="Malgun Gothic"/>
              </a:rPr>
              <a:t>새 기술로 가능성의</a:t>
            </a:r>
          </a:p>
          <a:p>
            <a:pPr algn="ctr"/>
            <a:r>
              <a:rPr lang="en-US" sz="1700" b="1">
                <a:solidFill>
                  <a:srgbClr val="000000"/>
                </a:solidFill>
                <a:latin typeface="Malgun Gothic"/>
                <a:ea typeface="Malgun Gothic"/>
              </a:rPr>
              <a:t>지도를 넓히는 사람</a:t>
            </a:r>
          </a:p>
        </p:txBody>
      </p:sp>
      <p:sp>
        <p:nvSpPr>
          <p:cNvPr id="100057" name="T3"/>
          <p:cNvSpPr/>
          <p:nvPr/>
        </p:nvSpPr>
        <p:spPr>
          <a:xfrm xmlns:a="http://schemas.openxmlformats.org/drawingml/2006/main">
            <a:off x="6235200" y="1656000"/>
            <a:ext cx="2574000" cy="1944000"/>
          </a:xfrm>
          <a:prstGeom xmlns:a="http://schemas.openxmlformats.org/drawingml/2006/main" prst="roundRect">
            <a:avLst/>
          </a:prstGeom>
          <a:solidFill xmlns:a="http://schemas.openxmlformats.org/drawingml/2006/main">
            <a:srgbClr val="F5F6F8"/>
          </a:solidFill>
          <a:ln xmlns:a="http://schemas.openxmlformats.org/drawingml/2006/main">
            <a:noFill/>
          </a:ln>
        </p:spPr>
        <p:txBody>
          <a:bodyPr xmlns:a="http://schemas.openxmlformats.org/drawingml/2006/main" lIns="54000" tIns="54000" rIns="54000" bIns="54000" anchor="ctr"/>
          <a:lstStyle xmlns:a="http://schemas.openxmlformats.org/drawingml/2006/main"/>
          <a:p>
            <a:pPr algn="ctr"/>
            <a:r>
              <a:rPr lang="en-US" sz="1700" b="1">
                <a:solidFill>
                  <a:srgbClr val="000000"/>
                </a:solidFill>
                <a:latin typeface="Malgun Gothic"/>
                <a:ea typeface="Malgun Gothic"/>
              </a:rPr>
              <a:t>실행 제작형</a:t>
            </a:r>
          </a:p>
          <a:p>
            <a:pPr algn="ctr"/>
            <a:r>
              <a:rPr lang="en-US" sz="1700" b="1">
                <a:solidFill>
                  <a:srgbClr val="000000"/>
                </a:solidFill>
                <a:latin typeface="Malgun Gothic"/>
                <a:ea typeface="Malgun Gothic"/>
              </a:rPr>
              <a:t/>
            </a:r>
          </a:p>
          <a:p>
            <a:pPr algn="ctr"/>
            <a:r>
              <a:rPr lang="en-US" sz="1700" b="1">
                <a:solidFill>
                  <a:srgbClr val="000000"/>
                </a:solidFill>
                <a:latin typeface="Malgun Gothic"/>
                <a:ea typeface="Malgun Gothic"/>
              </a:rPr>
              <a:t>생각을 손으로 옮겨</a:t>
            </a:r>
          </a:p>
          <a:p>
            <a:pPr algn="ctr"/>
            <a:r>
              <a:rPr lang="en-US" sz="1700" b="1">
                <a:solidFill>
                  <a:srgbClr val="000000"/>
                </a:solidFill>
                <a:latin typeface="Malgun Gothic"/>
                <a:ea typeface="Malgun Gothic"/>
              </a:rPr>
              <a:t>만들어 보는 사람</a:t>
            </a:r>
          </a:p>
        </p:txBody>
      </p:sp>
      <p:sp>
        <p:nvSpPr>
          <p:cNvPr id="100058" name="T4"/>
          <p:cNvSpPr/>
          <p:nvPr/>
        </p:nvSpPr>
        <p:spPr>
          <a:xfrm xmlns:a="http://schemas.openxmlformats.org/drawingml/2006/main">
            <a:off x="9082800" y="1656000"/>
            <a:ext cx="2574000" cy="1944000"/>
          </a:xfrm>
          <a:prstGeom xmlns:a="http://schemas.openxmlformats.org/drawingml/2006/main" prst="roundRect">
            <a:avLst/>
          </a:prstGeom>
          <a:solidFill xmlns:a="http://schemas.openxmlformats.org/drawingml/2006/main">
            <a:srgbClr val="F5F6F8"/>
          </a:solidFill>
          <a:ln xmlns:a="http://schemas.openxmlformats.org/drawingml/2006/main">
            <a:noFill/>
          </a:ln>
        </p:spPr>
        <p:txBody>
          <a:bodyPr xmlns:a="http://schemas.openxmlformats.org/drawingml/2006/main" lIns="54000" tIns="54000" rIns="54000" bIns="54000" anchor="ctr"/>
          <a:lstStyle xmlns:a="http://schemas.openxmlformats.org/drawingml/2006/main"/>
          <a:p>
            <a:pPr algn="ctr"/>
            <a:r>
              <a:rPr lang="en-US" sz="1700" b="1">
                <a:solidFill>
                  <a:srgbClr val="000000"/>
                </a:solidFill>
                <a:latin typeface="Malgun Gothic"/>
                <a:ea typeface="Malgun Gothic"/>
              </a:rPr>
              <a:t>이야기 설계형</a:t>
            </a:r>
          </a:p>
          <a:p>
            <a:pPr algn="ctr"/>
            <a:r>
              <a:rPr lang="en-US" sz="1700" b="1">
                <a:solidFill>
                  <a:srgbClr val="000000"/>
                </a:solidFill>
                <a:latin typeface="Malgun Gothic"/>
                <a:ea typeface="Malgun Gothic"/>
              </a:rPr>
              <a:t/>
            </a:r>
          </a:p>
          <a:p>
            <a:pPr algn="ctr"/>
            <a:r>
              <a:rPr lang="en-US" sz="1700" b="1">
                <a:solidFill>
                  <a:srgbClr val="000000"/>
                </a:solidFill>
                <a:latin typeface="Malgun Gothic"/>
                <a:ea typeface="Malgun Gothic"/>
              </a:rPr>
              <a:t>마음을 움직이는</a:t>
            </a:r>
          </a:p>
          <a:p>
            <a:pPr algn="ctr"/>
            <a:r>
              <a:rPr lang="en-US" sz="1700" b="1">
                <a:solidFill>
                  <a:srgbClr val="000000"/>
                </a:solidFill>
                <a:latin typeface="Malgun Gothic"/>
                <a:ea typeface="Malgun Gothic"/>
              </a:rPr>
              <a:t>이야기를 입히는 사람</a:t>
            </a:r>
          </a:p>
        </p:txBody>
      </p:sp>
      <p:sp>
        <p:nvSpPr>
          <p:cNvPr id="100059" name="T5"/>
          <p:cNvSpPr/>
          <p:nvPr/>
        </p:nvSpPr>
        <p:spPr>
          <a:xfrm xmlns:a="http://schemas.openxmlformats.org/drawingml/2006/main">
            <a:off x="1962000" y="3888000"/>
            <a:ext cx="2574000" cy="1944000"/>
          </a:xfrm>
          <a:prstGeom xmlns:a="http://schemas.openxmlformats.org/drawingml/2006/main" prst="roundRect">
            <a:avLst/>
          </a:prstGeom>
          <a:solidFill xmlns:a="http://schemas.openxmlformats.org/drawingml/2006/main">
            <a:srgbClr val="F5F6F8"/>
          </a:solidFill>
          <a:ln xmlns:a="http://schemas.openxmlformats.org/drawingml/2006/main">
            <a:noFill/>
          </a:ln>
        </p:spPr>
        <p:txBody>
          <a:bodyPr xmlns:a="http://schemas.openxmlformats.org/drawingml/2006/main" lIns="54000" tIns="54000" rIns="54000" bIns="54000" anchor="ctr"/>
          <a:lstStyle xmlns:a="http://schemas.openxmlformats.org/drawingml/2006/main"/>
          <a:p>
            <a:pPr algn="ctr"/>
            <a:r>
              <a:rPr lang="en-US" sz="1700" b="1">
                <a:solidFill>
                  <a:srgbClr val="000000"/>
                </a:solidFill>
                <a:latin typeface="Malgun Gothic"/>
                <a:ea typeface="Malgun Gothic"/>
              </a:rPr>
              <a:t>감각 창작형</a:t>
            </a:r>
          </a:p>
          <a:p>
            <a:pPr algn="ctr"/>
            <a:r>
              <a:rPr lang="en-US" sz="1700" b="1">
                <a:solidFill>
                  <a:srgbClr val="000000"/>
                </a:solidFill>
                <a:latin typeface="Malgun Gothic"/>
                <a:ea typeface="Malgun Gothic"/>
              </a:rPr>
              <a:t/>
            </a:r>
          </a:p>
          <a:p>
            <a:pPr algn="ctr"/>
            <a:r>
              <a:rPr lang="en-US" sz="1700" b="1">
                <a:solidFill>
                  <a:srgbClr val="000000"/>
                </a:solidFill>
                <a:latin typeface="Malgun Gothic"/>
                <a:ea typeface="Malgun Gothic"/>
              </a:rPr>
              <a:t>새로운 시선으로</a:t>
            </a:r>
          </a:p>
          <a:p>
            <a:pPr algn="ctr"/>
            <a:r>
              <a:rPr lang="en-US" sz="1700" b="1">
                <a:solidFill>
                  <a:srgbClr val="000000"/>
                </a:solidFill>
                <a:latin typeface="Malgun Gothic"/>
                <a:ea typeface="Malgun Gothic"/>
              </a:rPr>
              <a:t>장면을 만드는 사람</a:t>
            </a:r>
          </a:p>
        </p:txBody>
      </p:sp>
      <p:sp>
        <p:nvSpPr>
          <p:cNvPr id="100060" name="T6"/>
          <p:cNvSpPr/>
          <p:nvPr/>
        </p:nvSpPr>
        <p:spPr>
          <a:xfrm xmlns:a="http://schemas.openxmlformats.org/drawingml/2006/main">
            <a:off x="4809600" y="3888000"/>
            <a:ext cx="2574000" cy="1944000"/>
          </a:xfrm>
          <a:prstGeom xmlns:a="http://schemas.openxmlformats.org/drawingml/2006/main" prst="roundRect">
            <a:avLst/>
          </a:prstGeom>
          <a:solidFill xmlns:a="http://schemas.openxmlformats.org/drawingml/2006/main">
            <a:srgbClr val="F5F6F8"/>
          </a:solidFill>
          <a:ln xmlns:a="http://schemas.openxmlformats.org/drawingml/2006/main">
            <a:noFill/>
          </a:ln>
        </p:spPr>
        <p:txBody>
          <a:bodyPr xmlns:a="http://schemas.openxmlformats.org/drawingml/2006/main" lIns="54000" tIns="54000" rIns="54000" bIns="54000" anchor="ctr"/>
          <a:lstStyle xmlns:a="http://schemas.openxmlformats.org/drawingml/2006/main"/>
          <a:p>
            <a:pPr algn="ctr"/>
            <a:r>
              <a:rPr lang="en-US" sz="1700" b="1">
                <a:solidFill>
                  <a:srgbClr val="000000"/>
                </a:solidFill>
                <a:latin typeface="Malgun Gothic"/>
                <a:ea typeface="Malgun Gothic"/>
              </a:rPr>
              <a:t>공감 연결형</a:t>
            </a:r>
          </a:p>
          <a:p>
            <a:pPr algn="ctr"/>
            <a:r>
              <a:rPr lang="en-US" sz="1700" b="1">
                <a:solidFill>
                  <a:srgbClr val="000000"/>
                </a:solidFill>
                <a:latin typeface="Malgun Gothic"/>
                <a:ea typeface="Malgun Gothic"/>
              </a:rPr>
              <a:t/>
            </a:r>
          </a:p>
          <a:p>
            <a:pPr algn="ctr"/>
            <a:r>
              <a:rPr lang="en-US" sz="1700" b="1">
                <a:solidFill>
                  <a:srgbClr val="000000"/>
                </a:solidFill>
                <a:latin typeface="Malgun Gothic"/>
                <a:ea typeface="Malgun Gothic"/>
              </a:rPr>
              <a:t>사람 사이의 변화를</a:t>
            </a:r>
          </a:p>
          <a:p>
            <a:pPr algn="ctr"/>
            <a:r>
              <a:rPr lang="en-US" sz="1700" b="1">
                <a:solidFill>
                  <a:srgbClr val="000000"/>
                </a:solidFill>
                <a:latin typeface="Malgun Gothic"/>
                <a:ea typeface="Malgun Gothic"/>
              </a:rPr>
              <a:t>연결하는 사람</a:t>
            </a:r>
          </a:p>
        </p:txBody>
      </p:sp>
      <p:sp>
        <p:nvSpPr>
          <p:cNvPr id="100061" name="T7"/>
          <p:cNvSpPr/>
          <p:nvPr/>
        </p:nvSpPr>
        <p:spPr>
          <a:xfrm xmlns:a="http://schemas.openxmlformats.org/drawingml/2006/main">
            <a:off x="7657200" y="3888000"/>
            <a:ext cx="2574000" cy="1944000"/>
          </a:xfrm>
          <a:prstGeom xmlns:a="http://schemas.openxmlformats.org/drawingml/2006/main" prst="roundRect">
            <a:avLst/>
          </a:prstGeom>
          <a:solidFill xmlns:a="http://schemas.openxmlformats.org/drawingml/2006/main">
            <a:srgbClr val="2563EB"/>
          </a:solidFill>
          <a:ln xmlns:a="http://schemas.openxmlformats.org/drawingml/2006/main">
            <a:noFill/>
          </a:ln>
        </p:spPr>
        <p:txBody>
          <a:bodyPr xmlns:a="http://schemas.openxmlformats.org/drawingml/2006/main" lIns="54000" tIns="54000" rIns="54000" bIns="54000" anchor="ctr"/>
          <a:lstStyle xmlns:a="http://schemas.openxmlformats.org/drawingml/2006/main"/>
          <a:p>
            <a:pPr algn="ctr"/>
            <a:r>
              <a:rPr lang="en-US" sz="1700" b="1">
                <a:solidFill>
                  <a:srgbClr val="FFFFFF"/>
                </a:solidFill>
                <a:latin typeface="Malgun Gothic"/>
                <a:ea typeface="Malgun Gothic"/>
              </a:rPr>
              <a:t>사회 변화형</a:t>
            </a:r>
          </a:p>
          <a:p>
            <a:pPr algn="ctr"/>
            <a:r>
              <a:rPr lang="en-US" sz="1700" b="1">
                <a:solidFill>
                  <a:srgbClr val="FFFFFF"/>
                </a:solidFill>
                <a:latin typeface="Malgun Gothic"/>
                <a:ea typeface="Malgun Gothic"/>
              </a:rPr>
              <a:t/>
            </a:r>
          </a:p>
          <a:p>
            <a:pPr algn="ctr"/>
            <a:r>
              <a:rPr lang="en-US" sz="1700" b="1">
                <a:solidFill>
                  <a:srgbClr val="FFFFFF"/>
                </a:solidFill>
                <a:latin typeface="Malgun Gothic"/>
                <a:ea typeface="Malgun Gothic"/>
              </a:rPr>
              <a:t>작은 제안으로 사회의</a:t>
            </a:r>
          </a:p>
          <a:p>
            <a:pPr algn="ctr"/>
            <a:r>
              <a:rPr lang="en-US" sz="1700" b="1">
                <a:solidFill>
                  <a:srgbClr val="FFFFFF"/>
                </a:solidFill>
                <a:latin typeface="Malgun Gothic"/>
                <a:ea typeface="Malgun Gothic"/>
              </a:rPr>
              <a:t>방향을 만드는 사람</a:t>
            </a:r>
          </a:p>
        </p:txBody>
      </p:sp>
    </p:spTree>
  </p:cSld>
</p:sld>
</file>

<file path=ppt/slides/slide7.xml><?xml version="1.0" encoding="utf-8"?>
<p:sld xmlns:a="http://schemas.openxmlformats.org/drawingml/2006/main" xmlns:p="http://schemas.openxmlformats.org/presentationml/2006/main">
  <p:cSld>
    <p:bg>
      <p:bgPr>
        <a:solidFill xmlns:a="http://schemas.openxmlformats.org/drawingml/2006/main">
          <a:srgbClr val="FFFFFF"/>
        </a:solidFill>
      </p:bgPr>
    </p:bg>
    <p:spTree>
      <p:nvGrpSpPr>
        <p:cNvPr id="1" name=""/>
        <p:cNvGrpSpPr/>
        <p:nvPr/>
      </p:nvGrpSpPr>
      <p:grpSpPr/>
      <p:sp>
        <p:nvSpPr>
          <p:cNvPr id="100062" name="Marker"/>
          <p:cNvSpPr/>
          <p:nvPr/>
        </p:nvSpPr>
        <p:spPr>
          <a:xfrm xmlns:a="http://schemas.openxmlformats.org/drawingml/2006/main">
            <a:off x="540000" y="468000"/>
            <a:ext cx="180000" cy="180000"/>
          </a:xfrm>
          <a:prstGeom xmlns:a="http://schemas.openxmlformats.org/drawingml/2006/main" prst="rect">
            <a:avLst/>
          </a:prstGeom>
          <a:solidFill xmlns:a="http://schemas.openxmlformats.org/drawingml/2006/main">
            <a:srgbClr val="2563EB"/>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63" name="Title"/>
          <p:cNvSpPr txBox="1"/>
          <p:nvPr/>
        </p:nvSpPr>
        <p:spPr>
          <a:xfrm xmlns:a="http://schemas.openxmlformats.org/drawingml/2006/main">
            <a:off x="828000" y="288000"/>
            <a:ext cx="10440000" cy="72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3600" b="1">
                <a:solidFill>
                  <a:srgbClr val="000000"/>
                </a:solidFill>
                <a:latin typeface="Malgun Gothic"/>
                <a:ea typeface="Malgun Gothic"/>
              </a:rPr>
              <a:t>검사에서 끝나지 않는다</a:t>
            </a:r>
          </a:p>
        </p:txBody>
      </p:sp>
      <p:sp>
        <p:nvSpPr>
          <p:cNvPr id="100064" name="R1Dot"/>
          <p:cNvSpPr/>
          <p:nvPr/>
        </p:nvSpPr>
        <p:spPr>
          <a:xfrm xmlns:a="http://schemas.openxmlformats.org/drawingml/2006/main">
            <a:off x="684000" y="1764000"/>
            <a:ext cx="144000" cy="144000"/>
          </a:xfrm>
          <a:prstGeom xmlns:a="http://schemas.openxmlformats.org/drawingml/2006/main" prst="ellipse">
            <a:avLst/>
          </a:prstGeom>
          <a:solidFill xmlns:a="http://schemas.openxmlformats.org/drawingml/2006/main">
            <a:srgbClr val="2563EB"/>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65" name="R1"/>
          <p:cNvSpPr txBox="1"/>
          <p:nvPr/>
        </p:nvSpPr>
        <p:spPr>
          <a:xfrm xmlns:a="http://schemas.openxmlformats.org/drawingml/2006/main">
            <a:off x="1044000" y="1584000"/>
            <a:ext cx="4860000" cy="468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800" b="1">
                <a:solidFill>
                  <a:srgbClr val="000000"/>
                </a:solidFill>
                <a:latin typeface="Malgun Gothic"/>
                <a:ea typeface="Malgun Gothic"/>
              </a:rPr>
              <a:t>강점 3개 · 보완점 2개</a:t>
            </a:r>
          </a:p>
        </p:txBody>
      </p:sp>
      <p:sp>
        <p:nvSpPr>
          <p:cNvPr id="100066" name="R2Dot"/>
          <p:cNvSpPr/>
          <p:nvPr/>
        </p:nvSpPr>
        <p:spPr>
          <a:xfrm xmlns:a="http://schemas.openxmlformats.org/drawingml/2006/main">
            <a:off x="684000" y="2556000"/>
            <a:ext cx="144000" cy="144000"/>
          </a:xfrm>
          <a:prstGeom xmlns:a="http://schemas.openxmlformats.org/drawingml/2006/main" prst="ellipse">
            <a:avLst/>
          </a:prstGeom>
          <a:solidFill xmlns:a="http://schemas.openxmlformats.org/drawingml/2006/main">
            <a:srgbClr val="2563EB"/>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67" name="R2"/>
          <p:cNvSpPr txBox="1"/>
          <p:nvPr/>
        </p:nvSpPr>
        <p:spPr>
          <a:xfrm xmlns:a="http://schemas.openxmlformats.org/drawingml/2006/main">
            <a:off x="1044000" y="2376000"/>
            <a:ext cx="4860000" cy="468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800" b="1">
                <a:solidFill>
                  <a:srgbClr val="000000"/>
                </a:solidFill>
                <a:latin typeface="Malgun Gothic"/>
                <a:ea typeface="Malgun Gothic"/>
              </a:rPr>
              <a:t>팀에서의 나의 역할</a:t>
            </a:r>
          </a:p>
        </p:txBody>
      </p:sp>
      <p:sp>
        <p:nvSpPr>
          <p:cNvPr id="100068" name="R3Dot"/>
          <p:cNvSpPr/>
          <p:nvPr/>
        </p:nvSpPr>
        <p:spPr>
          <a:xfrm xmlns:a="http://schemas.openxmlformats.org/drawingml/2006/main">
            <a:off x="684000" y="3348000"/>
            <a:ext cx="144000" cy="144000"/>
          </a:xfrm>
          <a:prstGeom xmlns:a="http://schemas.openxmlformats.org/drawingml/2006/main" prst="ellipse">
            <a:avLst/>
          </a:prstGeom>
          <a:solidFill xmlns:a="http://schemas.openxmlformats.org/drawingml/2006/main">
            <a:srgbClr val="2563EB"/>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69" name="R3"/>
          <p:cNvSpPr txBox="1"/>
          <p:nvPr/>
        </p:nvSpPr>
        <p:spPr>
          <a:xfrm xmlns:a="http://schemas.openxmlformats.org/drawingml/2006/main">
            <a:off x="1044000" y="3168000"/>
            <a:ext cx="4860000" cy="468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800" b="1">
                <a:solidFill>
                  <a:srgbClr val="000000"/>
                </a:solidFill>
                <a:latin typeface="Malgun Gothic"/>
                <a:ea typeface="Malgun Gothic"/>
              </a:rPr>
              <a:t>준비 로드맵 4단계</a:t>
            </a:r>
          </a:p>
        </p:txBody>
      </p:sp>
      <p:sp>
        <p:nvSpPr>
          <p:cNvPr id="100070" name="R4Dot"/>
          <p:cNvSpPr/>
          <p:nvPr/>
        </p:nvSpPr>
        <p:spPr>
          <a:xfrm xmlns:a="http://schemas.openxmlformats.org/drawingml/2006/main">
            <a:off x="684000" y="4140000"/>
            <a:ext cx="144000" cy="144000"/>
          </a:xfrm>
          <a:prstGeom xmlns:a="http://schemas.openxmlformats.org/drawingml/2006/main" prst="ellipse">
            <a:avLst/>
          </a:prstGeom>
          <a:solidFill xmlns:a="http://schemas.openxmlformats.org/drawingml/2006/main">
            <a:srgbClr val="2563EB"/>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71" name="R4"/>
          <p:cNvSpPr txBox="1"/>
          <p:nvPr/>
        </p:nvSpPr>
        <p:spPr>
          <a:xfrm xmlns:a="http://schemas.openxmlformats.org/drawingml/2006/main">
            <a:off x="1044000" y="3960000"/>
            <a:ext cx="4860000" cy="468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800" b="1">
                <a:solidFill>
                  <a:srgbClr val="000000"/>
                </a:solidFill>
                <a:latin typeface="Malgun Gothic"/>
                <a:ea typeface="Malgun Gothic"/>
              </a:rPr>
              <a:t>잘 맞는 시너지 유형</a:t>
            </a:r>
          </a:p>
        </p:txBody>
      </p:sp>
      <p:sp>
        <p:nvSpPr>
          <p:cNvPr id="100072" name="R5Dot"/>
          <p:cNvSpPr/>
          <p:nvPr/>
        </p:nvSpPr>
        <p:spPr>
          <a:xfrm xmlns:a="http://schemas.openxmlformats.org/drawingml/2006/main">
            <a:off x="684000" y="4932000"/>
            <a:ext cx="144000" cy="144000"/>
          </a:xfrm>
          <a:prstGeom xmlns:a="http://schemas.openxmlformats.org/drawingml/2006/main" prst="ellipse">
            <a:avLst/>
          </a:prstGeom>
          <a:solidFill xmlns:a="http://schemas.openxmlformats.org/drawingml/2006/main">
            <a:srgbClr val="2563EB"/>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73" name="R5"/>
          <p:cNvSpPr txBox="1"/>
          <p:nvPr/>
        </p:nvSpPr>
        <p:spPr>
          <a:xfrm xmlns:a="http://schemas.openxmlformats.org/drawingml/2006/main">
            <a:off x="1044000" y="4752000"/>
            <a:ext cx="4860000" cy="468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800" b="1">
                <a:solidFill>
                  <a:srgbClr val="000000"/>
                </a:solidFill>
                <a:latin typeface="Malgun Gothic"/>
                <a:ea typeface="Malgun Gothic"/>
              </a:rPr>
              <a:t>맞춤 아이디어 힌트 3개</a:t>
            </a:r>
          </a:p>
        </p:txBody>
      </p:sp>
      <p:sp>
        <p:nvSpPr>
          <p:cNvPr id="100074" name="NextCard"/>
          <p:cNvSpPr/>
          <p:nvPr/>
        </p:nvSpPr>
        <p:spPr>
          <a:xfrm xmlns:a="http://schemas.openxmlformats.org/drawingml/2006/main">
            <a:off x="6552000" y="1584000"/>
            <a:ext cx="5112000" cy="3672000"/>
          </a:xfrm>
          <a:prstGeom xmlns:a="http://schemas.openxmlformats.org/drawingml/2006/main" prst="roundRect">
            <a:avLst/>
          </a:prstGeom>
          <a:solidFill xmlns:a="http://schemas.openxmlformats.org/drawingml/2006/main">
            <a:srgbClr val="EFF6FF"/>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75" name="NextTitle"/>
          <p:cNvSpPr txBox="1"/>
          <p:nvPr/>
        </p:nvSpPr>
        <p:spPr>
          <a:xfrm xmlns:a="http://schemas.openxmlformats.org/drawingml/2006/main">
            <a:off x="6912000" y="1944000"/>
            <a:ext cx="4392000" cy="504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2000" b="1">
                <a:solidFill>
                  <a:srgbClr val="2563EB"/>
                </a:solidFill>
                <a:latin typeface="Malgun Gothic"/>
                <a:ea typeface="Malgun Gothic"/>
              </a:rPr>
              <a:t>결과가 곧 시작점</a:t>
            </a:r>
          </a:p>
        </p:txBody>
      </p:sp>
      <p:sp>
        <p:nvSpPr>
          <p:cNvPr id="100076" name="NextBody"/>
          <p:cNvSpPr txBox="1"/>
          <p:nvPr/>
        </p:nvSpPr>
        <p:spPr>
          <a:xfrm xmlns:a="http://schemas.openxmlformats.org/drawingml/2006/main">
            <a:off x="6912000" y="2664000"/>
            <a:ext cx="4392000" cy="223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600">
                <a:solidFill>
                  <a:srgbClr val="1F2937"/>
                </a:solidFill>
                <a:latin typeface="Malgun Gothic"/>
                <a:ea typeface="Malgun Gothic"/>
              </a:rPr>
              <a:t>유형에 맞는 예시 아이디어 3개가</a:t>
            </a:r>
          </a:p>
          <a:p xmlns:a="http://schemas.openxmlformats.org/drawingml/2006/main">
            <a:r>
              <a:rPr lang="en-US" sz="1600">
                <a:solidFill>
                  <a:srgbClr val="1F2937"/>
                </a:solidFill>
                <a:latin typeface="Malgun Gothic"/>
                <a:ea typeface="Malgun Gothic"/>
              </a:rPr>
              <a:t>아이디어 입력 화면으로 그대로 전달되고,</a:t>
            </a:r>
          </a:p>
          <a:p xmlns:a="http://schemas.openxmlformats.org/drawingml/2006/main">
            <a:r>
              <a:rPr lang="en-US" sz="1600">
                <a:solidFill>
                  <a:srgbClr val="1F2937"/>
                </a:solidFill>
                <a:latin typeface="Malgun Gothic"/>
                <a:ea typeface="Malgun Gothic"/>
              </a:rPr>
              <a:t>관심 분야는 자동으로 채워집니다.</a:t>
            </a:r>
          </a:p>
          <a:p xmlns:a="http://schemas.openxmlformats.org/drawingml/2006/main">
            <a:r>
              <a:rPr lang="en-US" sz="1600">
                <a:solidFill>
                  <a:srgbClr val="1F2937"/>
                </a:solidFill>
                <a:latin typeface="Malgun Gothic"/>
                <a:ea typeface="Malgun Gothic"/>
              </a:rPr>
              <a:t/>
            </a:r>
          </a:p>
          <a:p xmlns:a="http://schemas.openxmlformats.org/drawingml/2006/main">
            <a:r>
              <a:rPr lang="en-US" sz="1600">
                <a:solidFill>
                  <a:srgbClr val="1F2937"/>
                </a:solidFill>
                <a:latin typeface="Malgun Gothic"/>
                <a:ea typeface="Malgun Gothic"/>
              </a:rPr>
              <a:t>검사 → 입력 → 분석이 끊기지 않고</a:t>
            </a:r>
          </a:p>
          <a:p xmlns:a="http://schemas.openxmlformats.org/drawingml/2006/main">
            <a:r>
              <a:rPr lang="en-US" sz="1600">
                <a:solidFill>
                  <a:srgbClr val="1F2937"/>
                </a:solidFill>
                <a:latin typeface="Malgun Gothic"/>
                <a:ea typeface="Malgun Gothic"/>
              </a:rPr>
              <a:t>이어지는 구조입니다.</a:t>
            </a:r>
          </a:p>
        </p:txBody>
      </p:sp>
      <p:sp>
        <p:nvSpPr>
          <p:cNvPr id="100077" name="Bottom"/>
          <p:cNvSpPr txBox="1"/>
          <p:nvPr/>
        </p:nvSpPr>
        <p:spPr>
          <a:xfrm xmlns:a="http://schemas.openxmlformats.org/drawingml/2006/main">
            <a:off x="540000" y="5832000"/>
            <a:ext cx="11113200" cy="576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2000" b="1">
                <a:solidFill>
                  <a:srgbClr val="000000"/>
                </a:solidFill>
                <a:latin typeface="Malgun Gothic"/>
                <a:ea typeface="Malgun Gothic"/>
              </a:rPr>
              <a:t>성향 진단이 출품 준비의 첫 단계가 됩니다.</a:t>
            </a:r>
          </a:p>
        </p:txBody>
      </p:sp>
    </p:spTree>
  </p:cSld>
</p:sld>
</file>

<file path=ppt/slides/slide8.xml><?xml version="1.0" encoding="utf-8"?>
<p:sld xmlns:a="http://schemas.openxmlformats.org/drawingml/2006/main" xmlns:p="http://schemas.openxmlformats.org/presentationml/2006/main">
  <p:cSld>
    <p:bg>
      <p:bgPr>
        <a:solidFill xmlns:a="http://schemas.openxmlformats.org/drawingml/2006/main">
          <a:srgbClr val="FFFFFF"/>
        </a:solidFill>
      </p:bgPr>
    </p:bg>
    <p:spTree>
      <p:nvGrpSpPr>
        <p:cNvPr id="1" name=""/>
        <p:cNvGrpSpPr/>
        <p:nvPr/>
      </p:nvGrpSpPr>
      <p:grpSpPr/>
      <p:sp>
        <p:nvSpPr>
          <p:cNvPr id="100078" name="Marker"/>
          <p:cNvSpPr/>
          <p:nvPr/>
        </p:nvSpPr>
        <p:spPr>
          <a:xfrm xmlns:a="http://schemas.openxmlformats.org/drawingml/2006/main">
            <a:off x="540000" y="468000"/>
            <a:ext cx="180000" cy="180000"/>
          </a:xfrm>
          <a:prstGeom xmlns:a="http://schemas.openxmlformats.org/drawingml/2006/main" prst="rect">
            <a:avLst/>
          </a:prstGeom>
          <a:solidFill xmlns:a="http://schemas.openxmlformats.org/drawingml/2006/main">
            <a:srgbClr val="2563EB"/>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79" name="Title"/>
          <p:cNvSpPr txBox="1"/>
          <p:nvPr/>
        </p:nvSpPr>
        <p:spPr>
          <a:xfrm xmlns:a="http://schemas.openxmlformats.org/drawingml/2006/main">
            <a:off x="828000" y="288000"/>
            <a:ext cx="10440000" cy="72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3600" b="1">
                <a:solidFill>
                  <a:srgbClr val="000000"/>
                </a:solidFill>
                <a:latin typeface="Malgun Gothic"/>
                <a:ea typeface="Malgun Gothic"/>
              </a:rPr>
              <a:t>기존 공모전 사이트와의 차이</a:t>
            </a:r>
          </a:p>
        </p:txBody>
      </p:sp>
      <p:sp>
        <p:nvSpPr>
          <p:cNvPr id="100080" name="HeadL"/>
          <p:cNvSpPr txBox="1"/>
          <p:nvPr/>
        </p:nvSpPr>
        <p:spPr>
          <a:xfrm xmlns:a="http://schemas.openxmlformats.org/drawingml/2006/main">
            <a:off x="540000" y="1296000"/>
            <a:ext cx="5436000" cy="43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800" b="1">
                <a:solidFill>
                  <a:srgbClr val="6B7280"/>
                </a:solidFill>
                <a:latin typeface="Malgun Gothic"/>
                <a:ea typeface="Malgun Gothic"/>
              </a:rPr>
              <a:t>기존 공모전 사이트</a:t>
            </a:r>
          </a:p>
        </p:txBody>
      </p:sp>
      <p:sp>
        <p:nvSpPr>
          <p:cNvPr id="100081" name="HeadR"/>
          <p:cNvSpPr txBox="1"/>
          <p:nvPr/>
        </p:nvSpPr>
        <p:spPr>
          <a:xfrm xmlns:a="http://schemas.openxmlformats.org/drawingml/2006/main">
            <a:off x="6249600" y="1296000"/>
            <a:ext cx="5403600" cy="43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800" b="1">
                <a:solidFill>
                  <a:srgbClr val="2563EB"/>
                </a:solidFill>
                <a:latin typeface="Malgun Gothic"/>
                <a:ea typeface="Malgun Gothic"/>
              </a:rPr>
              <a:t>공모온</a:t>
            </a:r>
          </a:p>
        </p:txBody>
      </p:sp>
      <p:sp>
        <p:nvSpPr>
          <p:cNvPr id="100082" name="L1"/>
          <p:cNvSpPr/>
          <p:nvPr/>
        </p:nvSpPr>
        <p:spPr>
          <a:xfrm xmlns:a="http://schemas.openxmlformats.org/drawingml/2006/main">
            <a:off x="540000" y="1872000"/>
            <a:ext cx="5436000" cy="1224000"/>
          </a:xfrm>
          <a:prstGeom xmlns:a="http://schemas.openxmlformats.org/drawingml/2006/main" prst="roundRect">
            <a:avLst/>
          </a:prstGeom>
          <a:solidFill xmlns:a="http://schemas.openxmlformats.org/drawingml/2006/main">
            <a:srgbClr val="F5F6F8"/>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ctr"/>
            <a:r>
              <a:rPr lang="en-US" sz="1700">
                <a:solidFill>
                  <a:srgbClr val="4B5563"/>
                </a:solidFill>
                <a:latin typeface="Malgun Gothic"/>
                <a:ea typeface="Malgun Gothic"/>
              </a:rPr>
              <a:t>공모전 목록만 나열한다</a:t>
            </a:r>
          </a:p>
        </p:txBody>
      </p:sp>
      <p:sp>
        <p:nvSpPr>
          <p:cNvPr id="100083" name="R1"/>
          <p:cNvSpPr/>
          <p:nvPr/>
        </p:nvSpPr>
        <p:spPr>
          <a:xfrm xmlns:a="http://schemas.openxmlformats.org/drawingml/2006/main">
            <a:off x="6249600" y="1872000"/>
            <a:ext cx="5403600" cy="1224000"/>
          </a:xfrm>
          <a:prstGeom xmlns:a="http://schemas.openxmlformats.org/drawingml/2006/main" prst="roundRect">
            <a:avLst/>
          </a:prstGeom>
          <a:solidFill xmlns:a="http://schemas.openxmlformats.org/drawingml/2006/main">
            <a:srgbClr val="2563EB"/>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ctr"/>
            <a:r>
              <a:rPr lang="en-US" sz="1700" b="1">
                <a:solidFill>
                  <a:srgbClr val="FFFFFF"/>
                </a:solidFill>
                <a:latin typeface="Malgun Gothic"/>
                <a:ea typeface="Malgun Gothic"/>
              </a:rPr>
              <a:t>유형 검사에서 시작해</a:t>
            </a:r>
          </a:p>
          <a:p xmlns:a="http://schemas.openxmlformats.org/drawingml/2006/main">
            <a:pPr algn="ctr"/>
            <a:r>
              <a:rPr lang="en-US" sz="1700" b="1">
                <a:solidFill>
                  <a:srgbClr val="FFFFFF"/>
                </a:solidFill>
                <a:latin typeface="Malgun Gothic"/>
                <a:ea typeface="Malgun Gothic"/>
              </a:rPr>
              <a:t>준비 전 과정을 함께한다</a:t>
            </a:r>
          </a:p>
        </p:txBody>
      </p:sp>
      <p:sp>
        <p:nvSpPr>
          <p:cNvPr id="100084" name="L2"/>
          <p:cNvSpPr/>
          <p:nvPr/>
        </p:nvSpPr>
        <p:spPr>
          <a:xfrm xmlns:a="http://schemas.openxmlformats.org/drawingml/2006/main">
            <a:off x="540000" y="3312000"/>
            <a:ext cx="5436000" cy="1224000"/>
          </a:xfrm>
          <a:prstGeom xmlns:a="http://schemas.openxmlformats.org/drawingml/2006/main" prst="roundRect">
            <a:avLst/>
          </a:prstGeom>
          <a:solidFill xmlns:a="http://schemas.openxmlformats.org/drawingml/2006/main">
            <a:srgbClr val="F5F6F8"/>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ctr"/>
            <a:r>
              <a:rPr lang="en-US" sz="1700">
                <a:solidFill>
                  <a:srgbClr val="4B5563"/>
                </a:solidFill>
                <a:latin typeface="Malgun Gothic"/>
                <a:ea typeface="Malgun Gothic"/>
              </a:rPr>
              <a:t>키워드 검색에 의존한다</a:t>
            </a:r>
          </a:p>
        </p:txBody>
      </p:sp>
      <p:sp>
        <p:nvSpPr>
          <p:cNvPr id="100085" name="R2"/>
          <p:cNvSpPr/>
          <p:nvPr/>
        </p:nvSpPr>
        <p:spPr>
          <a:xfrm xmlns:a="http://schemas.openxmlformats.org/drawingml/2006/main">
            <a:off x="6249600" y="3312000"/>
            <a:ext cx="5403600" cy="1224000"/>
          </a:xfrm>
          <a:prstGeom xmlns:a="http://schemas.openxmlformats.org/drawingml/2006/main" prst="roundRect">
            <a:avLst/>
          </a:prstGeom>
          <a:solidFill xmlns:a="http://schemas.openxmlformats.org/drawingml/2006/main">
            <a:srgbClr val="EFF6FF"/>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ctr"/>
            <a:r>
              <a:rPr lang="en-US" sz="1700" b="1">
                <a:solidFill>
                  <a:srgbClr val="000000"/>
                </a:solidFill>
                <a:latin typeface="Malgun Gothic"/>
                <a:ea typeface="Malgun Gothic"/>
              </a:rPr>
              <a:t>아이디어 내용 기반</a:t>
            </a:r>
          </a:p>
          <a:p xmlns:a="http://schemas.openxmlformats.org/drawingml/2006/main">
            <a:pPr algn="ctr"/>
            <a:r>
              <a:rPr lang="en-US" sz="1700" b="1">
                <a:solidFill>
                  <a:srgbClr val="000000"/>
                </a:solidFill>
                <a:latin typeface="Malgun Gothic"/>
                <a:ea typeface="Malgun Gothic"/>
              </a:rPr>
              <a:t>적합도(%)와 추천 이유 제시</a:t>
            </a:r>
          </a:p>
        </p:txBody>
      </p:sp>
      <p:sp>
        <p:nvSpPr>
          <p:cNvPr id="100086" name="L3"/>
          <p:cNvSpPr/>
          <p:nvPr/>
        </p:nvSpPr>
        <p:spPr>
          <a:xfrm xmlns:a="http://schemas.openxmlformats.org/drawingml/2006/main">
            <a:off x="540000" y="4752000"/>
            <a:ext cx="5436000" cy="1224000"/>
          </a:xfrm>
          <a:prstGeom xmlns:a="http://schemas.openxmlformats.org/drawingml/2006/main" prst="roundRect">
            <a:avLst/>
          </a:prstGeom>
          <a:solidFill xmlns:a="http://schemas.openxmlformats.org/drawingml/2006/main">
            <a:srgbClr val="F5F6F8"/>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ctr"/>
            <a:r>
              <a:rPr lang="en-US" sz="1700">
                <a:solidFill>
                  <a:srgbClr val="4B5563"/>
                </a:solidFill>
                <a:latin typeface="Malgun Gothic"/>
                <a:ea typeface="Malgun Gothic"/>
              </a:rPr>
              <a:t>준비는 각자의 몫으로 남는다</a:t>
            </a:r>
          </a:p>
        </p:txBody>
      </p:sp>
      <p:sp>
        <p:nvSpPr>
          <p:cNvPr id="100087" name="R3"/>
          <p:cNvSpPr/>
          <p:nvPr/>
        </p:nvSpPr>
        <p:spPr>
          <a:xfrm xmlns:a="http://schemas.openxmlformats.org/drawingml/2006/main">
            <a:off x="6249600" y="4752000"/>
            <a:ext cx="5403600" cy="1224000"/>
          </a:xfrm>
          <a:prstGeom xmlns:a="http://schemas.openxmlformats.org/drawingml/2006/main" prst="roundRect">
            <a:avLst/>
          </a:prstGeom>
          <a:solidFill xmlns:a="http://schemas.openxmlformats.org/drawingml/2006/main">
            <a:srgbClr val="EFF6FF"/>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ctr"/>
            <a:r>
              <a:rPr lang="en-US" sz="1700" b="1">
                <a:solidFill>
                  <a:srgbClr val="000000"/>
                </a:solidFill>
                <a:latin typeface="Malgun Gothic"/>
                <a:ea typeface="Malgun Gothic"/>
              </a:rPr>
              <a:t>제안서 초안·예상 질문 연습</a:t>
            </a:r>
          </a:p>
          <a:p xmlns:a="http://schemas.openxmlformats.org/drawingml/2006/main">
            <a:pPr algn="ctr"/>
            <a:r>
              <a:rPr lang="en-US" sz="1700" b="1">
                <a:solidFill>
                  <a:srgbClr val="000000"/>
                </a:solidFill>
                <a:latin typeface="Malgun Gothic"/>
                <a:ea typeface="Malgun Gothic"/>
              </a:rPr>
              <a:t>노트까지 제공</a:t>
            </a:r>
          </a:p>
        </p:txBody>
      </p:sp>
    </p:spTree>
  </p:cSld>
</p:sld>
</file>

<file path=ppt/slides/slide9.xml><?xml version="1.0" encoding="utf-8"?>
<p:sld xmlns:a="http://schemas.openxmlformats.org/drawingml/2006/main" xmlns:p="http://schemas.openxmlformats.org/presentationml/2006/main">
  <p:cSld>
    <p:bg>
      <p:bgPr>
        <a:solidFill xmlns:a="http://schemas.openxmlformats.org/drawingml/2006/main">
          <a:srgbClr val="FFFFFF"/>
        </a:solidFill>
      </p:bgPr>
    </p:bg>
    <p:spTree>
      <p:nvGrpSpPr>
        <p:cNvPr id="1" name=""/>
        <p:cNvGrpSpPr/>
        <p:nvPr/>
      </p:nvGrpSpPr>
      <p:grpSpPr/>
      <p:sp>
        <p:nvSpPr>
          <p:cNvPr id="100088" name="Marker"/>
          <p:cNvSpPr/>
          <p:nvPr/>
        </p:nvSpPr>
        <p:spPr>
          <a:xfrm xmlns:a="http://schemas.openxmlformats.org/drawingml/2006/main">
            <a:off x="540000" y="468000"/>
            <a:ext cx="180000" cy="180000"/>
          </a:xfrm>
          <a:prstGeom xmlns:a="http://schemas.openxmlformats.org/drawingml/2006/main" prst="rect">
            <a:avLst/>
          </a:prstGeom>
          <a:solidFill xmlns:a="http://schemas.openxmlformats.org/drawingml/2006/main">
            <a:srgbClr val="2563EB"/>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89" name="Title"/>
          <p:cNvSpPr txBox="1"/>
          <p:nvPr/>
        </p:nvSpPr>
        <p:spPr>
          <a:xfrm xmlns:a="http://schemas.openxmlformats.org/drawingml/2006/main">
            <a:off x="828000" y="288000"/>
            <a:ext cx="10440000" cy="72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3600" b="1">
                <a:solidFill>
                  <a:srgbClr val="000000"/>
                </a:solidFill>
                <a:latin typeface="Malgun Gothic"/>
                <a:ea typeface="Malgun Gothic"/>
              </a:rPr>
              <a:t>검사 이후의 준비도 함께</a:t>
            </a:r>
          </a:p>
        </p:txBody>
      </p:sp>
      <p:sp>
        <p:nvSpPr>
          <p:cNvPr id="100090" name="F1"/>
          <p:cNvSpPr/>
          <p:nvPr/>
        </p:nvSpPr>
        <p:spPr>
          <a:xfrm xmlns:a="http://schemas.openxmlformats.org/drawingml/2006/main">
            <a:off x="540000" y="1368000"/>
            <a:ext cx="5421600" cy="2304000"/>
          </a:xfrm>
          <a:prstGeom xmlns:a="http://schemas.openxmlformats.org/drawingml/2006/main" prst="roundRect">
            <a:avLst/>
          </a:prstGeom>
          <a:solidFill xmlns:a="http://schemas.openxmlformats.org/drawingml/2006/main">
            <a:srgbClr val="F5F6F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91" name="F1T"/>
          <p:cNvSpPr txBox="1"/>
          <p:nvPr/>
        </p:nvSpPr>
        <p:spPr>
          <a:xfrm xmlns:a="http://schemas.openxmlformats.org/drawingml/2006/main">
            <a:off x="828000" y="1656000"/>
            <a:ext cx="4860000" cy="468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900" b="1">
                <a:solidFill>
                  <a:srgbClr val="000000"/>
                </a:solidFill>
                <a:latin typeface="Malgun Gothic"/>
                <a:ea typeface="Malgun Gothic"/>
              </a:rPr>
              <a:t>AI 아이디어 분석</a:t>
            </a:r>
          </a:p>
        </p:txBody>
      </p:sp>
      <p:sp>
        <p:nvSpPr>
          <p:cNvPr id="100092" name="F1B"/>
          <p:cNvSpPr txBox="1"/>
          <p:nvPr/>
        </p:nvSpPr>
        <p:spPr>
          <a:xfrm xmlns:a="http://schemas.openxmlformats.org/drawingml/2006/main">
            <a:off x="828000" y="2232000"/>
            <a:ext cx="4860000" cy="1224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450">
                <a:solidFill>
                  <a:srgbClr val="4B5563"/>
                </a:solidFill>
                <a:latin typeface="Malgun Gothic"/>
                <a:ea typeface="Malgun Gothic"/>
              </a:rPr>
              <a:t>강점·보완점·심사 포인트를 분석하고,</a:t>
            </a:r>
          </a:p>
          <a:p xmlns:a="http://schemas.openxmlformats.org/drawingml/2006/main">
            <a:r>
              <a:rPr lang="en-US" sz="1450">
                <a:solidFill>
                  <a:srgbClr val="4B5563"/>
                </a:solidFill>
                <a:latin typeface="Malgun Gothic"/>
                <a:ea typeface="Malgun Gothic"/>
              </a:rPr>
              <a:t>어울리는 공모전을 적합도(%)와</a:t>
            </a:r>
          </a:p>
          <a:p xmlns:a="http://schemas.openxmlformats.org/drawingml/2006/main">
            <a:r>
              <a:rPr lang="en-US" sz="1450">
                <a:solidFill>
                  <a:srgbClr val="4B5563"/>
                </a:solidFill>
                <a:latin typeface="Malgun Gothic"/>
                <a:ea typeface="Malgun Gothic"/>
              </a:rPr>
              <a:t>추천 이유로 제안합니다.</a:t>
            </a:r>
          </a:p>
        </p:txBody>
      </p:sp>
      <p:sp>
        <p:nvSpPr>
          <p:cNvPr id="100093" name="F2"/>
          <p:cNvSpPr/>
          <p:nvPr/>
        </p:nvSpPr>
        <p:spPr>
          <a:xfrm xmlns:a="http://schemas.openxmlformats.org/drawingml/2006/main">
            <a:off x="6249600" y="1368000"/>
            <a:ext cx="5421600" cy="2304000"/>
          </a:xfrm>
          <a:prstGeom xmlns:a="http://schemas.openxmlformats.org/drawingml/2006/main" prst="roundRect">
            <a:avLst/>
          </a:prstGeom>
          <a:solidFill xmlns:a="http://schemas.openxmlformats.org/drawingml/2006/main">
            <a:srgbClr val="F5F6F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94" name="F2T"/>
          <p:cNvSpPr txBox="1"/>
          <p:nvPr/>
        </p:nvSpPr>
        <p:spPr>
          <a:xfrm xmlns:a="http://schemas.openxmlformats.org/drawingml/2006/main">
            <a:off x="6537600" y="1656000"/>
            <a:ext cx="4860000" cy="468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900" b="1">
                <a:solidFill>
                  <a:srgbClr val="000000"/>
                </a:solidFill>
                <a:latin typeface="Malgun Gothic"/>
                <a:ea typeface="Malgun Gothic"/>
              </a:rPr>
              <a:t>제안서 초안 만들기</a:t>
            </a:r>
          </a:p>
        </p:txBody>
      </p:sp>
      <p:sp>
        <p:nvSpPr>
          <p:cNvPr id="100095" name="F2B"/>
          <p:cNvSpPr txBox="1"/>
          <p:nvPr/>
        </p:nvSpPr>
        <p:spPr>
          <a:xfrm xmlns:a="http://schemas.openxmlformats.org/drawingml/2006/main">
            <a:off x="6537600" y="2232000"/>
            <a:ext cx="4860000" cy="1224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450">
                <a:solidFill>
                  <a:srgbClr val="4B5563"/>
                </a:solidFill>
                <a:latin typeface="Malgun Gothic"/>
                <a:ea typeface="Malgun Gothic"/>
              </a:rPr>
              <a:t>분석 결과를 문제 정의부터 심사 대응까지</a:t>
            </a:r>
          </a:p>
          <a:p xmlns:a="http://schemas.openxmlformats.org/drawingml/2006/main">
            <a:r>
              <a:rPr lang="en-US" sz="1450">
                <a:solidFill>
                  <a:srgbClr val="4B5563"/>
                </a:solidFill>
                <a:latin typeface="Malgun Gothic"/>
                <a:ea typeface="Malgun Gothic"/>
              </a:rPr>
              <a:t>6개 섹션 기획서로 변환하고,</a:t>
            </a:r>
          </a:p>
          <a:p xmlns:a="http://schemas.openxmlformats.org/drawingml/2006/main">
            <a:r>
              <a:rPr lang="en-US" sz="1450">
                <a:solidFill>
                  <a:srgbClr val="4B5563"/>
                </a:solidFill>
                <a:latin typeface="Malgun Gothic"/>
                <a:ea typeface="Malgun Gothic"/>
              </a:rPr>
              <a:t>복사·TXT 내려받기를 제공합니다.</a:t>
            </a:r>
          </a:p>
        </p:txBody>
      </p:sp>
      <p:sp>
        <p:nvSpPr>
          <p:cNvPr id="100096" name="F3"/>
          <p:cNvSpPr/>
          <p:nvPr/>
        </p:nvSpPr>
        <p:spPr>
          <a:xfrm xmlns:a="http://schemas.openxmlformats.org/drawingml/2006/main">
            <a:off x="540000" y="3888000"/>
            <a:ext cx="5421600" cy="2304000"/>
          </a:xfrm>
          <a:prstGeom xmlns:a="http://schemas.openxmlformats.org/drawingml/2006/main" prst="roundRect">
            <a:avLst/>
          </a:prstGeom>
          <a:solidFill xmlns:a="http://schemas.openxmlformats.org/drawingml/2006/main">
            <a:srgbClr val="F5F6F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97" name="F3T"/>
          <p:cNvSpPr txBox="1"/>
          <p:nvPr/>
        </p:nvSpPr>
        <p:spPr>
          <a:xfrm xmlns:a="http://schemas.openxmlformats.org/drawingml/2006/main">
            <a:off x="828000" y="4176000"/>
            <a:ext cx="4860000" cy="468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900" b="1">
                <a:solidFill>
                  <a:srgbClr val="000000"/>
                </a:solidFill>
                <a:latin typeface="Malgun Gothic"/>
                <a:ea typeface="Malgun Gothic"/>
              </a:rPr>
              <a:t>연습 노트</a:t>
            </a:r>
          </a:p>
        </p:txBody>
      </p:sp>
      <p:sp>
        <p:nvSpPr>
          <p:cNvPr id="100098" name="F3B"/>
          <p:cNvSpPr txBox="1"/>
          <p:nvPr/>
        </p:nvSpPr>
        <p:spPr>
          <a:xfrm xmlns:a="http://schemas.openxmlformats.org/drawingml/2006/main">
            <a:off x="828000" y="4752000"/>
            <a:ext cx="4860000" cy="1224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450">
                <a:solidFill>
                  <a:srgbClr val="4B5563"/>
                </a:solidFill>
                <a:latin typeface="Malgun Gothic"/>
                <a:ea typeface="Malgun Gothic"/>
              </a:rPr>
              <a:t>기획 의도·차별점과 예상 심사 질문·답변을</a:t>
            </a:r>
          </a:p>
          <a:p xmlns:a="http://schemas.openxmlformats.org/drawingml/2006/main">
            <a:r>
              <a:rPr lang="en-US" sz="1450">
                <a:solidFill>
                  <a:srgbClr val="4B5563"/>
                </a:solidFill>
                <a:latin typeface="Malgun Gothic"/>
                <a:ea typeface="Malgun Gothic"/>
              </a:rPr>
              <a:t>정리하는 출품 전 리허설 노트입니다.</a:t>
            </a:r>
          </a:p>
        </p:txBody>
      </p:sp>
      <p:sp>
        <p:nvSpPr>
          <p:cNvPr id="100099" name="F4"/>
          <p:cNvSpPr/>
          <p:nvPr/>
        </p:nvSpPr>
        <p:spPr>
          <a:xfrm xmlns:a="http://schemas.openxmlformats.org/drawingml/2006/main">
            <a:off x="6249600" y="3888000"/>
            <a:ext cx="5421600" cy="2304000"/>
          </a:xfrm>
          <a:prstGeom xmlns:a="http://schemas.openxmlformats.org/drawingml/2006/main" prst="roundRect">
            <a:avLst/>
          </a:prstGeom>
          <a:solidFill xmlns:a="http://schemas.openxmlformats.org/drawingml/2006/main">
            <a:srgbClr val="F5F6F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00" name="F4T"/>
          <p:cNvSpPr txBox="1"/>
          <p:nvPr/>
        </p:nvSpPr>
        <p:spPr>
          <a:xfrm xmlns:a="http://schemas.openxmlformats.org/drawingml/2006/main">
            <a:off x="6537600" y="4176000"/>
            <a:ext cx="4860000" cy="468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900" b="1">
                <a:solidFill>
                  <a:srgbClr val="000000"/>
                </a:solidFill>
                <a:latin typeface="Malgun Gothic"/>
                <a:ea typeface="Malgun Gothic"/>
              </a:rPr>
              <a:t>대시보드·알림</a:t>
            </a:r>
          </a:p>
        </p:txBody>
      </p:sp>
      <p:sp>
        <p:nvSpPr>
          <p:cNvPr id="100101" name="F4B"/>
          <p:cNvSpPr txBox="1"/>
          <p:nvPr/>
        </p:nvSpPr>
        <p:spPr>
          <a:xfrm xmlns:a="http://schemas.openxmlformats.org/drawingml/2006/main">
            <a:off x="6537600" y="4752000"/>
            <a:ext cx="4860000" cy="1224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450">
                <a:solidFill>
                  <a:srgbClr val="4B5563"/>
                </a:solidFill>
                <a:latin typeface="Malgun Gothic"/>
                <a:ea typeface="Malgun Gothic"/>
              </a:rPr>
              <a:t>마감 임박 공모전·응모 현황·도전 히스토리와</a:t>
            </a:r>
          </a:p>
          <a:p xmlns:a="http://schemas.openxmlformats.org/drawingml/2006/main">
            <a:r>
              <a:rPr lang="en-US" sz="1450">
                <a:solidFill>
                  <a:srgbClr val="4B5563"/>
                </a:solidFill>
                <a:latin typeface="Malgun Gothic"/>
                <a:ea typeface="Malgun Gothic"/>
              </a:rPr>
              <a:t>마감 알림·주간 이메일로 기한을 지켜 줍니다.</a:t>
            </a:r>
          </a:p>
        </p:txBody>
      </p:sp>
    </p:spTree>
  </p:cSld>
</p:sld>
</file>

<file path=ppt/slides/slide10.xml><?xml version="1.0" encoding="utf-8"?>
<p:sld xmlns:a="http://schemas.openxmlformats.org/drawingml/2006/main" xmlns:p="http://schemas.openxmlformats.org/presentationml/2006/main">
  <p:cSld>
    <p:bg>
      <p:bgPr>
        <a:solidFill xmlns:a="http://schemas.openxmlformats.org/drawingml/2006/main">
          <a:srgbClr val="000000"/>
        </a:solidFill>
      </p:bgPr>
    </p:bg>
    <p:spTree>
      <p:nvGrpSpPr>
        <p:cNvPr id="1" name=""/>
        <p:cNvGrpSpPr/>
        <p:nvPr/>
      </p:nvGrpSpPr>
      <p:grpSpPr/>
      <p:sp>
        <p:nvSpPr>
          <p:cNvPr id="100102" name="Marker"/>
          <p:cNvSpPr/>
          <p:nvPr/>
        </p:nvSpPr>
        <p:spPr>
          <a:xfrm xmlns:a="http://schemas.openxmlformats.org/drawingml/2006/main">
            <a:off x="540000" y="468000"/>
            <a:ext cx="180000" cy="180000"/>
          </a:xfrm>
          <a:prstGeom xmlns:a="http://schemas.openxmlformats.org/drawingml/2006/main" prst="rect">
            <a:avLst/>
          </a:prstGeom>
          <a:solidFill xmlns:a="http://schemas.openxmlformats.org/drawingml/2006/main">
            <a:srgbClr val="2563EB"/>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03" name="Title"/>
          <p:cNvSpPr txBox="1"/>
          <p:nvPr/>
        </p:nvSpPr>
        <p:spPr>
          <a:xfrm xmlns:a="http://schemas.openxmlformats.org/drawingml/2006/main">
            <a:off x="828000" y="288000"/>
            <a:ext cx="10440000" cy="72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3600" b="1">
                <a:solidFill>
                  <a:srgbClr val="FFFFFF"/>
                </a:solidFill>
                <a:latin typeface="Malgun Gothic"/>
                <a:ea typeface="Malgun Gothic"/>
              </a:rPr>
              <a:t>직접 보시죠</a:t>
            </a:r>
          </a:p>
        </p:txBody>
      </p:sp>
      <p:sp>
        <p:nvSpPr>
          <p:cNvPr id="100104" name="N1"/>
          <p:cNvSpPr/>
          <p:nvPr/>
        </p:nvSpPr>
        <p:spPr>
          <a:xfrm xmlns:a="http://schemas.openxmlformats.org/drawingml/2006/main">
            <a:off x="792000" y="1800000"/>
            <a:ext cx="576000" cy="576000"/>
          </a:xfrm>
          <a:prstGeom xmlns:a="http://schemas.openxmlformats.org/drawingml/2006/main" prst="ellipse">
            <a:avLst/>
          </a:prstGeom>
          <a:solidFill xmlns:a="http://schemas.openxmlformats.org/drawingml/2006/main">
            <a:srgbClr val="2563EB"/>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ctr"/>
            <a:r>
              <a:rPr lang="en-US" sz="1800" b="1">
                <a:solidFill>
                  <a:srgbClr val="FFFFFF"/>
                </a:solidFill>
                <a:latin typeface="Malgun Gothic"/>
                <a:ea typeface="Malgun Gothic"/>
              </a:rPr>
              <a:t>1</a:t>
            </a:r>
          </a:p>
        </p:txBody>
      </p:sp>
      <p:sp>
        <p:nvSpPr>
          <p:cNvPr id="100105" name="H1"/>
          <p:cNvSpPr txBox="1"/>
          <p:nvPr/>
        </p:nvSpPr>
        <p:spPr>
          <a:xfrm xmlns:a="http://schemas.openxmlformats.org/drawingml/2006/main">
            <a:off x="1656000" y="1764000"/>
            <a:ext cx="9360000" cy="504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2200" b="1">
                <a:solidFill>
                  <a:srgbClr val="FFFFFF"/>
                </a:solidFill>
                <a:latin typeface="Malgun Gothic"/>
                <a:ea typeface="Malgun Gothic"/>
              </a:rPr>
              <a:t>유형 검사 — 몇 문항 풀고 결과까지</a:t>
            </a:r>
          </a:p>
        </p:txBody>
      </p:sp>
      <p:sp>
        <p:nvSpPr>
          <p:cNvPr id="100106" name="D1"/>
          <p:cNvSpPr txBox="1"/>
          <p:nvPr/>
        </p:nvSpPr>
        <p:spPr>
          <a:xfrm xmlns:a="http://schemas.openxmlformats.org/drawingml/2006/main">
            <a:off x="1656000" y="2304000"/>
            <a:ext cx="9360000" cy="36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500">
                <a:solidFill>
                  <a:srgbClr val="D1D5DB"/>
                </a:solidFill>
                <a:latin typeface="Malgun Gothic"/>
                <a:ea typeface="Malgun Gothic"/>
              </a:rPr>
              <a:t>일치율과 강점·보완점 리포트, 아이디어 힌트로 이어지는 흐름을 보여 줍니다</a:t>
            </a:r>
          </a:p>
        </p:txBody>
      </p:sp>
      <p:sp>
        <p:nvSpPr>
          <p:cNvPr id="100107" name="N2"/>
          <p:cNvSpPr/>
          <p:nvPr/>
        </p:nvSpPr>
        <p:spPr>
          <a:xfrm xmlns:a="http://schemas.openxmlformats.org/drawingml/2006/main">
            <a:off x="792000" y="3240000"/>
            <a:ext cx="576000" cy="576000"/>
          </a:xfrm>
          <a:prstGeom xmlns:a="http://schemas.openxmlformats.org/drawingml/2006/main" prst="ellipse">
            <a:avLst/>
          </a:prstGeom>
          <a:solidFill xmlns:a="http://schemas.openxmlformats.org/drawingml/2006/main">
            <a:srgbClr val="2563EB"/>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ctr"/>
            <a:r>
              <a:rPr lang="en-US" sz="1800" b="1">
                <a:solidFill>
                  <a:srgbClr val="FFFFFF"/>
                </a:solidFill>
                <a:latin typeface="Malgun Gothic"/>
                <a:ea typeface="Malgun Gothic"/>
              </a:rPr>
              <a:t>2</a:t>
            </a:r>
          </a:p>
        </p:txBody>
      </p:sp>
      <p:sp>
        <p:nvSpPr>
          <p:cNvPr id="100108" name="H2"/>
          <p:cNvSpPr txBox="1"/>
          <p:nvPr/>
        </p:nvSpPr>
        <p:spPr>
          <a:xfrm xmlns:a="http://schemas.openxmlformats.org/drawingml/2006/main">
            <a:off x="1656000" y="3204000"/>
            <a:ext cx="9360000" cy="504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2200" b="1">
                <a:solidFill>
                  <a:srgbClr val="FFFFFF"/>
                </a:solidFill>
                <a:latin typeface="Malgun Gothic"/>
                <a:ea typeface="Malgun Gothic"/>
              </a:rPr>
              <a:t>아이디어 입력 → AI 분석</a:t>
            </a:r>
          </a:p>
        </p:txBody>
      </p:sp>
      <p:sp>
        <p:nvSpPr>
          <p:cNvPr id="100109" name="D2"/>
          <p:cNvSpPr txBox="1"/>
          <p:nvPr/>
        </p:nvSpPr>
        <p:spPr>
          <a:xfrm xmlns:a="http://schemas.openxmlformats.org/drawingml/2006/main">
            <a:off x="1656000" y="3744000"/>
            <a:ext cx="9360000" cy="36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500">
                <a:solidFill>
                  <a:srgbClr val="D1D5DB"/>
                </a:solidFill>
                <a:latin typeface="Malgun Gothic"/>
                <a:ea typeface="Malgun Gothic"/>
              </a:rPr>
              <a:t>한 줄 요약·강점·심사 포인트·확장 아이디어가 나오는 장면을 보여 줍니다</a:t>
            </a:r>
          </a:p>
        </p:txBody>
      </p:sp>
      <p:sp>
        <p:nvSpPr>
          <p:cNvPr id="100110" name="N3"/>
          <p:cNvSpPr/>
          <p:nvPr/>
        </p:nvSpPr>
        <p:spPr>
          <a:xfrm xmlns:a="http://schemas.openxmlformats.org/drawingml/2006/main">
            <a:off x="792000" y="4680000"/>
            <a:ext cx="576000" cy="576000"/>
          </a:xfrm>
          <a:prstGeom xmlns:a="http://schemas.openxmlformats.org/drawingml/2006/main" prst="ellipse">
            <a:avLst/>
          </a:prstGeom>
          <a:solidFill xmlns:a="http://schemas.openxmlformats.org/drawingml/2006/main">
            <a:srgbClr val="2563EB"/>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ctr"/>
            <a:r>
              <a:rPr lang="en-US" sz="1800" b="1">
                <a:solidFill>
                  <a:srgbClr val="FFFFFF"/>
                </a:solidFill>
                <a:latin typeface="Malgun Gothic"/>
                <a:ea typeface="Malgun Gothic"/>
              </a:rPr>
              <a:t>3</a:t>
            </a:r>
          </a:p>
        </p:txBody>
      </p:sp>
      <p:sp>
        <p:nvSpPr>
          <p:cNvPr id="100111" name="H3"/>
          <p:cNvSpPr txBox="1"/>
          <p:nvPr/>
        </p:nvSpPr>
        <p:spPr>
          <a:xfrm xmlns:a="http://schemas.openxmlformats.org/drawingml/2006/main">
            <a:off x="1656000" y="4644000"/>
            <a:ext cx="9360000" cy="504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2200" b="1">
                <a:solidFill>
                  <a:srgbClr val="FFFFFF"/>
                </a:solidFill>
                <a:latin typeface="Malgun Gothic"/>
                <a:ea typeface="Malgun Gothic"/>
              </a:rPr>
              <a:t>추천 공모전 · 제안서 초안</a:t>
            </a:r>
          </a:p>
        </p:txBody>
      </p:sp>
      <p:sp>
        <p:nvSpPr>
          <p:cNvPr id="100112" name="D3"/>
          <p:cNvSpPr txBox="1"/>
          <p:nvPr/>
        </p:nvSpPr>
        <p:spPr>
          <a:xfrm xmlns:a="http://schemas.openxmlformats.org/drawingml/2006/main">
            <a:off x="1656000" y="5184000"/>
            <a:ext cx="9360000" cy="36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500">
                <a:solidFill>
                  <a:srgbClr val="D1D5DB"/>
                </a:solidFill>
                <a:latin typeface="Malgun Gothic"/>
                <a:ea typeface="Malgun Gothic"/>
              </a:rPr>
              <a:t>적합도 순위와 추천 이유, 6섹션 기획서 TXT 내려받기까지 보여 줍니다</a:t>
            </a:r>
          </a:p>
        </p:txBody>
      </p:sp>
      <p:sp>
        <p:nvSpPr>
          <p:cNvPr id="100113" name="Meta"/>
          <p:cNvSpPr txBox="1"/>
          <p:nvPr/>
        </p:nvSpPr>
        <p:spPr>
          <a:xfrm xmlns:a="http://schemas.openxmlformats.org/drawingml/2006/main">
            <a:off x="540000" y="6120000"/>
            <a:ext cx="11113200" cy="36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300">
                <a:solidFill>
                  <a:srgbClr val="9CA3AF"/>
                </a:solidFill>
                <a:latin typeface="Malgun Gothic"/>
                <a:ea typeface="Malgun Gothic"/>
              </a:rPr>
              <a:t>실제 화면 시연 · 약 2분</a:t>
            </a:r>
          </a:p>
        </p:txBody>
      </p:sp>
    </p:spTree>
  </p:cSld>
</p:sld>
</file>

<file path=ppt/slides/slide11.xml><?xml version="1.0" encoding="utf-8"?>
<p:sld xmlns:a="http://schemas.openxmlformats.org/drawingml/2006/main" xmlns:p="http://schemas.openxmlformats.org/presentationml/2006/main">
  <p:cSld>
    <p:bg>
      <p:bgPr>
        <a:solidFill xmlns:a="http://schemas.openxmlformats.org/drawingml/2006/main">
          <a:srgbClr val="FFFFFF"/>
        </a:solidFill>
      </p:bgPr>
    </p:bg>
    <p:spTree>
      <p:nvGrpSpPr>
        <p:cNvPr id="1" name=""/>
        <p:cNvGrpSpPr/>
        <p:nvPr/>
      </p:nvGrpSpPr>
      <p:grpSpPr/>
      <p:sp>
        <p:nvSpPr>
          <p:cNvPr id="100114" name="Marker"/>
          <p:cNvSpPr/>
          <p:nvPr/>
        </p:nvSpPr>
        <p:spPr>
          <a:xfrm xmlns:a="http://schemas.openxmlformats.org/drawingml/2006/main">
            <a:off x="540000" y="468000"/>
            <a:ext cx="180000" cy="180000"/>
          </a:xfrm>
          <a:prstGeom xmlns:a="http://schemas.openxmlformats.org/drawingml/2006/main" prst="rect">
            <a:avLst/>
          </a:prstGeom>
          <a:solidFill xmlns:a="http://schemas.openxmlformats.org/drawingml/2006/main">
            <a:srgbClr val="2563EB"/>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15" name="Title"/>
          <p:cNvSpPr txBox="1"/>
          <p:nvPr/>
        </p:nvSpPr>
        <p:spPr>
          <a:xfrm xmlns:a="http://schemas.openxmlformats.org/drawingml/2006/main">
            <a:off x="828000" y="288000"/>
            <a:ext cx="10440000" cy="72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3600" b="1">
                <a:solidFill>
                  <a:srgbClr val="000000"/>
                </a:solidFill>
                <a:latin typeface="Malgun Gothic"/>
                <a:ea typeface="Malgun Gothic"/>
              </a:rPr>
              <a:t>이 서비스가 바꾸는 것</a:t>
            </a:r>
          </a:p>
        </p:txBody>
      </p:sp>
      <p:sp>
        <p:nvSpPr>
          <p:cNvPr id="100116" name="Card1"/>
          <p:cNvSpPr/>
          <p:nvPr/>
        </p:nvSpPr>
        <p:spPr>
          <a:xfrm xmlns:a="http://schemas.openxmlformats.org/drawingml/2006/main">
            <a:off x="540000" y="1368000"/>
            <a:ext cx="3520800" cy="3420000"/>
          </a:xfrm>
          <a:prstGeom xmlns:a="http://schemas.openxmlformats.org/drawingml/2006/main" prst="roundRect">
            <a:avLst/>
          </a:prstGeom>
          <a:solidFill xmlns:a="http://schemas.openxmlformats.org/drawingml/2006/main">
            <a:srgbClr val="F5F6F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17" name="C1T"/>
          <p:cNvSpPr txBox="1"/>
          <p:nvPr/>
        </p:nvSpPr>
        <p:spPr>
          <a:xfrm xmlns:a="http://schemas.openxmlformats.org/drawingml/2006/main">
            <a:off x="756000" y="1656000"/>
            <a:ext cx="3096000" cy="504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2100" b="1">
                <a:solidFill>
                  <a:srgbClr val="2563EB"/>
                </a:solidFill>
                <a:latin typeface="Malgun Gothic"/>
                <a:ea typeface="Malgun Gothic"/>
              </a:rPr>
              <a:t>시간 절감</a:t>
            </a:r>
          </a:p>
        </p:txBody>
      </p:sp>
      <p:sp>
        <p:nvSpPr>
          <p:cNvPr id="100118" name="C1B"/>
          <p:cNvSpPr txBox="1"/>
          <p:nvPr/>
        </p:nvSpPr>
        <p:spPr>
          <a:xfrm xmlns:a="http://schemas.openxmlformats.org/drawingml/2006/main">
            <a:off x="756000" y="2376000"/>
            <a:ext cx="3096000" cy="2016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500">
                <a:solidFill>
                  <a:srgbClr val="374151"/>
                </a:solidFill>
                <a:latin typeface="Malgun Gothic"/>
                <a:ea typeface="Malgun Gothic"/>
              </a:rPr>
              <a:t>흩어진 공모전 정보를</a:t>
            </a:r>
          </a:p>
          <a:p xmlns:a="http://schemas.openxmlformats.org/drawingml/2006/main">
            <a:r>
              <a:rPr lang="en-US" sz="1500">
                <a:solidFill>
                  <a:srgbClr val="374151"/>
                </a:solidFill>
                <a:latin typeface="Malgun Gothic"/>
                <a:ea typeface="Malgun Gothic"/>
              </a:rPr>
              <a:t>찾아다니는 시간 대신</a:t>
            </a:r>
          </a:p>
          <a:p xmlns:a="http://schemas.openxmlformats.org/drawingml/2006/main">
            <a:r>
              <a:rPr lang="en-US" sz="1500">
                <a:solidFill>
                  <a:srgbClr val="374151"/>
                </a:solidFill>
                <a:latin typeface="Malgun Gothic"/>
                <a:ea typeface="Malgun Gothic"/>
              </a:rPr>
              <a:t>내 아이디어에 맞는 곳을</a:t>
            </a:r>
          </a:p>
          <a:p xmlns:a="http://schemas.openxmlformats.org/drawingml/2006/main">
            <a:r>
              <a:rPr lang="en-US" sz="1500">
                <a:solidFill>
                  <a:srgbClr val="374151"/>
                </a:solidFill>
                <a:latin typeface="Malgun Gothic"/>
                <a:ea typeface="Malgun Gothic"/>
              </a:rPr>
              <a:t>바로 제시합니다.</a:t>
            </a:r>
          </a:p>
        </p:txBody>
      </p:sp>
      <p:sp>
        <p:nvSpPr>
          <p:cNvPr id="100119" name="Card2"/>
          <p:cNvSpPr/>
          <p:nvPr/>
        </p:nvSpPr>
        <p:spPr>
          <a:xfrm xmlns:a="http://schemas.openxmlformats.org/drawingml/2006/main">
            <a:off x="4334400" y="1368000"/>
            <a:ext cx="3520800" cy="3420000"/>
          </a:xfrm>
          <a:prstGeom xmlns:a="http://schemas.openxmlformats.org/drawingml/2006/main" prst="roundRect">
            <a:avLst/>
          </a:prstGeom>
          <a:solidFill xmlns:a="http://schemas.openxmlformats.org/drawingml/2006/main">
            <a:srgbClr val="F5F6F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20" name="C2T"/>
          <p:cNvSpPr txBox="1"/>
          <p:nvPr/>
        </p:nvSpPr>
        <p:spPr>
          <a:xfrm xmlns:a="http://schemas.openxmlformats.org/drawingml/2006/main">
            <a:off x="4550400" y="1656000"/>
            <a:ext cx="3096000" cy="504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2100" b="1">
                <a:solidFill>
                  <a:srgbClr val="2563EB"/>
                </a:solidFill>
                <a:latin typeface="Malgun Gothic"/>
                <a:ea typeface="Malgun Gothic"/>
              </a:rPr>
              <a:t>완주율 향상</a:t>
            </a:r>
          </a:p>
        </p:txBody>
      </p:sp>
      <p:sp>
        <p:nvSpPr>
          <p:cNvPr id="100121" name="C2B"/>
          <p:cNvSpPr txBox="1"/>
          <p:nvPr/>
        </p:nvSpPr>
        <p:spPr>
          <a:xfrm xmlns:a="http://schemas.openxmlformats.org/drawingml/2006/main">
            <a:off x="4550400" y="2376000"/>
            <a:ext cx="3096000" cy="2016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500">
                <a:solidFill>
                  <a:srgbClr val="374151"/>
                </a:solidFill>
                <a:latin typeface="Malgun Gothic"/>
                <a:ea typeface="Malgun Gothic"/>
              </a:rPr>
              <a:t>분석 → 초안 → 연습의</a:t>
            </a:r>
          </a:p>
          <a:p xmlns:a="http://schemas.openxmlformats.org/drawingml/2006/main">
            <a:r>
              <a:rPr lang="en-US" sz="1500">
                <a:solidFill>
                  <a:srgbClr val="374151"/>
                </a:solidFill>
                <a:latin typeface="Malgun Gothic"/>
                <a:ea typeface="Malgun Gothic"/>
              </a:rPr>
              <a:t>단계별 지원으로</a:t>
            </a:r>
          </a:p>
          <a:p xmlns:a="http://schemas.openxmlformats.org/drawingml/2006/main">
            <a:r>
              <a:rPr lang="en-US" sz="1500">
                <a:solidFill>
                  <a:srgbClr val="374151"/>
                </a:solidFill>
                <a:latin typeface="Malgun Gothic"/>
                <a:ea typeface="Malgun Gothic"/>
              </a:rPr>
              <a:t>막막함에서 포기하는</a:t>
            </a:r>
          </a:p>
          <a:p xmlns:a="http://schemas.openxmlformats.org/drawingml/2006/main">
            <a:r>
              <a:rPr lang="en-US" sz="1500">
                <a:solidFill>
                  <a:srgbClr val="374151"/>
                </a:solidFill>
                <a:latin typeface="Malgun Gothic"/>
                <a:ea typeface="Malgun Gothic"/>
              </a:rPr>
              <a:t>이유를 줄입니다.</a:t>
            </a:r>
          </a:p>
        </p:txBody>
      </p:sp>
      <p:sp>
        <p:nvSpPr>
          <p:cNvPr id="100122" name="Card3"/>
          <p:cNvSpPr/>
          <p:nvPr/>
        </p:nvSpPr>
        <p:spPr>
          <a:xfrm xmlns:a="http://schemas.openxmlformats.org/drawingml/2006/main">
            <a:off x="8128800" y="1368000"/>
            <a:ext cx="3520800" cy="3420000"/>
          </a:xfrm>
          <a:prstGeom xmlns:a="http://schemas.openxmlformats.org/drawingml/2006/main" prst="roundRect">
            <a:avLst/>
          </a:prstGeom>
          <a:solidFill xmlns:a="http://schemas.openxmlformats.org/drawingml/2006/main">
            <a:srgbClr val="F5F6F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23" name="C3T"/>
          <p:cNvSpPr txBox="1"/>
          <p:nvPr/>
        </p:nvSpPr>
        <p:spPr>
          <a:xfrm xmlns:a="http://schemas.openxmlformats.org/drawingml/2006/main">
            <a:off x="8344800" y="1656000"/>
            <a:ext cx="3096000" cy="504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2100" b="1">
                <a:solidFill>
                  <a:srgbClr val="2563EB"/>
                </a:solidFill>
                <a:latin typeface="Malgun Gothic"/>
                <a:ea typeface="Malgun Gothic"/>
              </a:rPr>
              <a:t>성장 축적</a:t>
            </a:r>
          </a:p>
        </p:txBody>
      </p:sp>
      <p:sp>
        <p:nvSpPr>
          <p:cNvPr id="100124" name="C3B"/>
          <p:cNvSpPr txBox="1"/>
          <p:nvPr/>
        </p:nvSpPr>
        <p:spPr>
          <a:xfrm xmlns:a="http://schemas.openxmlformats.org/drawingml/2006/main">
            <a:off x="8344800" y="2376000"/>
            <a:ext cx="3096000" cy="2016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500">
                <a:solidFill>
                  <a:srgbClr val="374151"/>
                </a:solidFill>
                <a:latin typeface="Malgun Gothic"/>
                <a:ea typeface="Malgun Gothic"/>
              </a:rPr>
              <a:t>도전 히스토리와 연습 노트가</a:t>
            </a:r>
          </a:p>
          <a:p xmlns:a="http://schemas.openxmlformats.org/drawingml/2006/main">
            <a:r>
              <a:rPr lang="en-US" sz="1500">
                <a:solidFill>
                  <a:srgbClr val="374151"/>
                </a:solidFill>
                <a:latin typeface="Malgun Gothic"/>
                <a:ea typeface="Malgun Gothic"/>
              </a:rPr>
              <a:t>쌓여 나만의 공모전</a:t>
            </a:r>
          </a:p>
          <a:p xmlns:a="http://schemas.openxmlformats.org/drawingml/2006/main">
            <a:r>
              <a:rPr lang="en-US" sz="1500">
                <a:solidFill>
                  <a:srgbClr val="374151"/>
                </a:solidFill>
                <a:latin typeface="Malgun Gothic"/>
                <a:ea typeface="Malgun Gothic"/>
              </a:rPr>
              <a:t>포트폴리오가 됩니다.</a:t>
            </a:r>
          </a:p>
        </p:txBody>
      </p:sp>
    </p:spTree>
  </p:cSld>
</p:sld>
</file>

<file path=ppt/slides/slide12.xml><?xml version="1.0" encoding="utf-8"?>
<p:sld xmlns:a="http://schemas.openxmlformats.org/drawingml/2006/main" xmlns:p="http://schemas.openxmlformats.org/presentationml/2006/main">
  <p:cSld>
    <p:bg>
      <p:bgPr>
        <a:solidFill xmlns:a="http://schemas.openxmlformats.org/drawingml/2006/main">
          <a:srgbClr val="000000"/>
        </a:solidFill>
      </p:bgPr>
    </p:bg>
    <p:spTree>
      <p:nvGrpSpPr>
        <p:cNvPr id="1" name=""/>
        <p:cNvGrpSpPr/>
        <p:nvPr/>
      </p:nvGrpSpPr>
      <p:grpSpPr/>
      <p:sp>
        <p:nvSpPr>
          <p:cNvPr id="100125" name="AccentBar"/>
          <p:cNvSpPr/>
          <p:nvPr/>
        </p:nvSpPr>
        <p:spPr>
          <a:xfrm xmlns:a="http://schemas.openxmlformats.org/drawingml/2006/main">
            <a:off x="5558400" y="1872000"/>
            <a:ext cx="1080000" cy="108000"/>
          </a:xfrm>
          <a:prstGeom xmlns:a="http://schemas.openxmlformats.org/drawingml/2006/main" prst="rect">
            <a:avLst/>
          </a:prstGeom>
          <a:solidFill xmlns:a="http://schemas.openxmlformats.org/drawingml/2006/main">
            <a:srgbClr val="2563EB"/>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26" name="Title"/>
          <p:cNvSpPr txBox="1"/>
          <p:nvPr/>
        </p:nvSpPr>
        <p:spPr>
          <a:xfrm xmlns:a="http://schemas.openxmlformats.org/drawingml/2006/main">
            <a:off x="720000" y="2232000"/>
            <a:ext cx="10753200" cy="936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lgn="ctr"/>
            <a:r>
              <a:rPr lang="en-US" sz="4400" b="1">
                <a:solidFill>
                  <a:srgbClr val="FFFFFF"/>
                </a:solidFill>
                <a:latin typeface="Malgun Gothic"/>
                <a:ea typeface="Malgun Gothic"/>
              </a:rPr>
              <a:t>막막함을 첫 걸음으로.</a:t>
            </a:r>
          </a:p>
        </p:txBody>
      </p:sp>
      <p:sp>
        <p:nvSpPr>
          <p:cNvPr id="100127" name="Sub"/>
          <p:cNvSpPr txBox="1"/>
          <p:nvPr/>
        </p:nvSpPr>
        <p:spPr>
          <a:xfrm xmlns:a="http://schemas.openxmlformats.org/drawingml/2006/main">
            <a:off x="720000" y="3456000"/>
            <a:ext cx="10753200" cy="504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lgn="ctr"/>
            <a:r>
              <a:rPr lang="en-US" sz="1800">
                <a:solidFill>
                  <a:srgbClr val="D1D5DB"/>
                </a:solidFill>
                <a:latin typeface="Malgun Gothic"/>
                <a:ea typeface="Malgun Gothic"/>
              </a:rPr>
              <a:t>공모온 — 아이디어에서 공모전까지, 가장 빠른 지름길</a:t>
            </a:r>
          </a:p>
        </p:txBody>
      </p:sp>
      <p:sp>
        <p:nvSpPr>
          <p:cNvPr id="100128" name="Thanks"/>
          <p:cNvSpPr txBox="1"/>
          <p:nvPr/>
        </p:nvSpPr>
        <p:spPr>
          <a:xfrm xmlns:a="http://schemas.openxmlformats.org/drawingml/2006/main">
            <a:off x="720000" y="4392000"/>
            <a:ext cx="10753200" cy="43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lgn="ctr"/>
            <a:r>
              <a:rPr lang="en-US" sz="1600">
                <a:solidFill>
                  <a:srgbClr val="9CA3AF"/>
                </a:solidFill>
                <a:latin typeface="Malgun Gothic"/>
                <a:ea typeface="Malgun Gothic"/>
              </a:rPr>
              <a:t>감사합니다. 질문 받겠습니다.</a:t>
            </a:r>
          </a:p>
        </p:txBody>
      </p:sp>
      <p:sp>
        <p:nvSpPr>
          <p:cNvPr id="100129" name="Tech"/>
          <p:cNvSpPr txBox="1"/>
          <p:nvPr/>
        </p:nvSpPr>
        <p:spPr>
          <a:xfrm xmlns:a="http://schemas.openxmlformats.org/drawingml/2006/main">
            <a:off x="720000" y="5616000"/>
            <a:ext cx="10753200" cy="36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lgn="ctr"/>
            <a:r>
              <a:rPr lang="en-US" sz="1200">
                <a:solidFill>
                  <a:srgbClr val="6B7280"/>
                </a:solidFill>
                <a:latin typeface="Malgun Gothic"/>
                <a:ea typeface="Malgun Gothic"/>
              </a:rPr>
              <a:t>React + TypeScript · Node.js Express · OpenAI 호환 LLM 게이트웨이</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맑은 고딕"/>
        <a:cs typeface=""/>
      </a:majorFont>
      <a:minorFont>
        <a:latin typeface="Calibri"/>
        <a:ea typeface="맑은 고딕"/>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ap:Properties xmlns:ap="http://schemas.openxmlformats.org/officeDocument/2006/extended-properties">
  <ap:Application>OfficeCLI/1.0.143</ap:Application>
</ap:Properties>
</file>

<file path=docProps/core.xml><?xml version="1.0" encoding="utf-8"?>
<cp:coreProperties xmlns:cp="http://schemas.openxmlformats.org/package/2006/metadata/core-properties" xmlns:dc="http://purl.org/dc/elements/1.1/" xmlns:dcterms="http://purl.org/dc/terms/" xmlns:xsi="http://www.w3.org/2001/XMLSchema-instance">
  <dc:creator>OfficeCLI</dc:creator>
  <dcterms:created xsi:type="dcterms:W3CDTF">2026-10-14T06:21:03Z</dcterms:created>
  <cp:lastModifiedBy>OfficeCLI</cp:lastModifiedBy>
  <dcterms:modified xsi:type="dcterms:W3CDTF">2026-10-14T06:21:03Z</dcterms:modified>
</cp:coreProperties>
</file>

<file path=docProps/custom.xml><?xml version="1.0" encoding="utf-8"?>
<op:Properties xmlns:op="http://schemas.openxmlformats.org/officeDocument/2006/custom-properties">
  <op:property fmtid="{D5CDD505-2E9C-101B-9397-08002B2CF9AE}" pid="2" name="OfficeCLI.Version">
    <vt:lpwstr xmlns:vt="http://schemas.openxmlformats.org/officeDocument/2006/docPropsVTypes">1.0.143</vt:lpwstr>
  </op:property>
  <op:property fmtid="{D5CDD505-2E9C-101B-9397-08002B2CF9AE}" pid="3" name="OfficeCLI.LastModified">
    <vt:lpwstr xmlns:vt="http://schemas.openxmlformats.org/officeDocument/2006/docPropsVTypes">2026-10-14T06:31:55Z</vt:lpwstr>
  </op:property>
</op:Properties>
</file>