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72" r:id="rId11"/>
    <p:sldId id="268" r:id="rId12"/>
    <p:sldId id="273" r:id="rId13"/>
    <p:sldId id="269" r:id="rId14"/>
    <p:sldId id="275" r:id="Rc9ffd2afaab3426b"/>
    <p:sldId id="274" r:id="rId15"/>
    <p:sldId id="270" r:id="rId16"/>
    <p:sldId id="271" r:id="rId17"/>
    <p:sldId id="265" r:id="rId18"/>
    <p:sldId id="266" r:id="rId19"/>
    <p:sldId id="267"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12"/>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xml" Id="rId3" /><Relationship Type="http://schemas.openxmlformats.org/officeDocument/2006/relationships/notesMaster" Target="notesMasters/notesMaster1.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tableStyles" Target="tableStyles.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19.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theme" Target="theme/theme1.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viewProps" Target="viewProps.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presProps" Target="presProps.xml" Id="rId22" /><Relationship Type="http://schemas.openxmlformats.org/officeDocument/2006/relationships/slide" Target="/ppt/slides/slide20.xml" Id="Rc9ffd2afaab3426b"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10/15/2026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0305eed4748746de" /><Relationship Type="http://schemas.openxmlformats.org/officeDocument/2006/relationships/slide" Target="/ppt/slides/slide20.xml" Id="Re3657dce5c4f4f36"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(인사) 안녕하세요, [발표자 이름]입니다. 오늘 소개할 서비스는 공모온입니다. 가진 아이디어를 분석해 주고, 나에게 맞는 실제 공모전까지 이어 주는 AI 아이디어 분석 서비스입니다. 왜 만들었는지, 어떻게 만들었고 어떻게 동작하는지, 그리고 실제 화면 시연 순서로 약 15분 동안 보여 드리겠습니다. (약 25초)</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오늘 발표는 여섯 파트입니다. 먼저 이 서비스를 왜 기획하게 됐는지 — 이용자 입장에서 어떤 문제를 겪는지부터 보여 드리고, 차별점인 유형 검사와 검사 이후 준비가 어떻게 이어지는지 설명합니다. 이어서 이 서비스를 어떻게 만들었는지(기획부터 완성, 쓴 도구, 막혔던 순간)와 화면 뒤에서 어떻게 동작하는지를 전공이 아니신 분들도 이해하실 수 있게 풀어 드리고, 마지막에 실제 화면으로 시연하겠습니다. (약 25초)</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저희가 만난 사람 이야기로 시작하겠습니다. 공모전에 도전하고 싶은데 뭘 어떻게 준비해야 할지 모르겠다는 친구를 여러 번 봤습니다. 위비티·캠퍼스픽에 공모전 정보는 정말 많습니다. 하지만 정보가 많다고 끝이 아니에요 — 내 아이디어와 맞는 공모전을 찾는 건 별개의 문제입니다. 찾았다고 끝도 아니고요. 그 아이디어가 괜찮은지 판단해 줄 사람도, 서류와 예상 질문 준비를 도와 줄 도구도 없습니다. 이 '준비의 공백'이 공모온을 만든 이유입니다. (약 45초)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막막함을 세 가지 벽으로 정리했습니다. 첫째, 어디에 내야 할지 — 정보는 많은데 내 아이디어와 맞는지 알 수 없습니다. 둘째, 괜찮은 아이디어인지 판단 — 강점과 차별점을 객관적으로 봐 줄 창구가 없습니다. 셋째, 마지막 한 걸음 — 제안서 쓰기와 예상 질문 준비는 전적으로 혼자의 몫입니다. 공모온은 추천 → 분석 → 준비의 하나의 흐름으로 이 세 벽을 하나씩 허물었습니다. (약 45초)</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전체 흐름입니다. 30문항 유형 검사로 시작하면, 검사 결과가 아이디어 힌트로 입력 화면에 그대로 채워집니다. 한 문장 아이디어를 입력하면 AI가 강점과 심사 포인트를 분석하고, 어울리는 실제 공모전을 적합도와 함께 추천합니다. 추천받은 공모전은 제안서 초안과 연습 노트로 이어지고, 모든 도전은 대시보드에 기록됩니다. 중간에 끊기는 단계가 없다는 게 핵심입니다. (약 40초)</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여기서부터는 저희의 가장 큰 차별점, 유형 검사입니다. 30문항을 풀면 7가지 공모전 성향 중 나의 유형과 일치율이 나옵니다 — 문제 해결형, 기술 탐험형, 실행 제작형, 이야기 설계형, 감각 창작형, 공감 연결형, 사회 변화형입니다. MBTI 같은 일반 성격 검사와 다르게, 공모전이라는 상황에 맞춰 설계한 성향 분류라는 점이 다릅니다. (약 50초)</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검사 결과는 유형을 알려 주고 끝나지 않습니다. 강점 3개와 보완점 2개, 팀에서의 역할, 준비 로드맵 4단계, 시너지 유형까지 리포트로 나옵니다. 특히 맞춤 아이디어 힌트 3개가 아이디어 입력 화면으로 그대로 넘어가고, 관심 분야도 자동으로 채워집니다. 성향 진단이 곧 출품 준비의 첫 단계가 됩니다. (약 45초)</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기존 공모전 사이트와 비교하면 이렇습니다. 기존 사이트는 목록 나열이 끝이고, 검색도 키워드에 의존합니다. 공모온은 성향 검사에서 시작해 아이디어 내용 기반으로 적합도와 추천 이유를 붙여 주고, 제안서 초안과 예상 질문 연습까지 제공합니다. 목록 보여 주기를 넘어 준비를 같이하는 것 — 그것이 차별점입니다. (약 45초)</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아이디어를 입력하면 AI가 강점과 심사 포인트를 분석하고, 공모전을 적합도와 함께 추천합니다. 분석 결과는 그대로 6섹션 제안서 초안이 되고, 예상 질문과 답변을 정리하는 연습 노트로 이어집니다. 대시보드와 마감 알림·주간 이메일이 기한을 놓치지 않게 도와 줍니다. (약 40초)</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지금까지 나온 내용을 기능으로 정리하면 6가지입니다. 왼쪽 위부터 흐름 순서입니다 — 유형 검사로 시작해 아이디어를 입력하면 AI가 분석하고, 공모전을 추천합니다. 추천받은 공모전은 제안서 초안과 연습 노트로 이어지고, 찜·응모 기록과 마감 알림은 대시보드에서 관리됩니다. 여섯 기능이 각각 따로 놀지 않고 '검사 → 입력 → 추천 → 준비'의 한 흐름으로 이어지는 게 저희의 특징입니다. (약 40초)</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여기서부터는 이걸 어떻게 만들었는지를 보여 드리겠습니다. 공모전을 포기한 친구들의 이유를 모아 문제를 '세 가지 벽'으로 정리했고, 기획서로 누구에게 무엇을 도울지 정했습니다. 화면과 데이터가 오가는 경로를 설계서로 그려서 만들기 전에 문제를 잡았고, 유형 검사·AI 분석·추천을 먼저 만든 뒤 공모전 자동 수집·계정·알림을 순서대로 붙였습니다. 마지막으로 직접 써 보고 고치는 과정을 반복하고, 자동 테스트 57개로 확인해 완성했습니다. (약 45초)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작업 기한은 git 커밋 기록 기준 12일입니다. 처음 나흘 동안 기획·설계와 함께 첫 버전을 완성했고, 이후 결과 화면을 다듬고, 자동 수집·알림 같은 기능을 확장했으며, 마지막 이틀은 리브랜딩 마무리와 발표 준비로 마무리했습니다. 매 단계를 커밋과 문서로 남겼기 때문에 누구나 과정을 확인할 수 있습니다. 검증(자동 테스트 57개)은 마지막에 한 번 하는 게 아니라 전 기간 함께 진행했습니다. (약 40초)</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쓴 도구를 쉽게 풀면 네 가지입니다. React는 사용자가 보는 웹 화면을 만드는 도구이고, Node.js 서버는 요청을 받아 처리하는 두뇌 역할입니다. AI 분석 엔진은 아이디어를 읽고 점수와 이유를 써 주는 외부 AI고요. 데이터는 이중 저장입니다 — 찜·기록은 브라우저에 즉시 저장되고, 로그인하면 서버에 백업돼 PC를 바꿔도 복원됩니다. (약 40초)</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만든 코드와 자료는 이렇게 정리돼 있습니다. frontend 폴더에 사용자가 보는 화면이, backend 폴더에 요청을 처리하는 서버가 분리돼 있습니다. 기획서·설계서·README·발표 자료는 루트에 함께 뒀습니다 — 처음 보는 사람도 README 하나로 설치·실행·트러블슈팅을 알 수 있게 정리했습니다. (약 35초)</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실제로 겪은 문제 네 가지입니다. 1) AI가 없는 공모전을 지어내서 알려 주면? — 서버가 보낸 목록에 없는 답은 잘라내 검증합니다. 2) AI가 멈추면 서비스도 멈출까? — 실패 시 데모 분석으로 자동 전환돼 화면이 끊기지 않습니다. 3) 공모전 정보를 매일 손으로 옮길 수는 없다 — 위비티·콘테스트코리아 자동 수집으로 해결했습니다. 4) 다른 PC·새로고침에서 데이터가 사라진다면? — 브라우저 즉시 저장 + 서버 백업·복원, 그리고 주소(포트) 고정으로 해결했습니다. 겪어 봤기 때문에 알 수 있었던 문제들입니다. (약 55초)</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마지막으로 화면 뒤에서 일어나는 일을 다섯 단계로 보여 드리면: 아이디어를 입력하면 서버로 전달되고, AI가 공모전마다 점수와 이유를 작성합니다. 그다음 서버가 검증합니다 — 지어낸 답은 이 단계에서 차단됩니다. 검증을 마친 결과만 화면에 표시됩니다. 사용자는 기다리기만 하면 됩니다. AI가 멈추면 데모 분석으로 이어져 흐름이 끊기지 않습니다. (약 40초)</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(브라우저로 전환) 1) 유형 검사 — 두세 문항만 풀고 바로 결과까지. 일치율, 강점·보완점, 아이디어 힌트 3개를 보여 주고 힌트로 아이디어 쓰기로 넘어갑니다. 2) 아이디어 입력 → AI 분석 — 제목·설명을 채우고 분석 실행. 결과까지 잠깐 걸린다는 점을 미리 언급하세요. 3) 추천 공모전·제안서 초안 — 적합도 순위와 이유, 6섹션 기획서 TXT 내려받기까지. (약 2분)</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이 서비스가 바꾸는 것은 세 가지입니다. 첫째 시간 — 정보를 찾아다니는 대신 아이디어에 맞는 곳을 바로 받습니다. 둘째 완주율 — 분석, 초안, 연습으로 단계가 이어져 중간에 포기할 이유를 줄입니다. 셋째 성장 — 도전 기록과 연습 노트가 쌓여 본인의 포트폴리오가 됩니다. (약 40초)</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공모온은 '공모전을 하고 싶은데 어떻게 준비해야 할지 모르겠다'는 학생의 첫 단추를 끼워 주는 서비스입니다. 유형 검사로 시작해 분석·추천·제안서·연습까지 하나의 흐름으로 이어 줍니다. 감사합니다. 질문 받겠습니다. (약 30초)</a:t>
            </a:r>
          </a:p>
        </p:txBody>
      </p:sp>
    </p:spTree>
  </p:cSld>
  <p:clrMapOvr>
    <a:masterClrMapping/>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쓴 도구들이 어떻게 연결되는지 전체 구조로 보면 이렇습니다. 사용자는 브라우저의 React 화면을 보고, 화면이 서버에 요청을 보냅니다. 서버는 아이디어 분석을 외부 AI 엔진에 맡기고, 알림은 이메일로 보내며, 모든 데이터는 JSON 파일에 저장됩니다. 화면과 서버가 나뉘어 있어 각각 고치기 쉽고, 데이터는 브라우저와 서버 양쪽에 남아 안전합니다. (약 40초)</a:t>
            </a:r>
          </a:p>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b835bd16b5040fe" /><Relationship Type="http://schemas.openxmlformats.org/officeDocument/2006/relationships/notesSlide" Target="/ppt/notesSlides/notesSlide20.xml" Id="Rcfe75a0a9ff74f5e"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0001" name="Title"/>
          <p:cNvSpPr txBox="1"/>
          <p:nvPr/>
        </p:nvSpPr>
        <p:spPr>
          <a:xfrm>
            <a:off x="720000" y="1872000"/>
            <a:ext cx="10753200" cy="1296000"/>
          </a:xfrm>
          <a:prstGeom prst="rect">
            <a:avLst/>
          </a:prstGeom>
        </p:spPr>
        <p:txBody>
          <a:bodyPr/>
          <a:lstStyle/>
          <a:p>
            <a:pPr algn="ctr"/>
            <a:r>
              <a:rPr lang="en-US" sz="6600" b="1">
                <a:solidFill>
                  <a:srgbClr val="FFFFFF"/>
                </a:solidFill>
                <a:latin typeface="Malgun Gothic"/>
                <a:ea typeface="Malgun Gothic"/>
              </a:rPr>
              <a:t>공모온</a:t>
            </a:r>
          </a:p>
        </p:txBody>
      </p:sp>
      <p:sp>
        <p:nvSpPr>
          <p:cNvPr id="100002" name="Subtitle"/>
          <p:cNvSpPr txBox="1"/>
          <p:nvPr/>
        </p:nvSpPr>
        <p:spPr>
          <a:xfrm>
            <a:off x="720000" y="3384000"/>
            <a:ext cx="10753200" cy="576000"/>
          </a:xfrm>
          <a:prstGeom prst="rect">
            <a:avLst/>
          </a:prstGeom>
        </p:spPr>
        <p:txBody>
          <a:bodyPr/>
          <a:lstStyle/>
          <a:p>
            <a:pPr algn="ctr"/>
            <a:r>
              <a:rPr lang="en-US" sz="2200">
                <a:solidFill>
                  <a:srgbClr val="D1D5DB"/>
                </a:solidFill>
                <a:latin typeface="Malgun Gothic"/>
                <a:ea typeface="Malgun Gothic"/>
              </a:rPr>
              <a:t>아이디어에서 공모전까지, 가장 빠른 지름길</a:t>
            </a:r>
          </a:p>
        </p:txBody>
      </p:sp>
      <p:sp>
        <p:nvSpPr>
          <p:cNvPr id="100003" name="Meta"/>
          <p:cNvSpPr txBox="1"/>
          <p:nvPr/>
        </p:nvSpPr>
        <p:spPr>
          <a:xfrm>
            <a:off x="720000" y="4902652"/>
            <a:ext cx="10753200" cy="575999"/>
          </a:xfrm>
          <a:prstGeom prst="rect">
            <a:avLst/>
          </a:prstGeom>
        </p:spPr>
        <p:txBody>
          <a:bodyPr/>
          <a:lstStyle/>
          <a:p>
            <a:pPr algn="ctr"/>
            <a:r>
              <a:rPr lang="en-US" sz="1400" dirty="0">
                <a:solidFill>
                  <a:srgbClr val="9CA3AF"/>
                </a:solidFill>
                <a:latin typeface="Malgun Gothic"/>
                <a:ea typeface="Malgun Gothic"/>
              </a:rPr>
              <a:t>AI </a:t>
            </a:r>
            <a:r>
              <a:rPr lang="en-US" sz="1400" dirty="0" err="1">
                <a:solidFill>
                  <a:srgbClr val="9CA3AF"/>
                </a:solidFill>
                <a:latin typeface="Malgun Gothic"/>
                <a:ea typeface="Malgun Gothic"/>
              </a:rPr>
              <a:t>아이디어</a:t>
            </a:r>
            <a:r>
              <a:rPr lang="en-US" sz="1400" dirty="0">
                <a:solidFill>
                  <a:srgbClr val="9CA3AF"/>
                </a:solidFill>
                <a:latin typeface="Malgun Gothic"/>
                <a:ea typeface="Malgun Gothic"/>
              </a:rPr>
              <a:t> </a:t>
            </a:r>
            <a:r>
              <a:rPr lang="en-US" sz="1400" dirty="0" err="1">
                <a:solidFill>
                  <a:srgbClr val="9CA3AF"/>
                </a:solidFill>
                <a:latin typeface="Malgun Gothic"/>
                <a:ea typeface="Malgun Gothic"/>
              </a:rPr>
              <a:t>분석</a:t>
            </a:r>
            <a:r>
              <a:rPr lang="en-US" sz="1400" dirty="0">
                <a:solidFill>
                  <a:srgbClr val="9CA3AF"/>
                </a:solidFill>
                <a:latin typeface="Malgun Gothic"/>
                <a:ea typeface="Malgun Gothic"/>
              </a:rPr>
              <a:t> </a:t>
            </a:r>
            <a:r>
              <a:rPr lang="en-US" sz="1400" dirty="0" err="1">
                <a:solidFill>
                  <a:srgbClr val="9CA3AF"/>
                </a:solidFill>
                <a:latin typeface="Malgun Gothic"/>
                <a:ea typeface="Malgun Gothic"/>
              </a:rPr>
              <a:t>서비스</a:t>
            </a:r>
            <a:r>
              <a:rPr lang="en-US" sz="1400" dirty="0">
                <a:solidFill>
                  <a:srgbClr val="9CA3AF"/>
                </a:solidFill>
                <a:latin typeface="Malgun Gothic"/>
                <a:ea typeface="Malgun Gothic"/>
              </a:rPr>
              <a:t> · </a:t>
            </a:r>
            <a:r>
              <a:rPr lang="ko-KR" altLang="en-US" sz="1400" dirty="0" err="1">
                <a:solidFill>
                  <a:srgbClr val="9CA3AF"/>
                </a:solidFill>
                <a:latin typeface="Malgun Gothic"/>
                <a:ea typeface="Malgun Gothic"/>
              </a:rPr>
              <a:t>김가을</a:t>
            </a:r>
            <a:endParaRPr lang="en-US" sz="1400" dirty="0">
              <a:solidFill>
                <a:srgbClr val="9CA3AF"/>
              </a:solidFill>
              <a:latin typeface="Malgun Gothic"/>
              <a:ea typeface="Malgun Gothic"/>
            </a:endParaRPr>
          </a:p>
          <a:p>
            <a:pPr algn="ctr"/>
            <a:r>
              <a:rPr lang="en-US" sz="1400" dirty="0">
                <a:solidFill>
                  <a:srgbClr val="9CA3AF"/>
                </a:solidFill>
                <a:latin typeface="Malgun Gothic"/>
                <a:ea typeface="Malgun Gothic"/>
              </a:rPr>
              <a:t> 2026. 10. 20 · </a:t>
            </a:r>
            <a:r>
              <a:rPr lang="en-US" sz="1400" dirty="0" err="1">
                <a:solidFill>
                  <a:srgbClr val="9CA3AF"/>
                </a:solidFill>
                <a:latin typeface="Malgun Gothic"/>
                <a:ea typeface="Malgun Gothic"/>
              </a:rPr>
              <a:t>서비스</a:t>
            </a:r>
            <a:r>
              <a:rPr lang="en-US" sz="1400" dirty="0">
                <a:solidFill>
                  <a:srgbClr val="9CA3AF"/>
                </a:solidFill>
                <a:latin typeface="Malgun Gothic"/>
                <a:ea typeface="Malgun Gothic"/>
              </a:rPr>
              <a:t> </a:t>
            </a:r>
            <a:r>
              <a:rPr lang="en-US" sz="1400" dirty="0" err="1">
                <a:solidFill>
                  <a:srgbClr val="9CA3AF"/>
                </a:solidFill>
                <a:latin typeface="Malgun Gothic"/>
                <a:ea typeface="Malgun Gothic"/>
              </a:rPr>
              <a:t>기획</a:t>
            </a:r>
            <a:r>
              <a:rPr lang="en-US" sz="1400" dirty="0">
                <a:solidFill>
                  <a:srgbClr val="9CA3AF"/>
                </a:solidFill>
                <a:latin typeface="Malgun Gothic"/>
                <a:ea typeface="Malgun Gothic"/>
              </a:rPr>
              <a:t> </a:t>
            </a:r>
            <a:r>
              <a:rPr lang="en-US" sz="1400" dirty="0" err="1">
                <a:solidFill>
                  <a:srgbClr val="9CA3AF"/>
                </a:solidFill>
                <a:latin typeface="Malgun Gothic"/>
                <a:ea typeface="Malgun Gothic"/>
              </a:rPr>
              <a:t>발표</a:t>
            </a:r>
            <a:endParaRPr lang="en-US" sz="1400" dirty="0">
              <a:solidFill>
                <a:srgbClr val="9CA3AF"/>
              </a:solidFill>
              <a:latin typeface="Malgun Gothic"/>
              <a:ea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5"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발표 구성</a:t>
            </a:r>
          </a:p>
        </p:txBody>
      </p:sp>
      <p:sp>
        <p:nvSpPr>
          <p:cNvPr id="100006" name="N1"/>
          <p:cNvSpPr/>
          <p:nvPr/>
        </p:nvSpPr>
        <p:spPr>
          <a:xfrm>
            <a:off x="1012723" y="1044001"/>
            <a:ext cx="355276" cy="355276"/>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1</a:t>
            </a:r>
          </a:p>
        </p:txBody>
      </p:sp>
      <p:sp>
        <p:nvSpPr>
          <p:cNvPr id="100007" name="H1"/>
          <p:cNvSpPr txBox="1"/>
          <p:nvPr/>
        </p:nvSpPr>
        <p:spPr>
          <a:xfrm>
            <a:off x="1656000" y="1008000"/>
            <a:ext cx="9360000" cy="504000"/>
          </a:xfrm>
          <a:prstGeom prst="rect">
            <a:avLst/>
          </a:prstGeom>
        </p:spPr>
        <p:txBody>
          <a:bodyPr/>
          <a:lstStyle/>
          <a:p>
            <a:r>
              <a:rPr lang="en-US" sz="2200" b="1">
                <a:solidFill>
                  <a:srgbClr val="000000"/>
                </a:solidFill>
                <a:latin typeface="Malgun Gothic"/>
                <a:ea typeface="Malgun Gothic"/>
              </a:rPr>
              <a:t>왜 만들었나</a:t>
            </a:r>
          </a:p>
        </p:txBody>
      </p:sp>
      <p:sp>
        <p:nvSpPr>
          <p:cNvPr id="100008" name="D1"/>
          <p:cNvSpPr txBox="1"/>
          <p:nvPr/>
        </p:nvSpPr>
        <p:spPr>
          <a:xfrm>
            <a:off x="1656000" y="1548000"/>
            <a:ext cx="9360000" cy="360000"/>
          </a:xfrm>
          <a:prstGeom prst="rect">
            <a:avLst/>
          </a:prstGeom>
        </p:spPr>
        <p:txBody>
          <a:bodyPr/>
          <a:lstStyle/>
          <a:p>
            <a:r>
              <a:rPr lang="en-US" sz="1600">
                <a:solidFill>
                  <a:srgbClr val="6B7280"/>
                </a:solidFill>
                <a:latin typeface="Malgun Gothic"/>
                <a:ea typeface="Malgun Gothic"/>
              </a:rPr>
              <a:t>공모전 첫 도전을 막는 세 가지 벽 — 정보, 판단, 마지막 한 걸음</a:t>
            </a:r>
          </a:p>
        </p:txBody>
      </p:sp>
      <p:sp>
        <p:nvSpPr>
          <p:cNvPr id="100009" name="N2"/>
          <p:cNvSpPr/>
          <p:nvPr/>
        </p:nvSpPr>
        <p:spPr>
          <a:xfrm>
            <a:off x="1012723" y="1980001"/>
            <a:ext cx="355276" cy="355276"/>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2</a:t>
            </a:r>
          </a:p>
        </p:txBody>
      </p:sp>
      <p:sp>
        <p:nvSpPr>
          <p:cNvPr id="100010" name="H2"/>
          <p:cNvSpPr txBox="1"/>
          <p:nvPr/>
        </p:nvSpPr>
        <p:spPr>
          <a:xfrm>
            <a:off x="1656000" y="1944000"/>
            <a:ext cx="9360000" cy="504000"/>
          </a:xfrm>
          <a:prstGeom prst="rect">
            <a:avLst/>
          </a:prstGeom>
        </p:spPr>
        <p:txBody>
          <a:bodyPr/>
          <a:lstStyle/>
          <a:p>
            <a:r>
              <a:rPr lang="en-US" sz="2200" b="1">
                <a:solidFill>
                  <a:srgbClr val="000000"/>
                </a:solidFill>
                <a:latin typeface="Malgun Gothic"/>
                <a:ea typeface="Malgun Gothic"/>
              </a:rPr>
              <a:t>무엇이 다른가 — 유형 검사</a:t>
            </a:r>
          </a:p>
        </p:txBody>
      </p:sp>
      <p:sp>
        <p:nvSpPr>
          <p:cNvPr id="100011" name="D2"/>
          <p:cNvSpPr txBox="1"/>
          <p:nvPr/>
        </p:nvSpPr>
        <p:spPr>
          <a:xfrm>
            <a:off x="1656000" y="2484000"/>
            <a:ext cx="9360000" cy="360000"/>
          </a:xfrm>
          <a:prstGeom prst="rect">
            <a:avLst/>
          </a:prstGeom>
        </p:spPr>
        <p:txBody>
          <a:bodyPr/>
          <a:lstStyle/>
          <a:p>
            <a:r>
              <a:rPr lang="en-US" sz="1600">
                <a:solidFill>
                  <a:srgbClr val="6B7280"/>
                </a:solidFill>
                <a:latin typeface="Malgun Gothic"/>
                <a:ea typeface="Malgun Gothic"/>
              </a:rPr>
              <a:t>성향 진단에서 출품까지 — 30문항, 7유형, 일치율 리포트</a:t>
            </a:r>
          </a:p>
        </p:txBody>
      </p:sp>
      <p:sp>
        <p:nvSpPr>
          <p:cNvPr id="100012" name="N3"/>
          <p:cNvSpPr/>
          <p:nvPr/>
        </p:nvSpPr>
        <p:spPr>
          <a:xfrm>
            <a:off x="1012723" y="2916001"/>
            <a:ext cx="355276" cy="355276"/>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3</a:t>
            </a:r>
          </a:p>
        </p:txBody>
      </p:sp>
      <p:sp>
        <p:nvSpPr>
          <p:cNvPr id="100013" name="H3"/>
          <p:cNvSpPr txBox="1"/>
          <p:nvPr/>
        </p:nvSpPr>
        <p:spPr>
          <a:xfrm>
            <a:off x="1656000" y="2880000"/>
            <a:ext cx="9360000" cy="504000"/>
          </a:xfrm>
          <a:prstGeom prst="rect">
            <a:avLst/>
          </a:prstGeom>
        </p:spPr>
        <p:txBody>
          <a:bodyPr/>
          <a:lstStyle/>
          <a:p>
            <a:r>
              <a:rPr lang="en-US" sz="2200" b="1">
                <a:solidFill>
                  <a:srgbClr val="000000"/>
                </a:solidFill>
                <a:latin typeface="Malgun Gothic"/>
                <a:ea typeface="Malgun Gothic"/>
              </a:rPr>
              <a:t>어떻게 도와주나</a:t>
            </a:r>
          </a:p>
        </p:txBody>
      </p:sp>
      <p:sp>
        <p:nvSpPr>
          <p:cNvPr id="100014" name="D3"/>
          <p:cNvSpPr txBox="1"/>
          <p:nvPr/>
        </p:nvSpPr>
        <p:spPr>
          <a:xfrm>
            <a:off x="1656000" y="3420000"/>
            <a:ext cx="9360000" cy="360000"/>
          </a:xfrm>
          <a:prstGeom prst="rect">
            <a:avLst/>
          </a:prstGeom>
        </p:spPr>
        <p:txBody>
          <a:bodyPr/>
          <a:lstStyle/>
          <a:p>
            <a:r>
              <a:rPr lang="en-US" sz="1600">
                <a:solidFill>
                  <a:srgbClr val="6B7280"/>
                </a:solidFill>
                <a:latin typeface="Malgun Gothic"/>
                <a:ea typeface="Malgun Gothic"/>
              </a:rPr>
              <a:t>유형 검사·분석·추천·제안서 초안·연습 노트·대시보드 — 6가지 기능</a:t>
            </a:r>
          </a:p>
        </p:txBody>
      </p:sp>
      <p:sp>
        <p:nvSpPr>
          <p:cNvPr id="100015" name="N4"/>
          <p:cNvSpPr/>
          <p:nvPr/>
        </p:nvSpPr>
        <p:spPr>
          <a:xfrm>
            <a:off x="1012723" y="5724001"/>
            <a:ext cx="355276" cy="355276"/>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6</a:t>
            </a:r>
          </a:p>
        </p:txBody>
      </p:sp>
      <p:sp>
        <p:nvSpPr>
          <p:cNvPr id="100016" name="H4"/>
          <p:cNvSpPr txBox="1"/>
          <p:nvPr/>
        </p:nvSpPr>
        <p:spPr>
          <a:xfrm>
            <a:off x="1656000" y="5688000"/>
            <a:ext cx="9360000" cy="504000"/>
          </a:xfrm>
          <a:prstGeom prst="rect">
            <a:avLst/>
          </a:prstGeom>
        </p:spPr>
        <p:txBody>
          <a:bodyPr/>
          <a:lstStyle/>
          <a:p>
            <a:r>
              <a:rPr lang="en-US" sz="2200" b="1">
                <a:solidFill>
                  <a:srgbClr val="000000"/>
                </a:solidFill>
                <a:latin typeface="Malgun Gothic"/>
                <a:ea typeface="Malgun Gothic"/>
              </a:rPr>
              <a:t>직접 보기</a:t>
            </a:r>
          </a:p>
        </p:txBody>
      </p:sp>
      <p:sp>
        <p:nvSpPr>
          <p:cNvPr id="100017" name="D4"/>
          <p:cNvSpPr txBox="1"/>
          <p:nvPr/>
        </p:nvSpPr>
        <p:spPr>
          <a:xfrm>
            <a:off x="1656000" y="6228000"/>
            <a:ext cx="9360000" cy="360000"/>
          </a:xfrm>
          <a:prstGeom prst="rect">
            <a:avLst/>
          </a:prstGeom>
        </p:spPr>
        <p:txBody>
          <a:bodyPr/>
          <a:lstStyle/>
          <a:p>
            <a:r>
              <a:rPr lang="en-US" sz="1600">
                <a:solidFill>
                  <a:srgbClr val="6B7280"/>
                </a:solidFill>
                <a:latin typeface="Malgun Gothic"/>
                <a:ea typeface="Malgun Gothic"/>
              </a:rPr>
              <a:t>유형 검사 → AI 분석 → 추천 → 제안서 초안까지 실제 화면으로</a:t>
            </a:r>
          </a:p>
        </p:txBody>
      </p:sp>
      <p:sp>
        <p:nvSpPr>
          <p:cNvPr id="100130" name="P4"/>
          <p:cNvSpPr/>
          <p:nvPr/>
        </p:nvSpPr>
        <p:spPr>
          <a:xfrm>
            <a:off x="1012723" y="3852001"/>
            <a:ext cx="355276" cy="355276"/>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4</a:t>
            </a:r>
          </a:p>
        </p:txBody>
      </p:sp>
      <p:sp>
        <p:nvSpPr>
          <p:cNvPr id="100131" name="P4H"/>
          <p:cNvSpPr/>
          <p:nvPr/>
        </p:nvSpPr>
        <p:spPr>
          <a:xfrm>
            <a:off x="1656000" y="3816000"/>
            <a:ext cx="9360000" cy="504000"/>
          </a:xfrm>
          <a:prstGeom prst="rect">
            <a:avLst/>
          </a:prstGeom>
        </p:spPr>
        <p:txBody>
          <a:bodyPr/>
          <a:lstStyle/>
          <a:p>
            <a:r>
              <a:rPr lang="en-US" sz="2200" b="1">
                <a:solidFill>
                  <a:srgbClr val="000000"/>
                </a:solidFill>
                <a:latin typeface="Malgun Gothic"/>
                <a:ea typeface="Malgun Gothic"/>
              </a:rPr>
              <a:t>어떻게 만들었나 — 기획부터 완성까지</a:t>
            </a:r>
          </a:p>
        </p:txBody>
      </p:sp>
      <p:sp>
        <p:nvSpPr>
          <p:cNvPr id="100132" name="P4D"/>
          <p:cNvSpPr/>
          <p:nvPr/>
        </p:nvSpPr>
        <p:spPr>
          <a:xfrm>
            <a:off x="1656000" y="4356000"/>
            <a:ext cx="9360000" cy="360000"/>
          </a:xfrm>
          <a:prstGeom prst="rect">
            <a:avLst/>
          </a:prstGeom>
        </p:spPr>
        <p:txBody>
          <a:bodyPr/>
          <a:lstStyle/>
          <a:p>
            <a:r>
              <a:rPr lang="en-US" sz="1600">
                <a:solidFill>
                  <a:srgbClr val="6B7280"/>
                </a:solidFill>
                <a:latin typeface="Malgun Gothic"/>
                <a:ea typeface="Malgun Gothic"/>
              </a:rPr>
              <a:t>기획·개발·검증의 과정, 12일 기한·서비스 구조·폴더 구조, 막혔던 순간과 해결까지</a:t>
            </a:r>
          </a:p>
        </p:txBody>
      </p:sp>
      <p:sp>
        <p:nvSpPr>
          <p:cNvPr id="100133" name="P5"/>
          <p:cNvSpPr/>
          <p:nvPr/>
        </p:nvSpPr>
        <p:spPr>
          <a:xfrm>
            <a:off x="1012723" y="4788001"/>
            <a:ext cx="355276" cy="355276"/>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5</a:t>
            </a:r>
          </a:p>
        </p:txBody>
      </p:sp>
      <p:sp>
        <p:nvSpPr>
          <p:cNvPr id="100134" name="P5H"/>
          <p:cNvSpPr/>
          <p:nvPr/>
        </p:nvSpPr>
        <p:spPr>
          <a:xfrm>
            <a:off x="1656000" y="4752000"/>
            <a:ext cx="9360000" cy="504000"/>
          </a:xfrm>
          <a:prstGeom prst="rect">
            <a:avLst/>
          </a:prstGeom>
        </p:spPr>
        <p:txBody>
          <a:bodyPr/>
          <a:lstStyle/>
          <a:p>
            <a:r>
              <a:rPr lang="en-US" sz="2200" b="1">
                <a:solidFill>
                  <a:srgbClr val="000000"/>
                </a:solidFill>
                <a:latin typeface="Malgun Gothic"/>
                <a:ea typeface="Malgun Gothic"/>
              </a:rPr>
              <a:t>어떻게 동작하나 — 화면 뒤에서 일어나는 일</a:t>
            </a:r>
          </a:p>
        </p:txBody>
      </p:sp>
      <p:sp>
        <p:nvSpPr>
          <p:cNvPr id="100135" name="P5D"/>
          <p:cNvSpPr/>
          <p:nvPr/>
        </p:nvSpPr>
        <p:spPr>
          <a:xfrm>
            <a:off x="1656000" y="5292000"/>
            <a:ext cx="9360000" cy="360000"/>
          </a:xfrm>
          <a:prstGeom prst="rect">
            <a:avLst/>
          </a:prstGeom>
        </p:spPr>
        <p:txBody>
          <a:bodyPr/>
          <a:lstStyle/>
          <a:p>
            <a:r>
              <a:rPr lang="en-US" sz="1600">
                <a:solidFill>
                  <a:srgbClr val="6B7280"/>
                </a:solidFill>
                <a:latin typeface="Malgun Gothic"/>
                <a:ea typeface="Malgun Gothic"/>
              </a:rPr>
              <a:t>입력 → AI 분석 → 검증 → 표시, 데이터는 이중 저장으로 보호됩니다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19"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공모전, 하고 싶은데…</a:t>
            </a:r>
          </a:p>
        </p:txBody>
      </p:sp>
      <p:sp>
        <p:nvSpPr>
          <p:cNvPr id="100020" name="QuoteCard"/>
          <p:cNvSpPr/>
          <p:nvPr/>
        </p:nvSpPr>
        <p:spPr>
          <a:xfrm>
            <a:off x="720000" y="1368000"/>
            <a:ext cx="10753200" cy="2880000"/>
          </a:xfrm>
          <a:prstGeom prst="roundRect">
            <a:avLst/>
          </a:prstGeom>
          <a:solidFill>
            <a:srgbClr val="F5F6F8"/>
          </a:solidFill>
          <a:ln>
            <a:noFill/>
          </a:ln>
        </p:spPr>
        <p:txBody>
          <a:bodyPr/>
          <a:lstStyle/>
          <a:p>
            <a:endParaRPr/>
          </a:p>
        </p:txBody>
      </p:sp>
      <p:sp>
        <p:nvSpPr>
          <p:cNvPr id="100021" name="Quote"/>
          <p:cNvSpPr txBox="1"/>
          <p:nvPr/>
        </p:nvSpPr>
        <p:spPr>
          <a:xfrm>
            <a:off x="1260000" y="1800000"/>
            <a:ext cx="9673200" cy="2016000"/>
          </a:xfrm>
          <a:prstGeom prst="rect">
            <a:avLst/>
          </a:prstGeom>
        </p:spPr>
        <p:txBody>
          <a:bodyPr anchor="ctr"/>
          <a:lstStyle/>
          <a:p>
            <a:pPr algn="ctr"/>
            <a:r>
              <a:rPr lang="en-US" sz="2600" b="1">
                <a:solidFill>
                  <a:srgbClr val="000000"/>
                </a:solidFill>
                <a:latin typeface="Malgun Gothic"/>
                <a:ea typeface="Malgun Gothic"/>
              </a:rPr>
              <a:t>아이디어는 있는데,</a:t>
            </a:r>
          </a:p>
          <a:p>
            <a:pPr algn="ctr"/>
            <a:r>
              <a:rPr lang="en-US" sz="2600" b="1">
                <a:solidFill>
                  <a:srgbClr val="000000"/>
                </a:solidFill>
                <a:latin typeface="Malgun Gothic"/>
                <a:ea typeface="Malgun Gothic"/>
              </a:rPr>
              <a:t>뭘 어떻게 준비해야 할지 모르겠어요.</a:t>
            </a:r>
          </a:p>
        </p:txBody>
      </p:sp>
      <p:sp>
        <p:nvSpPr>
          <p:cNvPr id="100022" name="QuoteSrc"/>
          <p:cNvSpPr txBox="1"/>
          <p:nvPr/>
        </p:nvSpPr>
        <p:spPr>
          <a:xfrm>
            <a:off x="1260000" y="3744000"/>
            <a:ext cx="9673200" cy="360000"/>
          </a:xfrm>
          <a:prstGeom prst="rect">
            <a:avLst/>
          </a:prstGeom>
        </p:spPr>
        <p:txBody>
          <a:bodyPr/>
          <a:lstStyle/>
          <a:p>
            <a:pPr algn="ctr"/>
            <a:r>
              <a:rPr lang="en-US" sz="1400">
                <a:solidFill>
                  <a:srgbClr val="6B7280"/>
                </a:solidFill>
                <a:latin typeface="Malgun Gothic"/>
                <a:ea typeface="Malgun Gothic"/>
              </a:rPr>
              <a:t>— 공모전에 첫 도전하려는 대학생의 고민</a:t>
            </a:r>
          </a:p>
        </p:txBody>
      </p:sp>
      <p:sp>
        <p:nvSpPr>
          <p:cNvPr id="100023" name="Support"/>
          <p:cNvSpPr txBox="1"/>
          <p:nvPr/>
        </p:nvSpPr>
        <p:spPr>
          <a:xfrm>
            <a:off x="720000" y="4752000"/>
            <a:ext cx="10753200" cy="1080000"/>
          </a:xfrm>
          <a:prstGeom prst="rect">
            <a:avLst/>
          </a:prstGeom>
        </p:spPr>
        <p:txBody>
          <a:bodyPr/>
          <a:lstStyle/>
          <a:p>
            <a:r>
              <a:rPr lang="en-US" sz="1800">
                <a:solidFill>
                  <a:srgbClr val="374151"/>
                </a:solidFill>
                <a:latin typeface="Malgun Gothic"/>
                <a:ea typeface="Malgun Gothic"/>
              </a:rPr>
              <a:t>공모전에 도전하고 싶은 학생은 매년 많습니다. 그런데 '준비'를 도와 주는 창구는 거의 없습니다 —</a:t>
            </a:r>
          </a:p>
          <a:p>
            <a:r>
              <a:rPr lang="en-US" sz="1800">
                <a:solidFill>
                  <a:srgbClr val="374151"/>
                </a:solidFill>
                <a:latin typeface="Malgun Gothic"/>
                <a:ea typeface="Malgun Gothic"/>
              </a:rPr>
              <a:t>정보는 흩어져 있고, 판단은 혼자 해야 하고, 마지막 서류까지도요.</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5"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첫 도전을 막는 세 가지 벽</a:t>
            </a:r>
          </a:p>
        </p:txBody>
      </p:sp>
      <p:sp>
        <p:nvSpPr>
          <p:cNvPr id="100026" name="Card1"/>
          <p:cNvSpPr/>
          <p:nvPr/>
        </p:nvSpPr>
        <p:spPr>
          <a:xfrm>
            <a:off x="540000" y="1368000"/>
            <a:ext cx="3520800" cy="3240000"/>
          </a:xfrm>
          <a:prstGeom prst="roundRect">
            <a:avLst/>
          </a:prstGeom>
          <a:solidFill>
            <a:srgbClr val="F5F6F8"/>
          </a:solidFill>
          <a:ln>
            <a:noFill/>
          </a:ln>
        </p:spPr>
        <p:txBody>
          <a:bodyPr/>
          <a:lstStyle/>
          <a:p>
            <a:endParaRPr/>
          </a:p>
        </p:txBody>
      </p:sp>
      <p:sp>
        <p:nvSpPr>
          <p:cNvPr id="100027" name="C1Num"/>
          <p:cNvSpPr txBox="1"/>
          <p:nvPr/>
        </p:nvSpPr>
        <p:spPr>
          <a:xfrm>
            <a:off x="756000" y="1584000"/>
            <a:ext cx="2880000" cy="576000"/>
          </a:xfrm>
          <a:prstGeom prst="rect">
            <a:avLst/>
          </a:prstGeom>
        </p:spPr>
        <p:txBody>
          <a:bodyPr/>
          <a:lstStyle/>
          <a:p>
            <a:r>
              <a:rPr lang="en-US" sz="3000" b="1">
                <a:solidFill>
                  <a:srgbClr val="2563EB"/>
                </a:solidFill>
                <a:latin typeface="Malgun Gothic"/>
                <a:ea typeface="Malgun Gothic"/>
              </a:rPr>
              <a:t>01</a:t>
            </a:r>
          </a:p>
        </p:txBody>
      </p:sp>
      <p:sp>
        <p:nvSpPr>
          <p:cNvPr id="100028" name="C1Title"/>
          <p:cNvSpPr txBox="1"/>
          <p:nvPr/>
        </p:nvSpPr>
        <p:spPr>
          <a:xfrm>
            <a:off x="756000" y="2304000"/>
            <a:ext cx="3096000" cy="432000"/>
          </a:xfrm>
          <a:prstGeom prst="rect">
            <a:avLst/>
          </a:prstGeom>
        </p:spPr>
        <p:txBody>
          <a:bodyPr/>
          <a:lstStyle/>
          <a:p>
            <a:r>
              <a:rPr lang="en-US" sz="1900" b="1">
                <a:solidFill>
                  <a:srgbClr val="000000"/>
                </a:solidFill>
                <a:latin typeface="Malgun Gothic"/>
                <a:ea typeface="Malgun Gothic"/>
              </a:rPr>
              <a:t>어디에 내야 할지 모른다</a:t>
            </a:r>
          </a:p>
        </p:txBody>
      </p:sp>
      <p:sp>
        <p:nvSpPr>
          <p:cNvPr id="100029" name="C1Body"/>
          <p:cNvSpPr txBox="1"/>
          <p:nvPr/>
        </p:nvSpPr>
        <p:spPr>
          <a:xfrm>
            <a:off x="756000" y="2844000"/>
            <a:ext cx="3232800" cy="1512000"/>
          </a:xfrm>
          <a:prstGeom prst="rect">
            <a:avLst/>
          </a:prstGeom>
        </p:spPr>
        <p:txBody>
          <a:bodyPr/>
          <a:lstStyle/>
          <a:p>
            <a:r>
              <a:rPr lang="en-US" sz="1500">
                <a:solidFill>
                  <a:srgbClr val="4B5563"/>
                </a:solidFill>
                <a:latin typeface="Malgun Gothic"/>
                <a:ea typeface="Malgun Gothic"/>
              </a:rPr>
              <a:t>공모전 정보가 여러 사이트에 흩어져 있어, 내 아이디어와 맞는 곳을 찾기 어렵습니다.</a:t>
            </a:r>
          </a:p>
        </p:txBody>
      </p:sp>
      <p:sp>
        <p:nvSpPr>
          <p:cNvPr id="100030" name="Card2"/>
          <p:cNvSpPr/>
          <p:nvPr/>
        </p:nvSpPr>
        <p:spPr>
          <a:xfrm>
            <a:off x="4334400" y="1368000"/>
            <a:ext cx="3520800" cy="3240000"/>
          </a:xfrm>
          <a:prstGeom prst="roundRect">
            <a:avLst/>
          </a:prstGeom>
          <a:solidFill>
            <a:srgbClr val="F5F6F8"/>
          </a:solidFill>
          <a:ln>
            <a:noFill/>
          </a:ln>
        </p:spPr>
        <p:txBody>
          <a:bodyPr/>
          <a:lstStyle/>
          <a:p>
            <a:endParaRPr/>
          </a:p>
        </p:txBody>
      </p:sp>
      <p:sp>
        <p:nvSpPr>
          <p:cNvPr id="100031" name="C2Num"/>
          <p:cNvSpPr txBox="1"/>
          <p:nvPr/>
        </p:nvSpPr>
        <p:spPr>
          <a:xfrm>
            <a:off x="4550400" y="1584000"/>
            <a:ext cx="2880000" cy="576000"/>
          </a:xfrm>
          <a:prstGeom prst="rect">
            <a:avLst/>
          </a:prstGeom>
        </p:spPr>
        <p:txBody>
          <a:bodyPr/>
          <a:lstStyle/>
          <a:p>
            <a:r>
              <a:rPr lang="en-US" sz="3000" b="1">
                <a:solidFill>
                  <a:srgbClr val="2563EB"/>
                </a:solidFill>
                <a:latin typeface="Malgun Gothic"/>
                <a:ea typeface="Malgun Gothic"/>
              </a:rPr>
              <a:t>02</a:t>
            </a:r>
          </a:p>
        </p:txBody>
      </p:sp>
      <p:sp>
        <p:nvSpPr>
          <p:cNvPr id="100032" name="C2Title"/>
          <p:cNvSpPr txBox="1"/>
          <p:nvPr/>
        </p:nvSpPr>
        <p:spPr>
          <a:xfrm>
            <a:off x="4550400" y="2304000"/>
            <a:ext cx="3096000" cy="432000"/>
          </a:xfrm>
          <a:prstGeom prst="rect">
            <a:avLst/>
          </a:prstGeom>
        </p:spPr>
        <p:txBody>
          <a:bodyPr/>
          <a:lstStyle/>
          <a:p>
            <a:r>
              <a:rPr lang="en-US" sz="1900" b="1">
                <a:solidFill>
                  <a:srgbClr val="000000"/>
                </a:solidFill>
                <a:latin typeface="Malgun Gothic"/>
                <a:ea typeface="Malgun Gothic"/>
              </a:rPr>
              <a:t>괜찮은지 알 수 없다</a:t>
            </a:r>
          </a:p>
        </p:txBody>
      </p:sp>
      <p:sp>
        <p:nvSpPr>
          <p:cNvPr id="100033" name="C2Body"/>
          <p:cNvSpPr txBox="1"/>
          <p:nvPr/>
        </p:nvSpPr>
        <p:spPr>
          <a:xfrm>
            <a:off x="4550400" y="2844000"/>
            <a:ext cx="3232800" cy="1512000"/>
          </a:xfrm>
          <a:prstGeom prst="rect">
            <a:avLst/>
          </a:prstGeom>
        </p:spPr>
        <p:txBody>
          <a:bodyPr/>
          <a:lstStyle/>
          <a:p>
            <a:r>
              <a:rPr lang="en-US" sz="1500">
                <a:solidFill>
                  <a:srgbClr val="4B5563"/>
                </a:solidFill>
                <a:latin typeface="Malgun Gothic"/>
                <a:ea typeface="Malgun Gothic"/>
              </a:rPr>
              <a:t>아이디어의 강점과 약점, 심사위원이 볼 차별점을 객관적으로 봐 줄 곳이 없습니다.</a:t>
            </a:r>
          </a:p>
        </p:txBody>
      </p:sp>
      <p:sp>
        <p:nvSpPr>
          <p:cNvPr id="100034" name="Card3"/>
          <p:cNvSpPr/>
          <p:nvPr/>
        </p:nvSpPr>
        <p:spPr>
          <a:xfrm>
            <a:off x="8128800" y="1368000"/>
            <a:ext cx="3520800" cy="3240000"/>
          </a:xfrm>
          <a:prstGeom prst="roundRect">
            <a:avLst/>
          </a:prstGeom>
          <a:solidFill>
            <a:srgbClr val="F5F6F8"/>
          </a:solidFill>
          <a:ln>
            <a:noFill/>
          </a:ln>
        </p:spPr>
        <p:txBody>
          <a:bodyPr/>
          <a:lstStyle/>
          <a:p>
            <a:endParaRPr/>
          </a:p>
        </p:txBody>
      </p:sp>
      <p:sp>
        <p:nvSpPr>
          <p:cNvPr id="100035" name="C3Num"/>
          <p:cNvSpPr txBox="1"/>
          <p:nvPr/>
        </p:nvSpPr>
        <p:spPr>
          <a:xfrm>
            <a:off x="8344800" y="1584000"/>
            <a:ext cx="2880000" cy="576000"/>
          </a:xfrm>
          <a:prstGeom prst="rect">
            <a:avLst/>
          </a:prstGeom>
        </p:spPr>
        <p:txBody>
          <a:bodyPr/>
          <a:lstStyle/>
          <a:p>
            <a:r>
              <a:rPr lang="en-US" sz="3000" b="1">
                <a:solidFill>
                  <a:srgbClr val="2563EB"/>
                </a:solidFill>
                <a:latin typeface="Malgun Gothic"/>
                <a:ea typeface="Malgun Gothic"/>
              </a:rPr>
              <a:t>03</a:t>
            </a:r>
          </a:p>
        </p:txBody>
      </p:sp>
      <p:sp>
        <p:nvSpPr>
          <p:cNvPr id="100036" name="C3Title"/>
          <p:cNvSpPr txBox="1"/>
          <p:nvPr/>
        </p:nvSpPr>
        <p:spPr>
          <a:xfrm>
            <a:off x="8344800" y="2304000"/>
            <a:ext cx="3240000" cy="432000"/>
          </a:xfrm>
          <a:prstGeom prst="rect">
            <a:avLst/>
          </a:prstGeom>
        </p:spPr>
        <p:txBody>
          <a:bodyPr/>
          <a:lstStyle/>
          <a:p>
            <a:r>
              <a:rPr lang="en-US" sz="1900" b="1">
                <a:solidFill>
                  <a:srgbClr val="000000"/>
                </a:solidFill>
                <a:latin typeface="Malgun Gothic"/>
                <a:ea typeface="Malgun Gothic"/>
              </a:rPr>
              <a:t>마지막 한 걸음이 막막하다</a:t>
            </a:r>
          </a:p>
        </p:txBody>
      </p:sp>
      <p:sp>
        <p:nvSpPr>
          <p:cNvPr id="100037" name="C3Body"/>
          <p:cNvSpPr txBox="1"/>
          <p:nvPr/>
        </p:nvSpPr>
        <p:spPr>
          <a:xfrm>
            <a:off x="8344800" y="2844000"/>
            <a:ext cx="3232800" cy="1512000"/>
          </a:xfrm>
          <a:prstGeom prst="rect">
            <a:avLst/>
          </a:prstGeom>
        </p:spPr>
        <p:txBody>
          <a:bodyPr/>
          <a:lstStyle/>
          <a:p>
            <a:r>
              <a:rPr lang="en-US" sz="1500">
                <a:solidFill>
                  <a:srgbClr val="4B5563"/>
                </a:solidFill>
                <a:latin typeface="Malgun Gothic"/>
                <a:ea typeface="Malgun Gothic"/>
              </a:rPr>
              <a:t>제안서를 쓰고 예상 질문을 준비하는 마무리 단계의 도구는 거의 없습니다.</a:t>
            </a:r>
          </a:p>
        </p:txBody>
      </p:sp>
      <p:sp>
        <p:nvSpPr>
          <p:cNvPr id="100038" name="Answer"/>
          <p:cNvSpPr txBox="1"/>
          <p:nvPr/>
        </p:nvSpPr>
        <p:spPr>
          <a:xfrm>
            <a:off x="540000" y="5256000"/>
            <a:ext cx="11113200" cy="576000"/>
          </a:xfrm>
          <a:prstGeom prst="rect">
            <a:avLst/>
          </a:prstGeom>
        </p:spPr>
        <p:txBody>
          <a:bodyPr/>
          <a:lstStyle/>
          <a:p>
            <a:r>
              <a:rPr lang="en-US" sz="2000" b="1">
                <a:solidFill>
                  <a:srgbClr val="000000"/>
                </a:solidFill>
                <a:latin typeface="Malgun Gothic"/>
                <a:ea typeface="Malgun Gothic"/>
              </a:rPr>
              <a:t>공모온은 이 세 가지를 추천 → 분석 → 준비, 하나의 흐름으로 풀었습니다.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40"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아이디어가 출품까지 이어지는 흐름</a:t>
            </a:r>
          </a:p>
        </p:txBody>
      </p:sp>
      <p:sp>
        <p:nvSpPr>
          <p:cNvPr id="100041" name="Box1"/>
          <p:cNvSpPr/>
          <p:nvPr/>
        </p:nvSpPr>
        <p:spPr>
          <a:xfrm>
            <a:off x="540000" y="1800000"/>
            <a:ext cx="2077200" cy="1512000"/>
          </a:xfrm>
          <a:prstGeom prst="roundRect">
            <a:avLst/>
          </a:prstGeom>
          <a:solidFill>
            <a:srgbClr val="2563EB"/>
          </a:solidFill>
          <a:ln>
            <a:noFill/>
          </a:ln>
        </p:spPr>
        <p:txBody>
          <a:bodyPr anchor="ctr"/>
          <a:lstStyle/>
          <a:p>
            <a:pPr algn="ctr"/>
            <a:r>
              <a:rPr lang="en-US" sz="1600" b="1">
                <a:solidFill>
                  <a:srgbClr val="FFFFFF"/>
                </a:solidFill>
                <a:latin typeface="Malgun Gothic"/>
                <a:ea typeface="Malgun Gothic"/>
              </a:rPr>
              <a:t>유형 검사</a:t>
            </a:r>
          </a:p>
          <a:p>
            <a:pPr algn="ctr"/>
            <a:r>
              <a:rPr lang="en-US" sz="1600" b="1">
                <a:solidFill>
                  <a:srgbClr val="FFFFFF"/>
                </a:solidFill>
                <a:latin typeface="Malgun Gothic"/>
                <a:ea typeface="Malgun Gothic"/>
              </a:rPr>
              <a:t>성향 진단</a:t>
            </a:r>
          </a:p>
        </p:txBody>
      </p:sp>
      <p:sp>
        <p:nvSpPr>
          <p:cNvPr id="100042" name="Box2"/>
          <p:cNvSpPr/>
          <p:nvPr/>
        </p:nvSpPr>
        <p:spPr>
          <a:xfrm>
            <a:off x="2797200" y="1800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아이디어 입력</a:t>
            </a:r>
          </a:p>
          <a:p>
            <a:pPr algn="ctr"/>
            <a:r>
              <a:rPr lang="en-US" sz="1600" b="1">
                <a:solidFill>
                  <a:srgbClr val="000000"/>
                </a:solidFill>
                <a:latin typeface="Malgun Gothic"/>
                <a:ea typeface="Malgun Gothic"/>
              </a:rPr>
              <a:t>제목·설명·분야</a:t>
            </a:r>
          </a:p>
        </p:txBody>
      </p:sp>
      <p:sp>
        <p:nvSpPr>
          <p:cNvPr id="100043" name="Box3"/>
          <p:cNvSpPr/>
          <p:nvPr/>
        </p:nvSpPr>
        <p:spPr>
          <a:xfrm>
            <a:off x="5054400" y="1800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AI 분석</a:t>
            </a:r>
          </a:p>
          <a:p>
            <a:pPr algn="ctr"/>
            <a:r>
              <a:rPr lang="en-US" sz="1600" b="1">
                <a:solidFill>
                  <a:srgbClr val="000000"/>
                </a:solidFill>
                <a:latin typeface="Malgun Gothic"/>
                <a:ea typeface="Malgun Gothic"/>
              </a:rPr>
              <a:t>강점·심사 포인트</a:t>
            </a:r>
          </a:p>
        </p:txBody>
      </p:sp>
      <p:sp>
        <p:nvSpPr>
          <p:cNvPr id="100044" name="Box4"/>
          <p:cNvSpPr/>
          <p:nvPr/>
        </p:nvSpPr>
        <p:spPr>
          <a:xfrm>
            <a:off x="7311600" y="1800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공모전 추천</a:t>
            </a:r>
          </a:p>
          <a:p>
            <a:pPr algn="ctr"/>
            <a:r>
              <a:rPr lang="en-US" sz="1600" b="1">
                <a:solidFill>
                  <a:srgbClr val="000000"/>
                </a:solidFill>
                <a:latin typeface="Malgun Gothic"/>
                <a:ea typeface="Malgun Gothic"/>
              </a:rPr>
              <a:t>적합도·응모 기록</a:t>
            </a:r>
          </a:p>
        </p:txBody>
      </p:sp>
      <p:sp>
        <p:nvSpPr>
          <p:cNvPr id="100045" name="Box5"/>
          <p:cNvSpPr/>
          <p:nvPr/>
        </p:nvSpPr>
        <p:spPr>
          <a:xfrm>
            <a:off x="9568800" y="1800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초안·연습</a:t>
            </a:r>
          </a:p>
          <a:p>
            <a:pPr algn="ctr"/>
            <a:r>
              <a:rPr lang="en-US" sz="1600" b="1">
                <a:solidFill>
                  <a:srgbClr val="000000"/>
                </a:solidFill>
                <a:latin typeface="Malgun Gothic"/>
                <a:ea typeface="Malgun Gothic"/>
              </a:rPr>
              <a:t>제안서·Q&amp;A</a:t>
            </a:r>
          </a:p>
        </p:txBody>
      </p:sp>
      <p:cxnSp>
        <p:nvCxnSpPr>
          <p:cNvPr id="100046" name="Connector 1"/>
          <p:cNvCxnSpPr>
            <a:stCxn id="100041" idx="0"/>
            <a:endCxn id="100042" idx="0"/>
          </p:cNvCxnSpPr>
          <p:nvPr/>
        </p:nvCxnSpPr>
        <p:spPr>
          <a:xfrm>
            <a:off x="2617200" y="2556000"/>
            <a:ext cx="180000" cy="0"/>
          </a:xfrm>
          <a:prstGeom prst="bentConnector3">
            <a:avLst/>
          </a:prstGeom>
          <a:ln w="12700">
            <a:solidFill>
              <a:srgbClr val="9CA3AF"/>
            </a:solidFill>
            <a:tailEnd type="triangle"/>
          </a:ln>
        </p:spPr>
      </p:cxnSp>
      <p:cxnSp>
        <p:nvCxnSpPr>
          <p:cNvPr id="100047" name="Connector 2"/>
          <p:cNvCxnSpPr>
            <a:stCxn id="100042" idx="0"/>
            <a:endCxn id="100043" idx="0"/>
          </p:cNvCxnSpPr>
          <p:nvPr/>
        </p:nvCxnSpPr>
        <p:spPr>
          <a:xfrm>
            <a:off x="4874400" y="2556000"/>
            <a:ext cx="180000" cy="0"/>
          </a:xfrm>
          <a:prstGeom prst="bentConnector3">
            <a:avLst/>
          </a:prstGeom>
          <a:ln w="12700">
            <a:solidFill>
              <a:srgbClr val="9CA3AF"/>
            </a:solidFill>
            <a:tailEnd type="triangle"/>
          </a:ln>
        </p:spPr>
      </p:cxnSp>
      <p:cxnSp>
        <p:nvCxnSpPr>
          <p:cNvPr id="100048" name="Connector 3"/>
          <p:cNvCxnSpPr>
            <a:stCxn id="100043" idx="0"/>
            <a:endCxn id="100044" idx="0"/>
          </p:cNvCxnSpPr>
          <p:nvPr/>
        </p:nvCxnSpPr>
        <p:spPr>
          <a:xfrm>
            <a:off x="7131600" y="2556000"/>
            <a:ext cx="180000" cy="0"/>
          </a:xfrm>
          <a:prstGeom prst="bentConnector3">
            <a:avLst/>
          </a:prstGeom>
          <a:ln w="12700">
            <a:solidFill>
              <a:srgbClr val="9CA3AF"/>
            </a:solidFill>
            <a:tailEnd type="triangle"/>
          </a:ln>
        </p:spPr>
      </p:cxnSp>
      <p:cxnSp>
        <p:nvCxnSpPr>
          <p:cNvPr id="100049" name="Connector 4"/>
          <p:cNvCxnSpPr>
            <a:stCxn id="100044" idx="0"/>
            <a:endCxn id="100045" idx="0"/>
          </p:cNvCxnSpPr>
          <p:nvPr/>
        </p:nvCxnSpPr>
        <p:spPr>
          <a:xfrm>
            <a:off x="9388800" y="2556000"/>
            <a:ext cx="180000" cy="0"/>
          </a:xfrm>
          <a:prstGeom prst="bentConnector3">
            <a:avLst/>
          </a:prstGeom>
          <a:ln w="12700">
            <a:solidFill>
              <a:srgbClr val="9CA3AF"/>
            </a:solidFill>
            <a:tailEnd type="triangle"/>
          </a:ln>
        </p:spPr>
      </p:cxnSp>
      <p:sp>
        <p:nvSpPr>
          <p:cNvPr id="100050" name="Hint"/>
          <p:cNvSpPr txBox="1"/>
          <p:nvPr/>
        </p:nvSpPr>
        <p:spPr>
          <a:xfrm>
            <a:off x="540000" y="3744000"/>
            <a:ext cx="10753200" cy="432000"/>
          </a:xfrm>
          <a:prstGeom prst="rect">
            <a:avLst/>
          </a:prstGeom>
        </p:spPr>
        <p:txBody>
          <a:bodyPr/>
          <a:lstStyle/>
          <a:p>
            <a:r>
              <a:rPr lang="en-US" sz="1500">
                <a:solidFill>
                  <a:srgbClr val="6B7280"/>
                </a:solidFill>
                <a:latin typeface="Malgun Gothic"/>
                <a:ea typeface="Malgun Gothic"/>
              </a:rPr>
              <a:t>검사 결과는 맞춤 아이디어 힌트가 되어 입력 화면으로 이어집니다.</a:t>
            </a:r>
          </a:p>
        </p:txBody>
      </p:sp>
      <p:sp>
        <p:nvSpPr>
          <p:cNvPr id="100051" name="Dashboard"/>
          <p:cNvSpPr/>
          <p:nvPr/>
        </p:nvSpPr>
        <p:spPr>
          <a:xfrm>
            <a:off x="540000" y="4536000"/>
            <a:ext cx="11113200" cy="1296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대시보드 — 응모 현황 · 마감 임박 · 도전 히스토리를 한눈에 관리</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53"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나는 어떤 공모전형 인간?</a:t>
            </a:r>
          </a:p>
        </p:txBody>
      </p:sp>
      <p:sp>
        <p:nvSpPr>
          <p:cNvPr id="100054" name="Sub"/>
          <p:cNvSpPr txBox="1"/>
          <p:nvPr/>
        </p:nvSpPr>
        <p:spPr>
          <a:xfrm>
            <a:off x="828000" y="1044000"/>
            <a:ext cx="10440000" cy="396000"/>
          </a:xfrm>
          <a:prstGeom prst="rect">
            <a:avLst/>
          </a:prstGeom>
        </p:spPr>
        <p:txBody>
          <a:bodyPr/>
          <a:lstStyle/>
          <a:p>
            <a:r>
              <a:rPr lang="en-US" sz="1600">
                <a:solidFill>
                  <a:srgbClr val="6B7280"/>
                </a:solidFill>
                <a:latin typeface="Malgun Gothic"/>
                <a:ea typeface="Malgun Gothic"/>
              </a:rPr>
              <a:t>30문항 선택형 검사 — 결과는 일치율(%)로 진단합니다</a:t>
            </a:r>
          </a:p>
        </p:txBody>
      </p:sp>
      <p:sp>
        <p:nvSpPr>
          <p:cNvPr id="100055" name="T1"/>
          <p:cNvSpPr/>
          <p:nvPr/>
        </p:nvSpPr>
        <p:spPr>
          <a:xfrm>
            <a:off x="540000" y="1656000"/>
            <a:ext cx="2574000" cy="1944000"/>
          </a:xfrm>
          <a:prstGeom prst="roundRect">
            <a:avLst/>
          </a:prstGeom>
          <a:solidFill>
            <a:srgbClr val="F5F6F8"/>
          </a:solidFill>
          <a:ln>
            <a:noFill/>
          </a:ln>
        </p:spPr>
        <p:txBody>
          <a:bodyPr lIns="54000" tIns="54000" rIns="54000" bIns="54000" anchor="ctr"/>
          <a:lstStyle/>
          <a:p>
            <a:pPr algn="ctr"/>
            <a:r>
              <a:rPr lang="en-US" sz="1700" b="1">
                <a:solidFill>
                  <a:srgbClr val="000000"/>
                </a:solidFill>
                <a:latin typeface="Malgun Gothic"/>
                <a:ea typeface="Malgun Gothic"/>
              </a:rPr>
              <a:t>문제 해결형</a:t>
            </a:r>
          </a:p>
          <a:p>
            <a:pPr algn="ctr"/>
            <a:endParaRPr lang="en-US" sz="1700" b="1">
              <a:solidFill>
                <a:srgbClr val="000000"/>
              </a:solidFill>
              <a:latin typeface="Malgun Gothic"/>
              <a:ea typeface="Malgun Gothic"/>
            </a:endParaRPr>
          </a:p>
          <a:p>
            <a:pPr algn="ctr"/>
            <a:r>
              <a:rPr lang="en-US" sz="1700" b="1">
                <a:solidFill>
                  <a:srgbClr val="000000"/>
                </a:solidFill>
                <a:latin typeface="Malgun Gothic"/>
                <a:ea typeface="Malgun Gothic"/>
              </a:rPr>
              <a:t>불편함을 해결책으로</a:t>
            </a:r>
          </a:p>
          <a:p>
            <a:pPr algn="ctr"/>
            <a:r>
              <a:rPr lang="en-US" sz="1700" b="1">
                <a:solidFill>
                  <a:srgbClr val="000000"/>
                </a:solidFill>
                <a:latin typeface="Malgun Gothic"/>
                <a:ea typeface="Malgun Gothic"/>
              </a:rPr>
              <a:t>바꾸는 사람</a:t>
            </a:r>
          </a:p>
        </p:txBody>
      </p:sp>
      <p:sp>
        <p:nvSpPr>
          <p:cNvPr id="100056" name="T2"/>
          <p:cNvSpPr/>
          <p:nvPr/>
        </p:nvSpPr>
        <p:spPr>
          <a:xfrm>
            <a:off x="3387600" y="1656000"/>
            <a:ext cx="2574000" cy="1944000"/>
          </a:xfrm>
          <a:prstGeom prst="roundRect">
            <a:avLst/>
          </a:prstGeom>
          <a:solidFill>
            <a:srgbClr val="F5F6F8"/>
          </a:solidFill>
          <a:ln>
            <a:noFill/>
          </a:ln>
        </p:spPr>
        <p:txBody>
          <a:bodyPr lIns="54000" tIns="54000" rIns="54000" bIns="54000" anchor="ctr"/>
          <a:lstStyle/>
          <a:p>
            <a:pPr algn="ctr"/>
            <a:r>
              <a:rPr lang="en-US" sz="1700" b="1">
                <a:solidFill>
                  <a:srgbClr val="000000"/>
                </a:solidFill>
                <a:latin typeface="Malgun Gothic"/>
                <a:ea typeface="Malgun Gothic"/>
              </a:rPr>
              <a:t>기술 탐험형</a:t>
            </a:r>
          </a:p>
          <a:p>
            <a:pPr algn="ctr"/>
            <a:endParaRPr lang="en-US" sz="1700" b="1">
              <a:solidFill>
                <a:srgbClr val="000000"/>
              </a:solidFill>
              <a:latin typeface="Malgun Gothic"/>
              <a:ea typeface="Malgun Gothic"/>
            </a:endParaRPr>
          </a:p>
          <a:p>
            <a:pPr algn="ctr"/>
            <a:r>
              <a:rPr lang="en-US" sz="1700" b="1">
                <a:solidFill>
                  <a:srgbClr val="000000"/>
                </a:solidFill>
                <a:latin typeface="Malgun Gothic"/>
                <a:ea typeface="Malgun Gothic"/>
              </a:rPr>
              <a:t>새 기술로 가능성의</a:t>
            </a:r>
          </a:p>
          <a:p>
            <a:pPr algn="ctr"/>
            <a:r>
              <a:rPr lang="en-US" sz="1700" b="1">
                <a:solidFill>
                  <a:srgbClr val="000000"/>
                </a:solidFill>
                <a:latin typeface="Malgun Gothic"/>
                <a:ea typeface="Malgun Gothic"/>
              </a:rPr>
              <a:t>지도를 넓히는 사람</a:t>
            </a:r>
          </a:p>
        </p:txBody>
      </p:sp>
      <p:sp>
        <p:nvSpPr>
          <p:cNvPr id="100057" name="T3"/>
          <p:cNvSpPr/>
          <p:nvPr/>
        </p:nvSpPr>
        <p:spPr>
          <a:xfrm>
            <a:off x="6235200" y="1656000"/>
            <a:ext cx="2574000" cy="1944000"/>
          </a:xfrm>
          <a:prstGeom prst="roundRect">
            <a:avLst/>
          </a:prstGeom>
          <a:solidFill>
            <a:srgbClr val="F5F6F8"/>
          </a:solidFill>
          <a:ln>
            <a:noFill/>
          </a:ln>
        </p:spPr>
        <p:txBody>
          <a:bodyPr lIns="54000" tIns="54000" rIns="54000" bIns="54000" anchor="ctr"/>
          <a:lstStyle/>
          <a:p>
            <a:pPr algn="ctr"/>
            <a:r>
              <a:rPr lang="en-US" sz="1700" b="1">
                <a:solidFill>
                  <a:srgbClr val="000000"/>
                </a:solidFill>
                <a:latin typeface="Malgun Gothic"/>
                <a:ea typeface="Malgun Gothic"/>
              </a:rPr>
              <a:t>실행 제작형</a:t>
            </a:r>
          </a:p>
          <a:p>
            <a:pPr algn="ctr"/>
            <a:endParaRPr lang="en-US" sz="1700" b="1">
              <a:solidFill>
                <a:srgbClr val="000000"/>
              </a:solidFill>
              <a:latin typeface="Malgun Gothic"/>
              <a:ea typeface="Malgun Gothic"/>
            </a:endParaRPr>
          </a:p>
          <a:p>
            <a:pPr algn="ctr"/>
            <a:r>
              <a:rPr lang="en-US" sz="1700" b="1">
                <a:solidFill>
                  <a:srgbClr val="000000"/>
                </a:solidFill>
                <a:latin typeface="Malgun Gothic"/>
                <a:ea typeface="Malgun Gothic"/>
              </a:rPr>
              <a:t>생각을 손으로 옮겨</a:t>
            </a:r>
          </a:p>
          <a:p>
            <a:pPr algn="ctr"/>
            <a:r>
              <a:rPr lang="en-US" sz="1700" b="1">
                <a:solidFill>
                  <a:srgbClr val="000000"/>
                </a:solidFill>
                <a:latin typeface="Malgun Gothic"/>
                <a:ea typeface="Malgun Gothic"/>
              </a:rPr>
              <a:t>만들어 보는 사람</a:t>
            </a:r>
          </a:p>
        </p:txBody>
      </p:sp>
      <p:sp>
        <p:nvSpPr>
          <p:cNvPr id="100058" name="T4"/>
          <p:cNvSpPr/>
          <p:nvPr/>
        </p:nvSpPr>
        <p:spPr>
          <a:xfrm>
            <a:off x="9082800" y="1656000"/>
            <a:ext cx="2574000" cy="1944000"/>
          </a:xfrm>
          <a:prstGeom prst="roundRect">
            <a:avLst/>
          </a:prstGeom>
          <a:solidFill>
            <a:srgbClr val="F5F6F8"/>
          </a:solidFill>
          <a:ln>
            <a:noFill/>
          </a:ln>
        </p:spPr>
        <p:txBody>
          <a:bodyPr lIns="54000" tIns="54000" rIns="54000" bIns="54000" anchor="ctr"/>
          <a:lstStyle/>
          <a:p>
            <a:pPr algn="ctr"/>
            <a:r>
              <a:rPr lang="en-US" sz="1700" b="1">
                <a:solidFill>
                  <a:srgbClr val="000000"/>
                </a:solidFill>
                <a:latin typeface="Malgun Gothic"/>
                <a:ea typeface="Malgun Gothic"/>
              </a:rPr>
              <a:t>이야기 설계형</a:t>
            </a:r>
          </a:p>
          <a:p>
            <a:pPr algn="ctr"/>
            <a:endParaRPr lang="en-US" sz="1700" b="1">
              <a:solidFill>
                <a:srgbClr val="000000"/>
              </a:solidFill>
              <a:latin typeface="Malgun Gothic"/>
              <a:ea typeface="Malgun Gothic"/>
            </a:endParaRPr>
          </a:p>
          <a:p>
            <a:pPr algn="ctr"/>
            <a:r>
              <a:rPr lang="en-US" sz="1700" b="1">
                <a:solidFill>
                  <a:srgbClr val="000000"/>
                </a:solidFill>
                <a:latin typeface="Malgun Gothic"/>
                <a:ea typeface="Malgun Gothic"/>
              </a:rPr>
              <a:t>마음을 움직이는</a:t>
            </a:r>
          </a:p>
          <a:p>
            <a:pPr algn="ctr"/>
            <a:r>
              <a:rPr lang="en-US" sz="1700" b="1">
                <a:solidFill>
                  <a:srgbClr val="000000"/>
                </a:solidFill>
                <a:latin typeface="Malgun Gothic"/>
                <a:ea typeface="Malgun Gothic"/>
              </a:rPr>
              <a:t>이야기를 입히는 사람</a:t>
            </a:r>
          </a:p>
        </p:txBody>
      </p:sp>
      <p:sp>
        <p:nvSpPr>
          <p:cNvPr id="100059" name="T5"/>
          <p:cNvSpPr/>
          <p:nvPr/>
        </p:nvSpPr>
        <p:spPr>
          <a:xfrm>
            <a:off x="1962000" y="3888000"/>
            <a:ext cx="2574000" cy="1944000"/>
          </a:xfrm>
          <a:prstGeom prst="roundRect">
            <a:avLst/>
          </a:prstGeom>
          <a:solidFill>
            <a:srgbClr val="F5F6F8"/>
          </a:solidFill>
          <a:ln>
            <a:noFill/>
          </a:ln>
        </p:spPr>
        <p:txBody>
          <a:bodyPr lIns="54000" tIns="54000" rIns="54000" bIns="54000" anchor="ctr"/>
          <a:lstStyle/>
          <a:p>
            <a:pPr algn="ctr"/>
            <a:r>
              <a:rPr lang="en-US" sz="1700" b="1">
                <a:solidFill>
                  <a:srgbClr val="000000"/>
                </a:solidFill>
                <a:latin typeface="Malgun Gothic"/>
                <a:ea typeface="Malgun Gothic"/>
              </a:rPr>
              <a:t>감각 창작형</a:t>
            </a:r>
          </a:p>
          <a:p>
            <a:pPr algn="ctr"/>
            <a:endParaRPr lang="en-US" sz="1700" b="1">
              <a:solidFill>
                <a:srgbClr val="000000"/>
              </a:solidFill>
              <a:latin typeface="Malgun Gothic"/>
              <a:ea typeface="Malgun Gothic"/>
            </a:endParaRPr>
          </a:p>
          <a:p>
            <a:pPr algn="ctr"/>
            <a:r>
              <a:rPr lang="en-US" sz="1700" b="1">
                <a:solidFill>
                  <a:srgbClr val="000000"/>
                </a:solidFill>
                <a:latin typeface="Malgun Gothic"/>
                <a:ea typeface="Malgun Gothic"/>
              </a:rPr>
              <a:t>새로운 시선으로</a:t>
            </a:r>
          </a:p>
          <a:p>
            <a:pPr algn="ctr"/>
            <a:r>
              <a:rPr lang="en-US" sz="1700" b="1">
                <a:solidFill>
                  <a:srgbClr val="000000"/>
                </a:solidFill>
                <a:latin typeface="Malgun Gothic"/>
                <a:ea typeface="Malgun Gothic"/>
              </a:rPr>
              <a:t>장면을 만드는 사람</a:t>
            </a:r>
          </a:p>
        </p:txBody>
      </p:sp>
      <p:sp>
        <p:nvSpPr>
          <p:cNvPr id="100060" name="T6"/>
          <p:cNvSpPr/>
          <p:nvPr/>
        </p:nvSpPr>
        <p:spPr>
          <a:xfrm>
            <a:off x="4809600" y="3888000"/>
            <a:ext cx="2574000" cy="1944000"/>
          </a:xfrm>
          <a:prstGeom prst="roundRect">
            <a:avLst/>
          </a:prstGeom>
          <a:solidFill>
            <a:srgbClr val="F5F6F8"/>
          </a:solidFill>
          <a:ln>
            <a:noFill/>
          </a:ln>
        </p:spPr>
        <p:txBody>
          <a:bodyPr lIns="54000" tIns="54000" rIns="54000" bIns="54000" anchor="ctr"/>
          <a:lstStyle/>
          <a:p>
            <a:pPr algn="ctr"/>
            <a:r>
              <a:rPr lang="en-US" sz="1700" b="1">
                <a:solidFill>
                  <a:srgbClr val="000000"/>
                </a:solidFill>
                <a:latin typeface="Malgun Gothic"/>
                <a:ea typeface="Malgun Gothic"/>
              </a:rPr>
              <a:t>공감 연결형</a:t>
            </a:r>
          </a:p>
          <a:p>
            <a:pPr algn="ctr"/>
            <a:endParaRPr lang="en-US" sz="1700" b="1">
              <a:solidFill>
                <a:srgbClr val="000000"/>
              </a:solidFill>
              <a:latin typeface="Malgun Gothic"/>
              <a:ea typeface="Malgun Gothic"/>
            </a:endParaRPr>
          </a:p>
          <a:p>
            <a:pPr algn="ctr"/>
            <a:r>
              <a:rPr lang="en-US" sz="1700" b="1">
                <a:solidFill>
                  <a:srgbClr val="000000"/>
                </a:solidFill>
                <a:latin typeface="Malgun Gothic"/>
                <a:ea typeface="Malgun Gothic"/>
              </a:rPr>
              <a:t>사람 사이의 변화를</a:t>
            </a:r>
          </a:p>
          <a:p>
            <a:pPr algn="ctr"/>
            <a:r>
              <a:rPr lang="en-US" sz="1700" b="1">
                <a:solidFill>
                  <a:srgbClr val="000000"/>
                </a:solidFill>
                <a:latin typeface="Malgun Gothic"/>
                <a:ea typeface="Malgun Gothic"/>
              </a:rPr>
              <a:t>연결하는 사람</a:t>
            </a:r>
          </a:p>
        </p:txBody>
      </p:sp>
      <p:sp>
        <p:nvSpPr>
          <p:cNvPr id="100061" name="T7"/>
          <p:cNvSpPr/>
          <p:nvPr/>
        </p:nvSpPr>
        <p:spPr>
          <a:xfrm>
            <a:off x="7657200" y="3888000"/>
            <a:ext cx="2574000" cy="1944000"/>
          </a:xfrm>
          <a:prstGeom prst="roundRect">
            <a:avLst/>
          </a:prstGeom>
          <a:solidFill>
            <a:srgbClr val="2563EB"/>
          </a:solidFill>
          <a:ln>
            <a:noFill/>
          </a:ln>
        </p:spPr>
        <p:txBody>
          <a:bodyPr lIns="54000" tIns="54000" rIns="54000" bIns="54000" anchor="ctr"/>
          <a:lstStyle/>
          <a:p>
            <a:pPr algn="ctr"/>
            <a:r>
              <a:rPr lang="en-US" sz="1700" b="1">
                <a:solidFill>
                  <a:srgbClr val="FFFFFF"/>
                </a:solidFill>
                <a:latin typeface="Malgun Gothic"/>
                <a:ea typeface="Malgun Gothic"/>
              </a:rPr>
              <a:t>사회 변화형</a:t>
            </a:r>
          </a:p>
          <a:p>
            <a:pPr algn="ctr"/>
            <a:endParaRPr lang="en-US" sz="1700" b="1">
              <a:solidFill>
                <a:srgbClr val="FFFFFF"/>
              </a:solidFill>
              <a:latin typeface="Malgun Gothic"/>
              <a:ea typeface="Malgun Gothic"/>
            </a:endParaRPr>
          </a:p>
          <a:p>
            <a:pPr algn="ctr"/>
            <a:r>
              <a:rPr lang="en-US" sz="1700" b="1">
                <a:solidFill>
                  <a:srgbClr val="FFFFFF"/>
                </a:solidFill>
                <a:latin typeface="Malgun Gothic"/>
                <a:ea typeface="Malgun Gothic"/>
              </a:rPr>
              <a:t>작은 제안으로 사회의</a:t>
            </a:r>
          </a:p>
          <a:p>
            <a:pPr algn="ctr"/>
            <a:r>
              <a:rPr lang="en-US" sz="1700" b="1">
                <a:solidFill>
                  <a:srgbClr val="FFFFFF"/>
                </a:solidFill>
                <a:latin typeface="Malgun Gothic"/>
                <a:ea typeface="Malgun Gothic"/>
              </a:rPr>
              <a:t>방향을 만드는 사람</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63"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검사에서 끝나지 않는다</a:t>
            </a:r>
          </a:p>
        </p:txBody>
      </p:sp>
      <p:sp>
        <p:nvSpPr>
          <p:cNvPr id="100064" name="R1Dot"/>
          <p:cNvSpPr/>
          <p:nvPr/>
        </p:nvSpPr>
        <p:spPr>
          <a:xfrm>
            <a:off x="684000" y="1764000"/>
            <a:ext cx="144000" cy="144000"/>
          </a:xfrm>
          <a:prstGeom prst="ellipse">
            <a:avLst/>
          </a:prstGeom>
          <a:solidFill>
            <a:schemeClr val="tx1">
              <a:lumMod val="85000"/>
              <a:lumOff val="15000"/>
            </a:schemeClr>
          </a:solidFill>
          <a:ln>
            <a:noFill/>
          </a:ln>
        </p:spPr>
        <p:txBody>
          <a:bodyPr/>
          <a:lstStyle/>
          <a:p>
            <a:endParaRPr/>
          </a:p>
        </p:txBody>
      </p:sp>
      <p:sp>
        <p:nvSpPr>
          <p:cNvPr id="100065" name="R1"/>
          <p:cNvSpPr txBox="1"/>
          <p:nvPr/>
        </p:nvSpPr>
        <p:spPr>
          <a:xfrm>
            <a:off x="1044000" y="1584000"/>
            <a:ext cx="4860000" cy="468000"/>
          </a:xfrm>
          <a:prstGeom prst="rect">
            <a:avLst/>
          </a:prstGeom>
        </p:spPr>
        <p:txBody>
          <a:bodyPr/>
          <a:lstStyle/>
          <a:p>
            <a:r>
              <a:rPr lang="en-US" sz="1800" b="1">
                <a:solidFill>
                  <a:srgbClr val="000000"/>
                </a:solidFill>
                <a:latin typeface="Malgun Gothic"/>
                <a:ea typeface="Malgun Gothic"/>
              </a:rPr>
              <a:t>강점 3개 · 보완점 2개</a:t>
            </a:r>
          </a:p>
        </p:txBody>
      </p:sp>
      <p:sp>
        <p:nvSpPr>
          <p:cNvPr id="100066" name="R2Dot"/>
          <p:cNvSpPr/>
          <p:nvPr/>
        </p:nvSpPr>
        <p:spPr>
          <a:xfrm>
            <a:off x="684000" y="2556000"/>
            <a:ext cx="144000" cy="144000"/>
          </a:xfrm>
          <a:prstGeom prst="ellipse">
            <a:avLst/>
          </a:prstGeom>
          <a:solidFill>
            <a:schemeClr val="tx1">
              <a:lumMod val="85000"/>
              <a:lumOff val="15000"/>
            </a:schemeClr>
          </a:solidFill>
          <a:ln>
            <a:noFill/>
          </a:ln>
        </p:spPr>
        <p:txBody>
          <a:bodyPr/>
          <a:lstStyle/>
          <a:p>
            <a:endParaRPr/>
          </a:p>
        </p:txBody>
      </p:sp>
      <p:sp>
        <p:nvSpPr>
          <p:cNvPr id="100067" name="R2"/>
          <p:cNvSpPr txBox="1"/>
          <p:nvPr/>
        </p:nvSpPr>
        <p:spPr>
          <a:xfrm>
            <a:off x="1044000" y="2376000"/>
            <a:ext cx="4860000" cy="468000"/>
          </a:xfrm>
          <a:prstGeom prst="rect">
            <a:avLst/>
          </a:prstGeom>
        </p:spPr>
        <p:txBody>
          <a:bodyPr/>
          <a:lstStyle/>
          <a:p>
            <a:r>
              <a:rPr lang="en-US" sz="1800" b="1">
                <a:solidFill>
                  <a:srgbClr val="000000"/>
                </a:solidFill>
                <a:latin typeface="Malgun Gothic"/>
                <a:ea typeface="Malgun Gothic"/>
              </a:rPr>
              <a:t>팀에서의 나의 역할</a:t>
            </a:r>
          </a:p>
        </p:txBody>
      </p:sp>
      <p:sp>
        <p:nvSpPr>
          <p:cNvPr id="100068" name="R3Dot"/>
          <p:cNvSpPr/>
          <p:nvPr/>
        </p:nvSpPr>
        <p:spPr>
          <a:xfrm>
            <a:off x="684000" y="3348000"/>
            <a:ext cx="144000" cy="144000"/>
          </a:xfrm>
          <a:prstGeom prst="ellipse">
            <a:avLst/>
          </a:prstGeom>
          <a:solidFill>
            <a:schemeClr val="tx1">
              <a:lumMod val="85000"/>
              <a:lumOff val="15000"/>
            </a:schemeClr>
          </a:solidFill>
          <a:ln>
            <a:noFill/>
          </a:ln>
        </p:spPr>
        <p:txBody>
          <a:bodyPr/>
          <a:lstStyle/>
          <a:p>
            <a:endParaRPr/>
          </a:p>
        </p:txBody>
      </p:sp>
      <p:sp>
        <p:nvSpPr>
          <p:cNvPr id="100069" name="R3"/>
          <p:cNvSpPr txBox="1"/>
          <p:nvPr/>
        </p:nvSpPr>
        <p:spPr>
          <a:xfrm>
            <a:off x="1044000" y="3168000"/>
            <a:ext cx="4860000" cy="468000"/>
          </a:xfrm>
          <a:prstGeom prst="rect">
            <a:avLst/>
          </a:prstGeom>
        </p:spPr>
        <p:txBody>
          <a:bodyPr/>
          <a:lstStyle/>
          <a:p>
            <a:r>
              <a:rPr lang="en-US" sz="1800" b="1">
                <a:solidFill>
                  <a:srgbClr val="000000"/>
                </a:solidFill>
                <a:latin typeface="Malgun Gothic"/>
                <a:ea typeface="Malgun Gothic"/>
              </a:rPr>
              <a:t>준비 로드맵 4단계</a:t>
            </a:r>
          </a:p>
        </p:txBody>
      </p:sp>
      <p:sp>
        <p:nvSpPr>
          <p:cNvPr id="100070" name="R4Dot"/>
          <p:cNvSpPr/>
          <p:nvPr/>
        </p:nvSpPr>
        <p:spPr>
          <a:xfrm>
            <a:off x="684000" y="4140000"/>
            <a:ext cx="144000" cy="144000"/>
          </a:xfrm>
          <a:prstGeom prst="ellipse">
            <a:avLst/>
          </a:prstGeom>
          <a:solidFill>
            <a:schemeClr val="tx1">
              <a:lumMod val="85000"/>
              <a:lumOff val="15000"/>
            </a:schemeClr>
          </a:solidFill>
          <a:ln>
            <a:noFill/>
          </a:ln>
        </p:spPr>
        <p:txBody>
          <a:bodyPr/>
          <a:lstStyle/>
          <a:p>
            <a:endParaRPr/>
          </a:p>
        </p:txBody>
      </p:sp>
      <p:sp>
        <p:nvSpPr>
          <p:cNvPr id="100071" name="R4"/>
          <p:cNvSpPr txBox="1"/>
          <p:nvPr/>
        </p:nvSpPr>
        <p:spPr>
          <a:xfrm>
            <a:off x="1044000" y="3960000"/>
            <a:ext cx="4860000" cy="468000"/>
          </a:xfrm>
          <a:prstGeom prst="rect">
            <a:avLst/>
          </a:prstGeom>
        </p:spPr>
        <p:txBody>
          <a:bodyPr/>
          <a:lstStyle/>
          <a:p>
            <a:r>
              <a:rPr lang="en-US" sz="1800" b="1">
                <a:solidFill>
                  <a:srgbClr val="000000"/>
                </a:solidFill>
                <a:latin typeface="Malgun Gothic"/>
                <a:ea typeface="Malgun Gothic"/>
              </a:rPr>
              <a:t>잘 맞는 시너지 유형</a:t>
            </a:r>
          </a:p>
        </p:txBody>
      </p:sp>
      <p:sp>
        <p:nvSpPr>
          <p:cNvPr id="100072" name="R5Dot"/>
          <p:cNvSpPr/>
          <p:nvPr/>
        </p:nvSpPr>
        <p:spPr>
          <a:xfrm>
            <a:off x="684000" y="4932000"/>
            <a:ext cx="144000" cy="144000"/>
          </a:xfrm>
          <a:prstGeom prst="ellipse">
            <a:avLst/>
          </a:prstGeom>
          <a:solidFill>
            <a:schemeClr val="tx1">
              <a:lumMod val="85000"/>
              <a:lumOff val="15000"/>
            </a:schemeClr>
          </a:solidFill>
          <a:ln>
            <a:noFill/>
          </a:ln>
        </p:spPr>
        <p:txBody>
          <a:bodyPr/>
          <a:lstStyle/>
          <a:p>
            <a:endParaRPr/>
          </a:p>
        </p:txBody>
      </p:sp>
      <p:sp>
        <p:nvSpPr>
          <p:cNvPr id="100073" name="R5"/>
          <p:cNvSpPr txBox="1"/>
          <p:nvPr/>
        </p:nvSpPr>
        <p:spPr>
          <a:xfrm>
            <a:off x="1044000" y="4752000"/>
            <a:ext cx="4860000" cy="468000"/>
          </a:xfrm>
          <a:prstGeom prst="rect">
            <a:avLst/>
          </a:prstGeom>
        </p:spPr>
        <p:txBody>
          <a:bodyPr/>
          <a:lstStyle/>
          <a:p>
            <a:r>
              <a:rPr lang="en-US" sz="1800" b="1">
                <a:solidFill>
                  <a:srgbClr val="000000"/>
                </a:solidFill>
                <a:latin typeface="Malgun Gothic"/>
                <a:ea typeface="Malgun Gothic"/>
              </a:rPr>
              <a:t>맞춤 아이디어 힌트 3개</a:t>
            </a:r>
          </a:p>
        </p:txBody>
      </p:sp>
      <p:sp>
        <p:nvSpPr>
          <p:cNvPr id="100074" name="NextCard"/>
          <p:cNvSpPr/>
          <p:nvPr/>
        </p:nvSpPr>
        <p:spPr>
          <a:xfrm>
            <a:off x="6552000" y="1584000"/>
            <a:ext cx="5112000" cy="3672000"/>
          </a:xfrm>
          <a:prstGeom prst="roundRect">
            <a:avLst/>
          </a:prstGeom>
          <a:solidFill>
            <a:srgbClr val="EFF6FF"/>
          </a:solidFill>
          <a:ln>
            <a:noFill/>
          </a:ln>
        </p:spPr>
        <p:txBody>
          <a:bodyPr/>
          <a:lstStyle/>
          <a:p>
            <a:endParaRPr/>
          </a:p>
        </p:txBody>
      </p:sp>
      <p:sp>
        <p:nvSpPr>
          <p:cNvPr id="100075" name="NextTitle"/>
          <p:cNvSpPr txBox="1"/>
          <p:nvPr/>
        </p:nvSpPr>
        <p:spPr>
          <a:xfrm>
            <a:off x="6912000" y="1944000"/>
            <a:ext cx="4392000" cy="504000"/>
          </a:xfrm>
          <a:prstGeom prst="rect">
            <a:avLst/>
          </a:prstGeom>
        </p:spPr>
        <p:txBody>
          <a:bodyPr/>
          <a:lstStyle/>
          <a:p>
            <a:r>
              <a:rPr lang="en-US" sz="2000" b="1">
                <a:solidFill>
                  <a:srgbClr val="2563EB"/>
                </a:solidFill>
                <a:latin typeface="Malgun Gothic"/>
                <a:ea typeface="Malgun Gothic"/>
              </a:rPr>
              <a:t>결과가 곧 시작점</a:t>
            </a:r>
          </a:p>
        </p:txBody>
      </p:sp>
      <p:sp>
        <p:nvSpPr>
          <p:cNvPr id="100076" name="NextBody"/>
          <p:cNvSpPr txBox="1"/>
          <p:nvPr/>
        </p:nvSpPr>
        <p:spPr>
          <a:xfrm>
            <a:off x="6912000" y="2664000"/>
            <a:ext cx="4392000" cy="2232000"/>
          </a:xfrm>
          <a:prstGeom prst="rect">
            <a:avLst/>
          </a:prstGeom>
        </p:spPr>
        <p:txBody>
          <a:bodyPr/>
          <a:lstStyle/>
          <a:p>
            <a:r>
              <a:rPr lang="en-US" sz="1600">
                <a:solidFill>
                  <a:srgbClr val="1F2937"/>
                </a:solidFill>
                <a:latin typeface="Malgun Gothic"/>
                <a:ea typeface="Malgun Gothic"/>
              </a:rPr>
              <a:t>유형에 맞는 예시 아이디어 3개가</a:t>
            </a:r>
          </a:p>
          <a:p>
            <a:r>
              <a:rPr lang="en-US" sz="1600">
                <a:solidFill>
                  <a:srgbClr val="1F2937"/>
                </a:solidFill>
                <a:latin typeface="Malgun Gothic"/>
                <a:ea typeface="Malgun Gothic"/>
              </a:rPr>
              <a:t>아이디어 입력 화면으로 그대로 전달되고,</a:t>
            </a:r>
          </a:p>
          <a:p>
            <a:r>
              <a:rPr lang="en-US" sz="1600">
                <a:solidFill>
                  <a:srgbClr val="1F2937"/>
                </a:solidFill>
                <a:latin typeface="Malgun Gothic"/>
                <a:ea typeface="Malgun Gothic"/>
              </a:rPr>
              <a:t>관심 분야는 자동으로 채워집니다.</a:t>
            </a:r>
          </a:p>
          <a:p>
            <a:endParaRPr lang="en-US" sz="1600">
              <a:solidFill>
                <a:srgbClr val="1F2937"/>
              </a:solidFill>
              <a:latin typeface="Malgun Gothic"/>
              <a:ea typeface="Malgun Gothic"/>
            </a:endParaRPr>
          </a:p>
          <a:p>
            <a:r>
              <a:rPr lang="en-US" sz="1600">
                <a:solidFill>
                  <a:srgbClr val="1F2937"/>
                </a:solidFill>
                <a:latin typeface="Malgun Gothic"/>
                <a:ea typeface="Malgun Gothic"/>
              </a:rPr>
              <a:t>검사 → 입력 → 분석이 끊기지 않고</a:t>
            </a:r>
          </a:p>
          <a:p>
            <a:r>
              <a:rPr lang="en-US" sz="1600">
                <a:solidFill>
                  <a:srgbClr val="1F2937"/>
                </a:solidFill>
                <a:latin typeface="Malgun Gothic"/>
                <a:ea typeface="Malgun Gothic"/>
              </a:rPr>
              <a:t>이어지는 구조입니다.</a:t>
            </a:r>
          </a:p>
        </p:txBody>
      </p:sp>
      <p:sp>
        <p:nvSpPr>
          <p:cNvPr id="100077" name="Bottom"/>
          <p:cNvSpPr txBox="1"/>
          <p:nvPr/>
        </p:nvSpPr>
        <p:spPr>
          <a:xfrm>
            <a:off x="540000" y="5832000"/>
            <a:ext cx="11113200" cy="576000"/>
          </a:xfrm>
          <a:prstGeom prst="rect">
            <a:avLst/>
          </a:prstGeom>
        </p:spPr>
        <p:txBody>
          <a:bodyPr/>
          <a:lstStyle/>
          <a:p>
            <a:r>
              <a:rPr lang="en-US" sz="2000" b="1">
                <a:solidFill>
                  <a:srgbClr val="000000"/>
                </a:solidFill>
                <a:latin typeface="Malgun Gothic"/>
                <a:ea typeface="Malgun Gothic"/>
              </a:rPr>
              <a:t>성향 진단이 출품 준비의 첫 단계가 됩니다.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79"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기존 공모전 사이트와의 차이</a:t>
            </a:r>
          </a:p>
        </p:txBody>
      </p:sp>
      <p:sp>
        <p:nvSpPr>
          <p:cNvPr id="100080" name="HeadL"/>
          <p:cNvSpPr txBox="1"/>
          <p:nvPr/>
        </p:nvSpPr>
        <p:spPr>
          <a:xfrm>
            <a:off x="540000" y="1296000"/>
            <a:ext cx="5436000" cy="432000"/>
          </a:xfrm>
          <a:prstGeom prst="rect">
            <a:avLst/>
          </a:prstGeom>
        </p:spPr>
        <p:txBody>
          <a:bodyPr/>
          <a:lstStyle/>
          <a:p>
            <a:r>
              <a:rPr lang="en-US" sz="1800" b="1">
                <a:solidFill>
                  <a:srgbClr val="6B7280"/>
                </a:solidFill>
                <a:latin typeface="Malgun Gothic"/>
                <a:ea typeface="Malgun Gothic"/>
              </a:rPr>
              <a:t>기존 공모전 사이트</a:t>
            </a:r>
          </a:p>
        </p:txBody>
      </p:sp>
      <p:sp>
        <p:nvSpPr>
          <p:cNvPr id="100081" name="HeadR"/>
          <p:cNvSpPr txBox="1"/>
          <p:nvPr/>
        </p:nvSpPr>
        <p:spPr>
          <a:xfrm>
            <a:off x="6249600" y="1296000"/>
            <a:ext cx="5403600" cy="432000"/>
          </a:xfrm>
          <a:prstGeom prst="rect">
            <a:avLst/>
          </a:prstGeom>
        </p:spPr>
        <p:txBody>
          <a:bodyPr/>
          <a:lstStyle/>
          <a:p>
            <a:r>
              <a:rPr lang="en-US" sz="1800" b="1">
                <a:solidFill>
                  <a:srgbClr val="2563EB"/>
                </a:solidFill>
                <a:latin typeface="Malgun Gothic"/>
                <a:ea typeface="Malgun Gothic"/>
              </a:rPr>
              <a:t>공모온</a:t>
            </a:r>
          </a:p>
        </p:txBody>
      </p:sp>
      <p:sp>
        <p:nvSpPr>
          <p:cNvPr id="100082" name="L1"/>
          <p:cNvSpPr/>
          <p:nvPr/>
        </p:nvSpPr>
        <p:spPr>
          <a:xfrm>
            <a:off x="540000" y="1872000"/>
            <a:ext cx="5436000" cy="1224000"/>
          </a:xfrm>
          <a:prstGeom prst="roundRect">
            <a:avLst/>
          </a:prstGeom>
          <a:solidFill>
            <a:srgbClr val="F5F6F8"/>
          </a:solidFill>
          <a:ln>
            <a:noFill/>
          </a:ln>
        </p:spPr>
        <p:txBody>
          <a:bodyPr anchor="ctr"/>
          <a:lstStyle/>
          <a:p>
            <a:pPr algn="ctr"/>
            <a:r>
              <a:rPr lang="en-US" sz="1700">
                <a:solidFill>
                  <a:srgbClr val="4B5563"/>
                </a:solidFill>
                <a:latin typeface="Malgun Gothic"/>
                <a:ea typeface="Malgun Gothic"/>
              </a:rPr>
              <a:t>공모전 목록만 나열한다</a:t>
            </a:r>
          </a:p>
        </p:txBody>
      </p:sp>
      <p:sp>
        <p:nvSpPr>
          <p:cNvPr id="100083" name="R1"/>
          <p:cNvSpPr/>
          <p:nvPr/>
        </p:nvSpPr>
        <p:spPr>
          <a:xfrm>
            <a:off x="6249600" y="1872000"/>
            <a:ext cx="5403600" cy="1224000"/>
          </a:xfrm>
          <a:prstGeom prst="roundRect">
            <a:avLst/>
          </a:prstGeom>
          <a:solidFill>
            <a:srgbClr val="2563EB"/>
          </a:solidFill>
          <a:ln>
            <a:noFill/>
          </a:ln>
        </p:spPr>
        <p:txBody>
          <a:bodyPr anchor="ctr"/>
          <a:lstStyle/>
          <a:p>
            <a:pPr algn="ctr"/>
            <a:r>
              <a:rPr lang="en-US" sz="1700" b="1">
                <a:solidFill>
                  <a:srgbClr val="FFFFFF"/>
                </a:solidFill>
                <a:latin typeface="Malgun Gothic"/>
                <a:ea typeface="Malgun Gothic"/>
              </a:rPr>
              <a:t>유형 검사에서 시작해</a:t>
            </a:r>
          </a:p>
          <a:p>
            <a:pPr algn="ctr"/>
            <a:r>
              <a:rPr lang="en-US" sz="1700" b="1">
                <a:solidFill>
                  <a:srgbClr val="FFFFFF"/>
                </a:solidFill>
                <a:latin typeface="Malgun Gothic"/>
                <a:ea typeface="Malgun Gothic"/>
              </a:rPr>
              <a:t>준비 전 과정을 함께한다</a:t>
            </a:r>
          </a:p>
        </p:txBody>
      </p:sp>
      <p:sp>
        <p:nvSpPr>
          <p:cNvPr id="100084" name="L2"/>
          <p:cNvSpPr/>
          <p:nvPr/>
        </p:nvSpPr>
        <p:spPr>
          <a:xfrm>
            <a:off x="540000" y="3312000"/>
            <a:ext cx="5436000" cy="1224000"/>
          </a:xfrm>
          <a:prstGeom prst="roundRect">
            <a:avLst/>
          </a:prstGeom>
          <a:solidFill>
            <a:srgbClr val="F5F6F8"/>
          </a:solidFill>
          <a:ln>
            <a:noFill/>
          </a:ln>
        </p:spPr>
        <p:txBody>
          <a:bodyPr anchor="ctr"/>
          <a:lstStyle/>
          <a:p>
            <a:pPr algn="ctr"/>
            <a:r>
              <a:rPr lang="en-US" sz="1700">
                <a:solidFill>
                  <a:srgbClr val="4B5563"/>
                </a:solidFill>
                <a:latin typeface="Malgun Gothic"/>
                <a:ea typeface="Malgun Gothic"/>
              </a:rPr>
              <a:t>키워드 검색에 의존한다</a:t>
            </a:r>
          </a:p>
        </p:txBody>
      </p:sp>
      <p:sp>
        <p:nvSpPr>
          <p:cNvPr id="100085" name="R2"/>
          <p:cNvSpPr/>
          <p:nvPr/>
        </p:nvSpPr>
        <p:spPr>
          <a:xfrm>
            <a:off x="6249600" y="3312000"/>
            <a:ext cx="5403600" cy="1224000"/>
          </a:xfrm>
          <a:prstGeom prst="roundRect">
            <a:avLst/>
          </a:prstGeom>
          <a:solidFill>
            <a:srgbClr val="EFF6FF"/>
          </a:solidFill>
          <a:ln>
            <a:noFill/>
          </a:ln>
        </p:spPr>
        <p:txBody>
          <a:bodyPr anchor="ctr"/>
          <a:lstStyle/>
          <a:p>
            <a:pPr algn="ctr"/>
            <a:r>
              <a:rPr lang="en-US" sz="1700" b="1">
                <a:solidFill>
                  <a:srgbClr val="000000"/>
                </a:solidFill>
                <a:latin typeface="Malgun Gothic"/>
                <a:ea typeface="Malgun Gothic"/>
              </a:rPr>
              <a:t>아이디어 내용 기반</a:t>
            </a:r>
          </a:p>
          <a:p>
            <a:pPr algn="ctr"/>
            <a:r>
              <a:rPr lang="en-US" sz="1700" b="1">
                <a:solidFill>
                  <a:srgbClr val="000000"/>
                </a:solidFill>
                <a:latin typeface="Malgun Gothic"/>
                <a:ea typeface="Malgun Gothic"/>
              </a:rPr>
              <a:t>적합도(%)와 추천 이유 제시</a:t>
            </a:r>
          </a:p>
        </p:txBody>
      </p:sp>
      <p:sp>
        <p:nvSpPr>
          <p:cNvPr id="100086" name="L3"/>
          <p:cNvSpPr/>
          <p:nvPr/>
        </p:nvSpPr>
        <p:spPr>
          <a:xfrm>
            <a:off x="540000" y="4752000"/>
            <a:ext cx="5436000" cy="1224000"/>
          </a:xfrm>
          <a:prstGeom prst="roundRect">
            <a:avLst/>
          </a:prstGeom>
          <a:solidFill>
            <a:srgbClr val="F5F6F8"/>
          </a:solidFill>
          <a:ln>
            <a:noFill/>
          </a:ln>
        </p:spPr>
        <p:txBody>
          <a:bodyPr anchor="ctr"/>
          <a:lstStyle/>
          <a:p>
            <a:pPr algn="ctr"/>
            <a:r>
              <a:rPr lang="en-US" sz="1700">
                <a:solidFill>
                  <a:srgbClr val="4B5563"/>
                </a:solidFill>
                <a:latin typeface="Malgun Gothic"/>
                <a:ea typeface="Malgun Gothic"/>
              </a:rPr>
              <a:t>준비는 각자의 몫으로 남는다</a:t>
            </a:r>
          </a:p>
        </p:txBody>
      </p:sp>
      <p:sp>
        <p:nvSpPr>
          <p:cNvPr id="100087" name="R3"/>
          <p:cNvSpPr/>
          <p:nvPr/>
        </p:nvSpPr>
        <p:spPr>
          <a:xfrm>
            <a:off x="6249600" y="4752000"/>
            <a:ext cx="5403600" cy="1224000"/>
          </a:xfrm>
          <a:prstGeom prst="roundRect">
            <a:avLst/>
          </a:prstGeom>
          <a:solidFill>
            <a:srgbClr val="EFF6FF"/>
          </a:solidFill>
          <a:ln>
            <a:noFill/>
          </a:ln>
        </p:spPr>
        <p:txBody>
          <a:bodyPr anchor="ctr"/>
          <a:lstStyle/>
          <a:p>
            <a:pPr algn="ctr"/>
            <a:r>
              <a:rPr lang="en-US" sz="1700" b="1">
                <a:solidFill>
                  <a:srgbClr val="000000"/>
                </a:solidFill>
                <a:latin typeface="Malgun Gothic"/>
                <a:ea typeface="Malgun Gothic"/>
              </a:rPr>
              <a:t>제안서 초안·예상 질문 연습</a:t>
            </a:r>
          </a:p>
          <a:p>
            <a:pPr algn="ctr"/>
            <a:r>
              <a:rPr lang="en-US" sz="1700" b="1">
                <a:solidFill>
                  <a:srgbClr val="000000"/>
                </a:solidFill>
                <a:latin typeface="Malgun Gothic"/>
                <a:ea typeface="Malgun Gothic"/>
              </a:rPr>
              <a:t>노트까지 제공</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89"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검사 이후의 준비도 함께</a:t>
            </a:r>
          </a:p>
        </p:txBody>
      </p:sp>
      <p:sp>
        <p:nvSpPr>
          <p:cNvPr id="100090" name="F1"/>
          <p:cNvSpPr/>
          <p:nvPr/>
        </p:nvSpPr>
        <p:spPr>
          <a:xfrm>
            <a:off x="540000" y="1368000"/>
            <a:ext cx="5421600" cy="2304000"/>
          </a:xfrm>
          <a:prstGeom prst="roundRect">
            <a:avLst/>
          </a:prstGeom>
          <a:solidFill>
            <a:srgbClr val="F5F6F8"/>
          </a:solidFill>
          <a:ln>
            <a:noFill/>
          </a:ln>
        </p:spPr>
        <p:txBody>
          <a:bodyPr/>
          <a:lstStyle/>
          <a:p>
            <a:endParaRPr/>
          </a:p>
        </p:txBody>
      </p:sp>
      <p:sp>
        <p:nvSpPr>
          <p:cNvPr id="100091" name="F1T"/>
          <p:cNvSpPr txBox="1"/>
          <p:nvPr/>
        </p:nvSpPr>
        <p:spPr>
          <a:xfrm>
            <a:off x="828000" y="1656000"/>
            <a:ext cx="4860000" cy="468000"/>
          </a:xfrm>
          <a:prstGeom prst="rect">
            <a:avLst/>
          </a:prstGeom>
        </p:spPr>
        <p:txBody>
          <a:bodyPr/>
          <a:lstStyle/>
          <a:p>
            <a:r>
              <a:rPr lang="en-US" sz="1900" b="1">
                <a:solidFill>
                  <a:srgbClr val="000000"/>
                </a:solidFill>
                <a:latin typeface="Malgun Gothic"/>
                <a:ea typeface="Malgun Gothic"/>
              </a:rPr>
              <a:t>AI 아이디어 분석</a:t>
            </a:r>
          </a:p>
        </p:txBody>
      </p:sp>
      <p:sp>
        <p:nvSpPr>
          <p:cNvPr id="100092" name="F1B"/>
          <p:cNvSpPr txBox="1"/>
          <p:nvPr/>
        </p:nvSpPr>
        <p:spPr>
          <a:xfrm>
            <a:off x="828000" y="2232000"/>
            <a:ext cx="4860000" cy="1224000"/>
          </a:xfrm>
          <a:prstGeom prst="rect">
            <a:avLst/>
          </a:prstGeom>
        </p:spPr>
        <p:txBody>
          <a:bodyPr/>
          <a:lstStyle/>
          <a:p>
            <a:r>
              <a:rPr lang="en-US" sz="1450">
                <a:solidFill>
                  <a:srgbClr val="4B5563"/>
                </a:solidFill>
                <a:latin typeface="Malgun Gothic"/>
                <a:ea typeface="Malgun Gothic"/>
              </a:rPr>
              <a:t>강점·보완점·심사 포인트를 분석하고,</a:t>
            </a:r>
          </a:p>
          <a:p>
            <a:r>
              <a:rPr lang="en-US" sz="1450">
                <a:solidFill>
                  <a:srgbClr val="4B5563"/>
                </a:solidFill>
                <a:latin typeface="Malgun Gothic"/>
                <a:ea typeface="Malgun Gothic"/>
              </a:rPr>
              <a:t>어울리는 공모전을 적합도(%)와</a:t>
            </a:r>
          </a:p>
          <a:p>
            <a:r>
              <a:rPr lang="en-US" sz="1450">
                <a:solidFill>
                  <a:srgbClr val="4B5563"/>
                </a:solidFill>
                <a:latin typeface="Malgun Gothic"/>
                <a:ea typeface="Malgun Gothic"/>
              </a:rPr>
              <a:t>추천 이유로 제안합니다.</a:t>
            </a:r>
          </a:p>
        </p:txBody>
      </p:sp>
      <p:sp>
        <p:nvSpPr>
          <p:cNvPr id="100093" name="F2"/>
          <p:cNvSpPr/>
          <p:nvPr/>
        </p:nvSpPr>
        <p:spPr>
          <a:xfrm>
            <a:off x="6249600" y="1368000"/>
            <a:ext cx="5421600" cy="2304000"/>
          </a:xfrm>
          <a:prstGeom prst="roundRect">
            <a:avLst/>
          </a:prstGeom>
          <a:solidFill>
            <a:srgbClr val="F5F6F8"/>
          </a:solidFill>
          <a:ln>
            <a:noFill/>
          </a:ln>
        </p:spPr>
        <p:txBody>
          <a:bodyPr/>
          <a:lstStyle/>
          <a:p>
            <a:endParaRPr/>
          </a:p>
        </p:txBody>
      </p:sp>
      <p:sp>
        <p:nvSpPr>
          <p:cNvPr id="100094" name="F2T"/>
          <p:cNvSpPr txBox="1"/>
          <p:nvPr/>
        </p:nvSpPr>
        <p:spPr>
          <a:xfrm>
            <a:off x="6537600" y="1656000"/>
            <a:ext cx="4860000" cy="468000"/>
          </a:xfrm>
          <a:prstGeom prst="rect">
            <a:avLst/>
          </a:prstGeom>
        </p:spPr>
        <p:txBody>
          <a:bodyPr/>
          <a:lstStyle/>
          <a:p>
            <a:r>
              <a:rPr lang="en-US" sz="1900" b="1">
                <a:solidFill>
                  <a:srgbClr val="000000"/>
                </a:solidFill>
                <a:latin typeface="Malgun Gothic"/>
                <a:ea typeface="Malgun Gothic"/>
              </a:rPr>
              <a:t>제안서 초안 만들기</a:t>
            </a:r>
          </a:p>
        </p:txBody>
      </p:sp>
      <p:sp>
        <p:nvSpPr>
          <p:cNvPr id="100095" name="F2B"/>
          <p:cNvSpPr txBox="1"/>
          <p:nvPr/>
        </p:nvSpPr>
        <p:spPr>
          <a:xfrm>
            <a:off x="6537600" y="2232000"/>
            <a:ext cx="4860000" cy="1224000"/>
          </a:xfrm>
          <a:prstGeom prst="rect">
            <a:avLst/>
          </a:prstGeom>
        </p:spPr>
        <p:txBody>
          <a:bodyPr/>
          <a:lstStyle/>
          <a:p>
            <a:r>
              <a:rPr lang="en-US" sz="1450">
                <a:solidFill>
                  <a:srgbClr val="4B5563"/>
                </a:solidFill>
                <a:latin typeface="Malgun Gothic"/>
                <a:ea typeface="Malgun Gothic"/>
              </a:rPr>
              <a:t>분석 결과를 문제 정의부터 심사 대응까지</a:t>
            </a:r>
          </a:p>
          <a:p>
            <a:r>
              <a:rPr lang="en-US" sz="1450">
                <a:solidFill>
                  <a:srgbClr val="4B5563"/>
                </a:solidFill>
                <a:latin typeface="Malgun Gothic"/>
                <a:ea typeface="Malgun Gothic"/>
              </a:rPr>
              <a:t>6개 섹션 기획서로 변환하고,</a:t>
            </a:r>
          </a:p>
          <a:p>
            <a:r>
              <a:rPr lang="en-US" sz="1450">
                <a:solidFill>
                  <a:srgbClr val="4B5563"/>
                </a:solidFill>
                <a:latin typeface="Malgun Gothic"/>
                <a:ea typeface="Malgun Gothic"/>
              </a:rPr>
              <a:t>복사·TXT 내려받기를 제공합니다.</a:t>
            </a:r>
          </a:p>
        </p:txBody>
      </p:sp>
      <p:sp>
        <p:nvSpPr>
          <p:cNvPr id="100096" name="F3"/>
          <p:cNvSpPr/>
          <p:nvPr/>
        </p:nvSpPr>
        <p:spPr>
          <a:xfrm>
            <a:off x="540000" y="3888000"/>
            <a:ext cx="5421600" cy="2304000"/>
          </a:xfrm>
          <a:prstGeom prst="roundRect">
            <a:avLst/>
          </a:prstGeom>
          <a:solidFill>
            <a:srgbClr val="F5F6F8"/>
          </a:solidFill>
          <a:ln>
            <a:noFill/>
          </a:ln>
        </p:spPr>
        <p:txBody>
          <a:bodyPr/>
          <a:lstStyle/>
          <a:p>
            <a:endParaRPr/>
          </a:p>
        </p:txBody>
      </p:sp>
      <p:sp>
        <p:nvSpPr>
          <p:cNvPr id="100097" name="F3T"/>
          <p:cNvSpPr txBox="1"/>
          <p:nvPr/>
        </p:nvSpPr>
        <p:spPr>
          <a:xfrm>
            <a:off x="828000" y="4176000"/>
            <a:ext cx="4860000" cy="468000"/>
          </a:xfrm>
          <a:prstGeom prst="rect">
            <a:avLst/>
          </a:prstGeom>
        </p:spPr>
        <p:txBody>
          <a:bodyPr/>
          <a:lstStyle/>
          <a:p>
            <a:r>
              <a:rPr lang="en-US" sz="1900" b="1">
                <a:solidFill>
                  <a:srgbClr val="000000"/>
                </a:solidFill>
                <a:latin typeface="Malgun Gothic"/>
                <a:ea typeface="Malgun Gothic"/>
              </a:rPr>
              <a:t>연습 노트</a:t>
            </a:r>
          </a:p>
        </p:txBody>
      </p:sp>
      <p:sp>
        <p:nvSpPr>
          <p:cNvPr id="100098" name="F3B"/>
          <p:cNvSpPr txBox="1"/>
          <p:nvPr/>
        </p:nvSpPr>
        <p:spPr>
          <a:xfrm>
            <a:off x="828000" y="4752000"/>
            <a:ext cx="4860000" cy="1224000"/>
          </a:xfrm>
          <a:prstGeom prst="rect">
            <a:avLst/>
          </a:prstGeom>
        </p:spPr>
        <p:txBody>
          <a:bodyPr/>
          <a:lstStyle/>
          <a:p>
            <a:r>
              <a:rPr lang="en-US" sz="1450">
                <a:solidFill>
                  <a:srgbClr val="4B5563"/>
                </a:solidFill>
                <a:latin typeface="Malgun Gothic"/>
                <a:ea typeface="Malgun Gothic"/>
              </a:rPr>
              <a:t>기획 의도·차별점과 예상 심사 질문·답변을</a:t>
            </a:r>
          </a:p>
          <a:p>
            <a:r>
              <a:rPr lang="en-US" sz="1450">
                <a:solidFill>
                  <a:srgbClr val="4B5563"/>
                </a:solidFill>
                <a:latin typeface="Malgun Gothic"/>
                <a:ea typeface="Malgun Gothic"/>
              </a:rPr>
              <a:t>정리하는 출품 전 리허설 노트입니다.</a:t>
            </a:r>
          </a:p>
        </p:txBody>
      </p:sp>
      <p:sp>
        <p:nvSpPr>
          <p:cNvPr id="100099" name="F4"/>
          <p:cNvSpPr/>
          <p:nvPr/>
        </p:nvSpPr>
        <p:spPr>
          <a:xfrm>
            <a:off x="6249600" y="3888000"/>
            <a:ext cx="5421600" cy="2304000"/>
          </a:xfrm>
          <a:prstGeom prst="roundRect">
            <a:avLst/>
          </a:prstGeom>
          <a:solidFill>
            <a:srgbClr val="F5F6F8"/>
          </a:solidFill>
          <a:ln>
            <a:noFill/>
          </a:ln>
        </p:spPr>
        <p:txBody>
          <a:bodyPr/>
          <a:lstStyle/>
          <a:p>
            <a:endParaRPr/>
          </a:p>
        </p:txBody>
      </p:sp>
      <p:sp>
        <p:nvSpPr>
          <p:cNvPr id="100100" name="F4T"/>
          <p:cNvSpPr txBox="1"/>
          <p:nvPr/>
        </p:nvSpPr>
        <p:spPr>
          <a:xfrm>
            <a:off x="6537600" y="4176000"/>
            <a:ext cx="4860000" cy="468000"/>
          </a:xfrm>
          <a:prstGeom prst="rect">
            <a:avLst/>
          </a:prstGeom>
        </p:spPr>
        <p:txBody>
          <a:bodyPr/>
          <a:lstStyle/>
          <a:p>
            <a:r>
              <a:rPr lang="en-US" sz="1900" b="1">
                <a:solidFill>
                  <a:srgbClr val="000000"/>
                </a:solidFill>
                <a:latin typeface="Malgun Gothic"/>
                <a:ea typeface="Malgun Gothic"/>
              </a:rPr>
              <a:t>대시보드·알림</a:t>
            </a:r>
          </a:p>
        </p:txBody>
      </p:sp>
      <p:sp>
        <p:nvSpPr>
          <p:cNvPr id="100101" name="F4B"/>
          <p:cNvSpPr txBox="1"/>
          <p:nvPr/>
        </p:nvSpPr>
        <p:spPr>
          <a:xfrm>
            <a:off x="6537600" y="4752000"/>
            <a:ext cx="4860000" cy="1224000"/>
          </a:xfrm>
          <a:prstGeom prst="rect">
            <a:avLst/>
          </a:prstGeom>
        </p:spPr>
        <p:txBody>
          <a:bodyPr/>
          <a:lstStyle/>
          <a:p>
            <a:r>
              <a:rPr lang="en-US" sz="1450">
                <a:solidFill>
                  <a:srgbClr val="4B5563"/>
                </a:solidFill>
                <a:latin typeface="Malgun Gothic"/>
                <a:ea typeface="Malgun Gothic"/>
              </a:rPr>
              <a:t>마감 임박 공모전·응모 현황·도전 히스토리와</a:t>
            </a:r>
          </a:p>
          <a:p>
            <a:r>
              <a:rPr lang="en-US" sz="1450">
                <a:solidFill>
                  <a:srgbClr val="4B5563"/>
                </a:solidFill>
                <a:latin typeface="Malgun Gothic"/>
                <a:ea typeface="Malgun Gothic"/>
              </a:rPr>
              <a:t>마감 알림·주간 이메일로 기한을 지켜 줍니다.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96"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무엇을 만들었나 — 6가지 기능</a:t>
            </a:r>
          </a:p>
        </p:txBody>
      </p:sp>
      <p:sp>
        <p:nvSpPr>
          <p:cNvPr id="100197" name="C1"/>
          <p:cNvSpPr/>
          <p:nvPr/>
        </p:nvSpPr>
        <p:spPr>
          <a:xfrm>
            <a:off x="540000" y="1368000"/>
            <a:ext cx="3520800" cy="2304000"/>
          </a:xfrm>
          <a:prstGeom prst="roundRect">
            <a:avLst/>
          </a:prstGeom>
          <a:solidFill>
            <a:srgbClr val="F5F6F8"/>
          </a:solidFill>
          <a:ln>
            <a:noFill/>
          </a:ln>
        </p:spPr>
        <p:txBody>
          <a:bodyPr/>
          <a:lstStyle/>
          <a:p>
            <a:endParaRPr/>
          </a:p>
        </p:txBody>
      </p:sp>
      <p:sp>
        <p:nvSpPr>
          <p:cNvPr id="100198" name="C1T"/>
          <p:cNvSpPr/>
          <p:nvPr/>
        </p:nvSpPr>
        <p:spPr>
          <a:xfrm>
            <a:off x="828000" y="1656000"/>
            <a:ext cx="2952000" cy="468000"/>
          </a:xfrm>
          <a:prstGeom prst="rect">
            <a:avLst/>
          </a:prstGeom>
        </p:spPr>
        <p:txBody>
          <a:bodyPr/>
          <a:lstStyle/>
          <a:p>
            <a:r>
              <a:rPr lang="en-US" sz="1900" b="1">
                <a:solidFill>
                  <a:srgbClr val="000000"/>
                </a:solidFill>
                <a:latin typeface="Malgun Gothic"/>
                <a:ea typeface="Malgun Gothic"/>
              </a:rPr>
              <a:t>유형 검사</a:t>
            </a:r>
          </a:p>
        </p:txBody>
      </p:sp>
      <p:sp>
        <p:nvSpPr>
          <p:cNvPr id="100199" name="C1B"/>
          <p:cNvSpPr/>
          <p:nvPr/>
        </p:nvSpPr>
        <p:spPr>
          <a:xfrm>
            <a:off x="828000" y="2232000"/>
            <a:ext cx="2952000" cy="1224000"/>
          </a:xfrm>
          <a:prstGeom prst="rect">
            <a:avLst/>
          </a:prstGeom>
        </p:spPr>
        <p:txBody>
          <a:bodyPr/>
          <a:lstStyle/>
          <a:p>
            <a:r>
              <a:rPr lang="en-US" sz="1450">
                <a:solidFill>
                  <a:srgbClr val="4B5563"/>
                </a:solidFill>
                <a:latin typeface="Malgun Gothic"/>
                <a:ea typeface="Malgun Gothic"/>
              </a:rPr>
              <a:t>30문항으로 나의 공모전 유형과 일치율을 진단하고, 아이디어 힌트 3개를 줍니다.</a:t>
            </a:r>
          </a:p>
        </p:txBody>
      </p:sp>
      <p:sp>
        <p:nvSpPr>
          <p:cNvPr id="100200" name="C2"/>
          <p:cNvSpPr/>
          <p:nvPr/>
        </p:nvSpPr>
        <p:spPr>
          <a:xfrm>
            <a:off x="4334400" y="1368000"/>
            <a:ext cx="3520800" cy="2304000"/>
          </a:xfrm>
          <a:prstGeom prst="roundRect">
            <a:avLst/>
          </a:prstGeom>
          <a:solidFill>
            <a:srgbClr val="F5F6F8"/>
          </a:solidFill>
          <a:ln>
            <a:noFill/>
          </a:ln>
        </p:spPr>
        <p:txBody>
          <a:bodyPr/>
          <a:lstStyle/>
          <a:p>
            <a:endParaRPr/>
          </a:p>
        </p:txBody>
      </p:sp>
      <p:sp>
        <p:nvSpPr>
          <p:cNvPr id="100201" name="C2T"/>
          <p:cNvSpPr/>
          <p:nvPr/>
        </p:nvSpPr>
        <p:spPr>
          <a:xfrm>
            <a:off x="4622400" y="1656000"/>
            <a:ext cx="2952000" cy="468000"/>
          </a:xfrm>
          <a:prstGeom prst="rect">
            <a:avLst/>
          </a:prstGeom>
        </p:spPr>
        <p:txBody>
          <a:bodyPr/>
          <a:lstStyle/>
          <a:p>
            <a:r>
              <a:rPr lang="en-US" sz="1900" b="1">
                <a:solidFill>
                  <a:srgbClr val="000000"/>
                </a:solidFill>
                <a:latin typeface="Malgun Gothic"/>
                <a:ea typeface="Malgun Gothic"/>
              </a:rPr>
              <a:t>아이디어 분석</a:t>
            </a:r>
          </a:p>
        </p:txBody>
      </p:sp>
      <p:sp>
        <p:nvSpPr>
          <p:cNvPr id="100202" name="C2B"/>
          <p:cNvSpPr/>
          <p:nvPr/>
        </p:nvSpPr>
        <p:spPr>
          <a:xfrm>
            <a:off x="4622400" y="2232000"/>
            <a:ext cx="2952000" cy="1224000"/>
          </a:xfrm>
          <a:prstGeom prst="rect">
            <a:avLst/>
          </a:prstGeom>
        </p:spPr>
        <p:txBody>
          <a:bodyPr/>
          <a:lstStyle/>
          <a:p>
            <a:r>
              <a:rPr lang="en-US" sz="1450">
                <a:solidFill>
                  <a:srgbClr val="4B5563"/>
                </a:solidFill>
                <a:latin typeface="Malgun Gothic"/>
                <a:ea typeface="Malgun Gothic"/>
              </a:rPr>
              <a:t>AI가 강점·보완점·심사 포인트와 한 줄 요약을 뽑아 줍니다.</a:t>
            </a:r>
          </a:p>
        </p:txBody>
      </p:sp>
      <p:sp>
        <p:nvSpPr>
          <p:cNvPr id="100203" name="C3"/>
          <p:cNvSpPr/>
          <p:nvPr/>
        </p:nvSpPr>
        <p:spPr>
          <a:xfrm>
            <a:off x="8128800" y="1368000"/>
            <a:ext cx="3520800" cy="2304000"/>
          </a:xfrm>
          <a:prstGeom prst="roundRect">
            <a:avLst/>
          </a:prstGeom>
          <a:solidFill>
            <a:srgbClr val="F5F6F8"/>
          </a:solidFill>
          <a:ln>
            <a:noFill/>
          </a:ln>
        </p:spPr>
        <p:txBody>
          <a:bodyPr/>
          <a:lstStyle/>
          <a:p>
            <a:endParaRPr/>
          </a:p>
        </p:txBody>
      </p:sp>
      <p:sp>
        <p:nvSpPr>
          <p:cNvPr id="100204" name="C3T"/>
          <p:cNvSpPr/>
          <p:nvPr/>
        </p:nvSpPr>
        <p:spPr>
          <a:xfrm>
            <a:off x="8416800" y="1656000"/>
            <a:ext cx="2952000" cy="468000"/>
          </a:xfrm>
          <a:prstGeom prst="rect">
            <a:avLst/>
          </a:prstGeom>
        </p:spPr>
        <p:txBody>
          <a:bodyPr/>
          <a:lstStyle/>
          <a:p>
            <a:r>
              <a:rPr lang="en-US" sz="1900" b="1">
                <a:solidFill>
                  <a:srgbClr val="000000"/>
                </a:solidFill>
                <a:latin typeface="Malgun Gothic"/>
                <a:ea typeface="Malgun Gothic"/>
              </a:rPr>
              <a:t>공모전 추천</a:t>
            </a:r>
          </a:p>
        </p:txBody>
      </p:sp>
      <p:sp>
        <p:nvSpPr>
          <p:cNvPr id="100205" name="C3B"/>
          <p:cNvSpPr/>
          <p:nvPr/>
        </p:nvSpPr>
        <p:spPr>
          <a:xfrm>
            <a:off x="8416800" y="2232000"/>
            <a:ext cx="2952000" cy="1224000"/>
          </a:xfrm>
          <a:prstGeom prst="rect">
            <a:avLst/>
          </a:prstGeom>
        </p:spPr>
        <p:txBody>
          <a:bodyPr/>
          <a:lstStyle/>
          <a:p>
            <a:r>
              <a:rPr lang="en-US" sz="1450">
                <a:solidFill>
                  <a:srgbClr val="4B5563"/>
                </a:solidFill>
                <a:latin typeface="Malgun Gothic"/>
                <a:ea typeface="Malgun Gothic"/>
              </a:rPr>
              <a:t>아이디어와 공모전의 적합도를 점수와 이유로 알려 줍니다.</a:t>
            </a:r>
          </a:p>
        </p:txBody>
      </p:sp>
      <p:sp>
        <p:nvSpPr>
          <p:cNvPr id="100206" name="C4"/>
          <p:cNvSpPr/>
          <p:nvPr/>
        </p:nvSpPr>
        <p:spPr>
          <a:xfrm>
            <a:off x="540000" y="3888000"/>
            <a:ext cx="3520800" cy="2304000"/>
          </a:xfrm>
          <a:prstGeom prst="roundRect">
            <a:avLst/>
          </a:prstGeom>
          <a:solidFill>
            <a:srgbClr val="F5F6F8"/>
          </a:solidFill>
          <a:ln>
            <a:noFill/>
          </a:ln>
        </p:spPr>
        <p:txBody>
          <a:bodyPr/>
          <a:lstStyle/>
          <a:p>
            <a:endParaRPr/>
          </a:p>
        </p:txBody>
      </p:sp>
      <p:sp>
        <p:nvSpPr>
          <p:cNvPr id="100207" name="C4T"/>
          <p:cNvSpPr/>
          <p:nvPr/>
        </p:nvSpPr>
        <p:spPr>
          <a:xfrm>
            <a:off x="828000" y="4176000"/>
            <a:ext cx="2952000" cy="468000"/>
          </a:xfrm>
          <a:prstGeom prst="rect">
            <a:avLst/>
          </a:prstGeom>
        </p:spPr>
        <p:txBody>
          <a:bodyPr/>
          <a:lstStyle/>
          <a:p>
            <a:r>
              <a:rPr lang="en-US" sz="1900" b="1">
                <a:solidFill>
                  <a:srgbClr val="000000"/>
                </a:solidFill>
                <a:latin typeface="Malgun Gothic"/>
                <a:ea typeface="Malgun Gothic"/>
              </a:rPr>
              <a:t>제안서 초안</a:t>
            </a:r>
          </a:p>
        </p:txBody>
      </p:sp>
      <p:sp>
        <p:nvSpPr>
          <p:cNvPr id="100208" name="C4B"/>
          <p:cNvSpPr/>
          <p:nvPr/>
        </p:nvSpPr>
        <p:spPr>
          <a:xfrm>
            <a:off x="828000" y="4752000"/>
            <a:ext cx="2952000" cy="1224000"/>
          </a:xfrm>
          <a:prstGeom prst="rect">
            <a:avLst/>
          </a:prstGeom>
        </p:spPr>
        <p:txBody>
          <a:bodyPr/>
          <a:lstStyle/>
          <a:p>
            <a:r>
              <a:rPr lang="en-US" sz="1450">
                <a:solidFill>
                  <a:srgbClr val="4B5563"/>
                </a:solidFill>
                <a:latin typeface="Malgun Gothic"/>
                <a:ea typeface="Malgun Gothic"/>
              </a:rPr>
              <a:t>분석 결과를 6섹션 기획서로 만들고 TXT로 저장합니다.</a:t>
            </a:r>
          </a:p>
        </p:txBody>
      </p:sp>
      <p:sp>
        <p:nvSpPr>
          <p:cNvPr id="100209" name="C5"/>
          <p:cNvSpPr/>
          <p:nvPr/>
        </p:nvSpPr>
        <p:spPr>
          <a:xfrm>
            <a:off x="4334400" y="3888000"/>
            <a:ext cx="3520800" cy="2304000"/>
          </a:xfrm>
          <a:prstGeom prst="roundRect">
            <a:avLst/>
          </a:prstGeom>
          <a:solidFill>
            <a:srgbClr val="F5F6F8"/>
          </a:solidFill>
          <a:ln>
            <a:noFill/>
          </a:ln>
        </p:spPr>
        <p:txBody>
          <a:bodyPr/>
          <a:lstStyle/>
          <a:p>
            <a:endParaRPr/>
          </a:p>
        </p:txBody>
      </p:sp>
      <p:sp>
        <p:nvSpPr>
          <p:cNvPr id="100210" name="C5T"/>
          <p:cNvSpPr/>
          <p:nvPr/>
        </p:nvSpPr>
        <p:spPr>
          <a:xfrm>
            <a:off x="4622400" y="4176000"/>
            <a:ext cx="2952000" cy="468000"/>
          </a:xfrm>
          <a:prstGeom prst="rect">
            <a:avLst/>
          </a:prstGeom>
        </p:spPr>
        <p:txBody>
          <a:bodyPr/>
          <a:lstStyle/>
          <a:p>
            <a:r>
              <a:rPr lang="en-US" sz="1900" b="1">
                <a:solidFill>
                  <a:srgbClr val="000000"/>
                </a:solidFill>
                <a:latin typeface="Malgun Gothic"/>
                <a:ea typeface="Malgun Gothic"/>
              </a:rPr>
              <a:t>연습 노트</a:t>
            </a:r>
          </a:p>
        </p:txBody>
      </p:sp>
      <p:sp>
        <p:nvSpPr>
          <p:cNvPr id="100211" name="C5B"/>
          <p:cNvSpPr/>
          <p:nvPr/>
        </p:nvSpPr>
        <p:spPr>
          <a:xfrm>
            <a:off x="4622400" y="4752000"/>
            <a:ext cx="2952000" cy="1224000"/>
          </a:xfrm>
          <a:prstGeom prst="rect">
            <a:avLst/>
          </a:prstGeom>
        </p:spPr>
        <p:txBody>
          <a:bodyPr/>
          <a:lstStyle/>
          <a:p>
            <a:r>
              <a:rPr lang="en-US" sz="1450">
                <a:solidFill>
                  <a:srgbClr val="4B5563"/>
                </a:solidFill>
                <a:latin typeface="Malgun Gothic"/>
                <a:ea typeface="Malgun Gothic"/>
              </a:rPr>
              <a:t>예상 질문과 답변을 정리하는</a:t>
            </a:r>
          </a:p>
          <a:p>
            <a:r>
              <a:rPr lang="en-US" sz="1450">
                <a:solidFill>
                  <a:srgbClr val="4B5563"/>
                </a:solidFill>
                <a:latin typeface="Malgun Gothic"/>
                <a:ea typeface="Malgun Gothic"/>
              </a:rPr>
              <a:t>응모 전 연습장입니다.</a:t>
            </a:r>
          </a:p>
        </p:txBody>
      </p:sp>
      <p:sp>
        <p:nvSpPr>
          <p:cNvPr id="100212" name="C6"/>
          <p:cNvSpPr/>
          <p:nvPr/>
        </p:nvSpPr>
        <p:spPr>
          <a:xfrm>
            <a:off x="8128800" y="3888000"/>
            <a:ext cx="3520800" cy="2304000"/>
          </a:xfrm>
          <a:prstGeom prst="roundRect">
            <a:avLst/>
          </a:prstGeom>
          <a:solidFill>
            <a:srgbClr val="F5F6F8"/>
          </a:solidFill>
          <a:ln>
            <a:noFill/>
          </a:ln>
        </p:spPr>
        <p:txBody>
          <a:bodyPr/>
          <a:lstStyle/>
          <a:p>
            <a:endParaRPr/>
          </a:p>
        </p:txBody>
      </p:sp>
      <p:sp>
        <p:nvSpPr>
          <p:cNvPr id="100213" name="C6T"/>
          <p:cNvSpPr/>
          <p:nvPr/>
        </p:nvSpPr>
        <p:spPr>
          <a:xfrm>
            <a:off x="8416800" y="4176000"/>
            <a:ext cx="2952000" cy="468000"/>
          </a:xfrm>
          <a:prstGeom prst="rect">
            <a:avLst/>
          </a:prstGeom>
        </p:spPr>
        <p:txBody>
          <a:bodyPr/>
          <a:lstStyle/>
          <a:p>
            <a:r>
              <a:rPr lang="en-US" sz="1900" b="1">
                <a:solidFill>
                  <a:srgbClr val="000000"/>
                </a:solidFill>
                <a:latin typeface="Malgun Gothic"/>
                <a:ea typeface="Malgun Gothic"/>
              </a:rPr>
              <a:t>대시보드·알림</a:t>
            </a:r>
          </a:p>
        </p:txBody>
      </p:sp>
      <p:sp>
        <p:nvSpPr>
          <p:cNvPr id="100214" name="C6B"/>
          <p:cNvSpPr/>
          <p:nvPr/>
        </p:nvSpPr>
        <p:spPr>
          <a:xfrm>
            <a:off x="8416800" y="4752000"/>
            <a:ext cx="2952000" cy="1224000"/>
          </a:xfrm>
          <a:prstGeom prst="rect">
            <a:avLst/>
          </a:prstGeom>
        </p:spPr>
        <p:txBody>
          <a:bodyPr/>
          <a:lstStyle/>
          <a:p>
            <a:r>
              <a:rPr lang="en-US" sz="1450">
                <a:solidFill>
                  <a:srgbClr val="4B5563"/>
                </a:solidFill>
                <a:latin typeface="Malgun Gothic"/>
                <a:ea typeface="Malgun Gothic"/>
              </a:rPr>
              <a:t>찜·응모 기록과 도전 히스토리, 마감 알림까지 한 화면에.</a:t>
            </a:r>
          </a:p>
        </p:txBody>
      </p:sp>
      <p:sp>
        <p:nvSpPr>
          <p:cNvPr id="100215" name="Cap"/>
          <p:cNvSpPr/>
          <p:nvPr/>
        </p:nvSpPr>
        <p:spPr>
          <a:xfrm>
            <a:off x="540000" y="6300000"/>
            <a:ext cx="11113200" cy="360000"/>
          </a:xfrm>
          <a:prstGeom prst="rect">
            <a:avLst/>
          </a:prstGeom>
        </p:spPr>
        <p:txBody>
          <a:bodyPr/>
          <a:lstStyle/>
          <a:p>
            <a:r>
              <a:rPr lang="en-US" sz="1500">
                <a:solidFill>
                  <a:srgbClr val="6B7280"/>
                </a:solidFill>
                <a:latin typeface="Malgun Gothic"/>
                <a:ea typeface="Malgun Gothic"/>
              </a:rPr>
              <a:t>모든 기능이 '유형 검사 → 아이디어 → 추천 → 준비'의 한 흐름으로 이어집니다.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37"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어떻게 만들었나 — 기획부터 완성까지</a:t>
            </a:r>
          </a:p>
        </p:txBody>
      </p:sp>
      <p:sp>
        <p:nvSpPr>
          <p:cNvPr id="100138" name="N1"/>
          <p:cNvSpPr/>
          <p:nvPr/>
        </p:nvSpPr>
        <p:spPr>
          <a:xfrm>
            <a:off x="993058" y="1296000"/>
            <a:ext cx="374942" cy="374942"/>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1</a:t>
            </a:r>
          </a:p>
        </p:txBody>
      </p:sp>
      <p:sp>
        <p:nvSpPr>
          <p:cNvPr id="100139" name="H1"/>
          <p:cNvSpPr/>
          <p:nvPr/>
        </p:nvSpPr>
        <p:spPr>
          <a:xfrm>
            <a:off x="1656000" y="1260000"/>
            <a:ext cx="9360000" cy="468000"/>
          </a:xfrm>
          <a:prstGeom prst="rect">
            <a:avLst/>
          </a:prstGeom>
        </p:spPr>
        <p:txBody>
          <a:bodyPr/>
          <a:lstStyle/>
          <a:p>
            <a:r>
              <a:rPr lang="en-US" sz="2000" b="1">
                <a:solidFill>
                  <a:srgbClr val="000000"/>
                </a:solidFill>
                <a:latin typeface="Malgun Gothic"/>
                <a:ea typeface="Malgun Gothic"/>
              </a:rPr>
              <a:t>문제 발견</a:t>
            </a:r>
          </a:p>
        </p:txBody>
      </p:sp>
      <p:sp>
        <p:nvSpPr>
          <p:cNvPr id="100140" name="D1"/>
          <p:cNvSpPr/>
          <p:nvPr/>
        </p:nvSpPr>
        <p:spPr>
          <a:xfrm>
            <a:off x="1656000" y="1800000"/>
            <a:ext cx="9360000" cy="360000"/>
          </a:xfrm>
          <a:prstGeom prst="rect">
            <a:avLst/>
          </a:prstGeom>
        </p:spPr>
        <p:txBody>
          <a:bodyPr/>
          <a:lstStyle/>
          <a:p>
            <a:r>
              <a:rPr lang="en-US" sz="1500">
                <a:solidFill>
                  <a:srgbClr val="6B7280"/>
                </a:solidFill>
                <a:latin typeface="Malgun Gothic"/>
                <a:ea typeface="Malgun Gothic"/>
              </a:rPr>
              <a:t>공모전을 포기한 친구들의 이유를 모아 '세 가지 벽'(정보·판단·마지막 한 걸음)으로 정리했습니다.</a:t>
            </a:r>
          </a:p>
        </p:txBody>
      </p:sp>
      <p:sp>
        <p:nvSpPr>
          <p:cNvPr id="100141" name="N2"/>
          <p:cNvSpPr/>
          <p:nvPr/>
        </p:nvSpPr>
        <p:spPr>
          <a:xfrm>
            <a:off x="993058" y="2232000"/>
            <a:ext cx="374942" cy="374942"/>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2</a:t>
            </a:r>
          </a:p>
        </p:txBody>
      </p:sp>
      <p:sp>
        <p:nvSpPr>
          <p:cNvPr id="100142" name="H2"/>
          <p:cNvSpPr/>
          <p:nvPr/>
        </p:nvSpPr>
        <p:spPr>
          <a:xfrm>
            <a:off x="1656000" y="2196000"/>
            <a:ext cx="9360000" cy="468000"/>
          </a:xfrm>
          <a:prstGeom prst="rect">
            <a:avLst/>
          </a:prstGeom>
        </p:spPr>
        <p:txBody>
          <a:bodyPr/>
          <a:lstStyle/>
          <a:p>
            <a:r>
              <a:rPr lang="en-US" sz="2000" b="1">
                <a:solidFill>
                  <a:srgbClr val="000000"/>
                </a:solidFill>
                <a:latin typeface="Malgun Gothic"/>
                <a:ea typeface="Malgun Gothic"/>
              </a:rPr>
              <a:t>기획</a:t>
            </a:r>
          </a:p>
        </p:txBody>
      </p:sp>
      <p:sp>
        <p:nvSpPr>
          <p:cNvPr id="100143" name="D2"/>
          <p:cNvSpPr/>
          <p:nvPr/>
        </p:nvSpPr>
        <p:spPr>
          <a:xfrm>
            <a:off x="1656000" y="2736000"/>
            <a:ext cx="9360000" cy="360000"/>
          </a:xfrm>
          <a:prstGeom prst="rect">
            <a:avLst/>
          </a:prstGeom>
        </p:spPr>
        <p:txBody>
          <a:bodyPr/>
          <a:lstStyle/>
          <a:p>
            <a:r>
              <a:rPr lang="en-US" sz="1500">
                <a:solidFill>
                  <a:srgbClr val="6B7280"/>
                </a:solidFill>
                <a:latin typeface="Malgun Gothic"/>
                <a:ea typeface="Malgun Gothic"/>
              </a:rPr>
              <a:t>누구에게 무엇을 도울지 기획서로 정하고, 화면 흐름과 핵심 기능을 정했습니다.</a:t>
            </a:r>
          </a:p>
        </p:txBody>
      </p:sp>
      <p:sp>
        <p:nvSpPr>
          <p:cNvPr id="100144" name="N3"/>
          <p:cNvSpPr/>
          <p:nvPr/>
        </p:nvSpPr>
        <p:spPr>
          <a:xfrm>
            <a:off x="993058" y="3168000"/>
            <a:ext cx="374942" cy="374942"/>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3</a:t>
            </a:r>
          </a:p>
        </p:txBody>
      </p:sp>
      <p:sp>
        <p:nvSpPr>
          <p:cNvPr id="100145" name="H3"/>
          <p:cNvSpPr/>
          <p:nvPr/>
        </p:nvSpPr>
        <p:spPr>
          <a:xfrm>
            <a:off x="1656000" y="3132000"/>
            <a:ext cx="9360000" cy="468000"/>
          </a:xfrm>
          <a:prstGeom prst="rect">
            <a:avLst/>
          </a:prstGeom>
        </p:spPr>
        <p:txBody>
          <a:bodyPr/>
          <a:lstStyle/>
          <a:p>
            <a:r>
              <a:rPr lang="en-US" sz="2000" b="1">
                <a:solidFill>
                  <a:srgbClr val="000000"/>
                </a:solidFill>
                <a:latin typeface="Malgun Gothic"/>
                <a:ea typeface="Malgun Gothic"/>
              </a:rPr>
              <a:t>설계</a:t>
            </a:r>
          </a:p>
        </p:txBody>
      </p:sp>
      <p:sp>
        <p:nvSpPr>
          <p:cNvPr id="100146" name="D3"/>
          <p:cNvSpPr/>
          <p:nvPr/>
        </p:nvSpPr>
        <p:spPr>
          <a:xfrm>
            <a:off x="1656000" y="3672000"/>
            <a:ext cx="9360000" cy="360000"/>
          </a:xfrm>
          <a:prstGeom prst="rect">
            <a:avLst/>
          </a:prstGeom>
        </p:spPr>
        <p:txBody>
          <a:bodyPr/>
          <a:lstStyle/>
          <a:p>
            <a:r>
              <a:rPr lang="en-US" sz="1500">
                <a:solidFill>
                  <a:srgbClr val="6B7280"/>
                </a:solidFill>
                <a:latin typeface="Malgun Gothic"/>
                <a:ea typeface="Malgun Gothic"/>
              </a:rPr>
              <a:t>화면과 데이터가 오가는 경로를 설계서로 그려서, 만들기 전에 문제를 미리 잡았습니다.</a:t>
            </a:r>
          </a:p>
        </p:txBody>
      </p:sp>
      <p:sp>
        <p:nvSpPr>
          <p:cNvPr id="100147" name="N4"/>
          <p:cNvSpPr/>
          <p:nvPr/>
        </p:nvSpPr>
        <p:spPr>
          <a:xfrm>
            <a:off x="993058" y="4104000"/>
            <a:ext cx="374942" cy="374942"/>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4</a:t>
            </a:r>
          </a:p>
        </p:txBody>
      </p:sp>
      <p:sp>
        <p:nvSpPr>
          <p:cNvPr id="100148" name="H4"/>
          <p:cNvSpPr/>
          <p:nvPr/>
        </p:nvSpPr>
        <p:spPr>
          <a:xfrm>
            <a:off x="1656000" y="4068000"/>
            <a:ext cx="9360000" cy="468000"/>
          </a:xfrm>
          <a:prstGeom prst="rect">
            <a:avLst/>
          </a:prstGeom>
        </p:spPr>
        <p:txBody>
          <a:bodyPr/>
          <a:lstStyle/>
          <a:p>
            <a:r>
              <a:rPr lang="en-US" sz="2000" b="1">
                <a:solidFill>
                  <a:srgbClr val="000000"/>
                </a:solidFill>
                <a:latin typeface="Malgun Gothic"/>
                <a:ea typeface="Malgun Gothic"/>
              </a:rPr>
              <a:t>개발</a:t>
            </a:r>
          </a:p>
        </p:txBody>
      </p:sp>
      <p:sp>
        <p:nvSpPr>
          <p:cNvPr id="100149" name="D4"/>
          <p:cNvSpPr/>
          <p:nvPr/>
        </p:nvSpPr>
        <p:spPr>
          <a:xfrm>
            <a:off x="1656000" y="4608000"/>
            <a:ext cx="9360000" cy="360000"/>
          </a:xfrm>
          <a:prstGeom prst="rect">
            <a:avLst/>
          </a:prstGeom>
        </p:spPr>
        <p:txBody>
          <a:bodyPr/>
          <a:lstStyle/>
          <a:p>
            <a:r>
              <a:rPr lang="en-US" sz="1500">
                <a:solidFill>
                  <a:srgbClr val="6B7280"/>
                </a:solidFill>
                <a:latin typeface="Malgun Gothic"/>
                <a:ea typeface="Malgun Gothic"/>
              </a:rPr>
              <a:t>유형 검사·AI 분석·추천을 먼저 만들고, 공모전 자동 수집·계정·알림을 순서대로 연결했습니다.</a:t>
            </a:r>
          </a:p>
        </p:txBody>
      </p:sp>
      <p:sp>
        <p:nvSpPr>
          <p:cNvPr id="100150" name="N5"/>
          <p:cNvSpPr/>
          <p:nvPr/>
        </p:nvSpPr>
        <p:spPr>
          <a:xfrm>
            <a:off x="993058" y="5040000"/>
            <a:ext cx="374942" cy="374942"/>
          </a:xfrm>
          <a:prstGeom prst="ellipse">
            <a:avLst/>
          </a:prstGeom>
          <a:solidFill>
            <a:schemeClr val="tx1">
              <a:lumMod val="85000"/>
              <a:lumOff val="15000"/>
            </a:schemeClr>
          </a:solidFill>
          <a:ln>
            <a:noFill/>
          </a:ln>
        </p:spPr>
        <p:txBody>
          <a:bodyPr anchor="ctr"/>
          <a:lstStyle/>
          <a:p>
            <a:pPr algn="ctr"/>
            <a:r>
              <a:rPr lang="en-US" sz="1800" b="1">
                <a:solidFill>
                  <a:srgbClr val="FFFFFF"/>
                </a:solidFill>
                <a:latin typeface="Malgun Gothic"/>
                <a:ea typeface="Malgun Gothic"/>
              </a:rPr>
              <a:t>5</a:t>
            </a:r>
          </a:p>
        </p:txBody>
      </p:sp>
      <p:sp>
        <p:nvSpPr>
          <p:cNvPr id="100151" name="H5"/>
          <p:cNvSpPr/>
          <p:nvPr/>
        </p:nvSpPr>
        <p:spPr>
          <a:xfrm>
            <a:off x="1656000" y="5004000"/>
            <a:ext cx="9360000" cy="468000"/>
          </a:xfrm>
          <a:prstGeom prst="rect">
            <a:avLst/>
          </a:prstGeom>
        </p:spPr>
        <p:txBody>
          <a:bodyPr/>
          <a:lstStyle/>
          <a:p>
            <a:r>
              <a:rPr lang="en-US" sz="2000" b="1">
                <a:solidFill>
                  <a:srgbClr val="000000"/>
                </a:solidFill>
                <a:latin typeface="Malgun Gothic"/>
                <a:ea typeface="Malgun Gothic"/>
              </a:rPr>
              <a:t>검증·다듬기</a:t>
            </a:r>
          </a:p>
        </p:txBody>
      </p:sp>
      <p:sp>
        <p:nvSpPr>
          <p:cNvPr id="100152" name="D5"/>
          <p:cNvSpPr/>
          <p:nvPr/>
        </p:nvSpPr>
        <p:spPr>
          <a:xfrm>
            <a:off x="1656000" y="5544000"/>
            <a:ext cx="9360000" cy="360000"/>
          </a:xfrm>
          <a:prstGeom prst="rect">
            <a:avLst/>
          </a:prstGeom>
        </p:spPr>
        <p:txBody>
          <a:bodyPr/>
          <a:lstStyle/>
          <a:p>
            <a:r>
              <a:rPr lang="en-US" sz="1500">
                <a:solidFill>
                  <a:srgbClr val="6B7280"/>
                </a:solidFill>
                <a:latin typeface="Malgun Gothic"/>
                <a:ea typeface="Malgun Gothic"/>
              </a:rPr>
              <a:t>직접 써 보고 오류를 잡는 과정을 반복했고, 자동 테스트로 화면·서버 로직을 확인했습니다.</a:t>
            </a:r>
          </a:p>
        </p:txBody>
      </p:sp>
      <p:sp>
        <p:nvSpPr>
          <p:cNvPr id="100153" name="Foot"/>
          <p:cNvSpPr/>
          <p:nvPr/>
        </p:nvSpPr>
        <p:spPr>
          <a:xfrm>
            <a:off x="540000" y="6120000"/>
            <a:ext cx="11113200" cy="504000"/>
          </a:xfrm>
          <a:prstGeom prst="roundRect">
            <a:avLst/>
          </a:prstGeom>
          <a:solidFill>
            <a:srgbClr val="F5F6F8"/>
          </a:solidFill>
          <a:ln>
            <a:noFill/>
          </a:ln>
        </p:spPr>
        <p:txBody>
          <a:bodyPr anchor="ctr"/>
          <a:lstStyle/>
          <a:p>
            <a:pPr algn="ctr"/>
            <a:r>
              <a:rPr lang="en-US" sz="1500" b="1">
                <a:solidFill>
                  <a:srgbClr val="000000"/>
                </a:solidFill>
                <a:latin typeface="Malgun Gothic"/>
                <a:ea typeface="Malgun Gothic"/>
              </a:rPr>
              <a:t>기획서·설계서·README 문서와 자동 테스트 57개로 과정이 기록돼 있습니다 — 언제든 다시 볼 수 있습니다.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217"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어떻게 만들었나 — 12일 작업 기록</a:t>
            </a:r>
          </a:p>
        </p:txBody>
      </p:sp>
      <p:sp>
        <p:nvSpPr>
          <p:cNvPr id="100218" name="P1C"/>
          <p:cNvSpPr/>
          <p:nvPr/>
        </p:nvSpPr>
        <p:spPr>
          <a:xfrm>
            <a:off x="540000" y="1296000"/>
            <a:ext cx="1224000" cy="360000"/>
          </a:xfrm>
          <a:prstGeom prst="roundRect">
            <a:avLst/>
          </a:prstGeom>
          <a:solidFill>
            <a:srgbClr val="2563EB"/>
          </a:solidFill>
          <a:ln>
            <a:noFill/>
          </a:ln>
        </p:spPr>
        <p:txBody>
          <a:bodyPr anchor="ctr"/>
          <a:lstStyle/>
          <a:p>
            <a:pPr algn="ctr"/>
            <a:r>
              <a:rPr lang="en-US" sz="1400" b="1">
                <a:solidFill>
                  <a:srgbClr val="FFFFFF"/>
                </a:solidFill>
                <a:latin typeface="Malgun Gothic"/>
                <a:ea typeface="Malgun Gothic"/>
              </a:rPr>
              <a:t>10/4까지</a:t>
            </a:r>
          </a:p>
        </p:txBody>
      </p:sp>
      <p:sp>
        <p:nvSpPr>
          <p:cNvPr id="100219" name="P1T"/>
          <p:cNvSpPr/>
          <p:nvPr/>
        </p:nvSpPr>
        <p:spPr>
          <a:xfrm>
            <a:off x="1944000" y="1260000"/>
            <a:ext cx="9360000" cy="468000"/>
          </a:xfrm>
          <a:prstGeom prst="rect">
            <a:avLst/>
          </a:prstGeom>
        </p:spPr>
        <p:txBody>
          <a:bodyPr/>
          <a:lstStyle/>
          <a:p>
            <a:r>
              <a:rPr lang="en-US" sz="2000" b="1">
                <a:solidFill>
                  <a:srgbClr val="000000"/>
                </a:solidFill>
                <a:latin typeface="Malgun Gothic"/>
                <a:ea typeface="Malgun Gothic"/>
              </a:rPr>
              <a:t>기획·설계 + 첫 버전</a:t>
            </a:r>
          </a:p>
        </p:txBody>
      </p:sp>
      <p:sp>
        <p:nvSpPr>
          <p:cNvPr id="100220" name="P1B"/>
          <p:cNvSpPr/>
          <p:nvPr/>
        </p:nvSpPr>
        <p:spPr>
          <a:xfrm>
            <a:off x="1944000" y="1764000"/>
            <a:ext cx="9360000" cy="432000"/>
          </a:xfrm>
          <a:prstGeom prst="rect">
            <a:avLst/>
          </a:prstGeom>
        </p:spPr>
        <p:txBody>
          <a:bodyPr/>
          <a:lstStyle/>
          <a:p>
            <a:r>
              <a:rPr lang="en-US" sz="1500">
                <a:solidFill>
                  <a:srgbClr val="6B7280"/>
                </a:solidFill>
                <a:latin typeface="Malgun Gothic"/>
                <a:ea typeface="Malgun Gothic"/>
              </a:rPr>
              <a:t>기획서·설계서를 쓰며 화면·서버·유형 검사의 첫 버전을 완성했습니다.</a:t>
            </a:r>
          </a:p>
        </p:txBody>
      </p:sp>
      <p:sp>
        <p:nvSpPr>
          <p:cNvPr id="100221" name="P2C"/>
          <p:cNvSpPr/>
          <p:nvPr/>
        </p:nvSpPr>
        <p:spPr>
          <a:xfrm>
            <a:off x="540000" y="2520000"/>
            <a:ext cx="1224000" cy="360000"/>
          </a:xfrm>
          <a:prstGeom prst="roundRect">
            <a:avLst/>
          </a:prstGeom>
          <a:solidFill>
            <a:srgbClr val="2563EB"/>
          </a:solidFill>
          <a:ln>
            <a:noFill/>
          </a:ln>
        </p:spPr>
        <p:txBody>
          <a:bodyPr anchor="ctr"/>
          <a:lstStyle/>
          <a:p>
            <a:pPr algn="ctr"/>
            <a:r>
              <a:rPr lang="en-US" sz="1400" b="1">
                <a:solidFill>
                  <a:srgbClr val="FFFFFF"/>
                </a:solidFill>
                <a:latin typeface="Malgun Gothic"/>
                <a:ea typeface="Malgun Gothic"/>
              </a:rPr>
              <a:t>10/4~7</a:t>
            </a:r>
          </a:p>
        </p:txBody>
      </p:sp>
      <p:sp>
        <p:nvSpPr>
          <p:cNvPr id="100222" name="P2T"/>
          <p:cNvSpPr/>
          <p:nvPr/>
        </p:nvSpPr>
        <p:spPr>
          <a:xfrm>
            <a:off x="1944000" y="2484000"/>
            <a:ext cx="9360000" cy="468000"/>
          </a:xfrm>
          <a:prstGeom prst="rect">
            <a:avLst/>
          </a:prstGeom>
        </p:spPr>
        <p:txBody>
          <a:bodyPr/>
          <a:lstStyle/>
          <a:p>
            <a:r>
              <a:rPr lang="en-US" sz="2000" b="1">
                <a:solidFill>
                  <a:srgbClr val="000000"/>
                </a:solidFill>
                <a:latin typeface="Malgun Gothic"/>
                <a:ea typeface="Malgun Gothic"/>
              </a:rPr>
              <a:t>결과 화면 고도화</a:t>
            </a:r>
          </a:p>
        </p:txBody>
      </p:sp>
      <p:sp>
        <p:nvSpPr>
          <p:cNvPr id="100223" name="P2B"/>
          <p:cNvSpPr/>
          <p:nvPr/>
        </p:nvSpPr>
        <p:spPr>
          <a:xfrm>
            <a:off x="1944000" y="2988000"/>
            <a:ext cx="9360000" cy="432000"/>
          </a:xfrm>
          <a:prstGeom prst="rect">
            <a:avLst/>
          </a:prstGeom>
        </p:spPr>
        <p:txBody>
          <a:bodyPr/>
          <a:lstStyle/>
          <a:p>
            <a:r>
              <a:rPr lang="en-US" sz="1500">
                <a:solidFill>
                  <a:srgbClr val="6B7280"/>
                </a:solidFill>
                <a:latin typeface="Malgun Gothic"/>
                <a:ea typeface="Malgun Gothic"/>
              </a:rPr>
              <a:t>AI 재시도 버튼, 응모 2단계 확인, 분석 피드백을 더했습니다.</a:t>
            </a:r>
          </a:p>
        </p:txBody>
      </p:sp>
      <p:sp>
        <p:nvSpPr>
          <p:cNvPr id="100224" name="P3C"/>
          <p:cNvSpPr/>
          <p:nvPr/>
        </p:nvSpPr>
        <p:spPr>
          <a:xfrm>
            <a:off x="540000" y="3744000"/>
            <a:ext cx="1224000" cy="360000"/>
          </a:xfrm>
          <a:prstGeom prst="roundRect">
            <a:avLst/>
          </a:prstGeom>
          <a:solidFill>
            <a:srgbClr val="2563EB"/>
          </a:solidFill>
          <a:ln>
            <a:noFill/>
          </a:ln>
        </p:spPr>
        <p:txBody>
          <a:bodyPr anchor="ctr"/>
          <a:lstStyle/>
          <a:p>
            <a:pPr algn="ctr"/>
            <a:r>
              <a:rPr lang="en-US" sz="1400" b="1">
                <a:solidFill>
                  <a:srgbClr val="FFFFFF"/>
                </a:solidFill>
                <a:latin typeface="Malgun Gothic"/>
                <a:ea typeface="Malgun Gothic"/>
              </a:rPr>
              <a:t>10/8~13</a:t>
            </a:r>
          </a:p>
        </p:txBody>
      </p:sp>
      <p:sp>
        <p:nvSpPr>
          <p:cNvPr id="100225" name="P3T"/>
          <p:cNvSpPr/>
          <p:nvPr/>
        </p:nvSpPr>
        <p:spPr>
          <a:xfrm>
            <a:off x="1944000" y="3708000"/>
            <a:ext cx="9360000" cy="468000"/>
          </a:xfrm>
          <a:prstGeom prst="rect">
            <a:avLst/>
          </a:prstGeom>
        </p:spPr>
        <p:txBody>
          <a:bodyPr/>
          <a:lstStyle/>
          <a:p>
            <a:r>
              <a:rPr lang="en-US" sz="2000" b="1">
                <a:solidFill>
                  <a:srgbClr val="000000"/>
                </a:solidFill>
                <a:latin typeface="Malgun Gothic"/>
                <a:ea typeface="Malgun Gothic"/>
              </a:rPr>
              <a:t>기능 확장</a:t>
            </a:r>
          </a:p>
        </p:txBody>
      </p:sp>
      <p:sp>
        <p:nvSpPr>
          <p:cNvPr id="100226" name="P3B"/>
          <p:cNvSpPr/>
          <p:nvPr/>
        </p:nvSpPr>
        <p:spPr>
          <a:xfrm>
            <a:off x="1944000" y="4212000"/>
            <a:ext cx="9360000" cy="432000"/>
          </a:xfrm>
          <a:prstGeom prst="rect">
            <a:avLst/>
          </a:prstGeom>
        </p:spPr>
        <p:txBody>
          <a:bodyPr/>
          <a:lstStyle/>
          <a:p>
            <a:r>
              <a:rPr lang="en-US" sz="1500">
                <a:solidFill>
                  <a:srgbClr val="6B7280"/>
                </a:solidFill>
                <a:latin typeface="Malgun Gothic"/>
                <a:ea typeface="Malgun Gothic"/>
              </a:rPr>
              <a:t>공모전 자동 수집·문의·알림·정량 지표를 더하고 테스트를 보강했습니다.</a:t>
            </a:r>
          </a:p>
        </p:txBody>
      </p:sp>
      <p:sp>
        <p:nvSpPr>
          <p:cNvPr id="100227" name="P4C"/>
          <p:cNvSpPr/>
          <p:nvPr/>
        </p:nvSpPr>
        <p:spPr>
          <a:xfrm>
            <a:off x="540000" y="4968000"/>
            <a:ext cx="1224000" cy="360000"/>
          </a:xfrm>
          <a:prstGeom prst="roundRect">
            <a:avLst/>
          </a:prstGeom>
          <a:solidFill>
            <a:srgbClr val="2563EB"/>
          </a:solidFill>
          <a:ln>
            <a:noFill/>
          </a:ln>
        </p:spPr>
        <p:txBody>
          <a:bodyPr anchor="ctr"/>
          <a:lstStyle/>
          <a:p>
            <a:pPr algn="ctr"/>
            <a:r>
              <a:rPr lang="en-US" sz="1400" b="1">
                <a:solidFill>
                  <a:srgbClr val="FFFFFF"/>
                </a:solidFill>
                <a:latin typeface="Malgun Gothic"/>
                <a:ea typeface="Malgun Gothic"/>
              </a:rPr>
              <a:t>10/14~15</a:t>
            </a:r>
          </a:p>
        </p:txBody>
      </p:sp>
      <p:sp>
        <p:nvSpPr>
          <p:cNvPr id="100228" name="P4T"/>
          <p:cNvSpPr/>
          <p:nvPr/>
        </p:nvSpPr>
        <p:spPr>
          <a:xfrm>
            <a:off x="1944000" y="4932000"/>
            <a:ext cx="9360000" cy="468000"/>
          </a:xfrm>
          <a:prstGeom prst="rect">
            <a:avLst/>
          </a:prstGeom>
        </p:spPr>
        <p:txBody>
          <a:bodyPr/>
          <a:lstStyle/>
          <a:p>
            <a:r>
              <a:rPr lang="en-US" sz="2000" b="1">
                <a:solidFill>
                  <a:srgbClr val="000000"/>
                </a:solidFill>
                <a:latin typeface="Malgun Gothic"/>
                <a:ea typeface="Malgun Gothic"/>
              </a:rPr>
              <a:t>완성·발표 준비</a:t>
            </a:r>
          </a:p>
        </p:txBody>
      </p:sp>
      <p:sp>
        <p:nvSpPr>
          <p:cNvPr id="100229" name="P4B"/>
          <p:cNvSpPr/>
          <p:nvPr/>
        </p:nvSpPr>
        <p:spPr>
          <a:xfrm>
            <a:off x="1944000" y="5436000"/>
            <a:ext cx="9360000" cy="432000"/>
          </a:xfrm>
          <a:prstGeom prst="rect">
            <a:avLst/>
          </a:prstGeom>
        </p:spPr>
        <p:txBody>
          <a:bodyPr/>
          <a:lstStyle/>
          <a:p>
            <a:r>
              <a:rPr lang="en-US" sz="1500">
                <a:solidFill>
                  <a:srgbClr val="6B7280"/>
                </a:solidFill>
                <a:latin typeface="Malgun Gothic"/>
                <a:ea typeface="Malgun Gothic"/>
              </a:rPr>
              <a:t>리브랜딩 마무리와 데모 준비, README·발표 자료를 만들었습니다.</a:t>
            </a:r>
          </a:p>
        </p:txBody>
      </p:sp>
      <p:sp>
        <p:nvSpPr>
          <p:cNvPr id="100230" name="Foot"/>
          <p:cNvSpPr/>
          <p:nvPr/>
        </p:nvSpPr>
        <p:spPr>
          <a:xfrm>
            <a:off x="540000" y="6048000"/>
            <a:ext cx="11113200" cy="504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첫 버전부터 완성까지 12일 — 자동 테스트 57개 검증은 전 기간 함께 진행</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55"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어떻게 만들었나 — 사용한 도구들</a:t>
            </a:r>
          </a:p>
        </p:txBody>
      </p:sp>
      <p:sp>
        <p:nvSpPr>
          <p:cNvPr id="100156" name="F1"/>
          <p:cNvSpPr/>
          <p:nvPr/>
        </p:nvSpPr>
        <p:spPr>
          <a:xfrm>
            <a:off x="540000" y="1368000"/>
            <a:ext cx="5421600" cy="2304000"/>
          </a:xfrm>
          <a:prstGeom prst="roundRect">
            <a:avLst/>
          </a:prstGeom>
          <a:solidFill>
            <a:srgbClr val="F5F6F8"/>
          </a:solidFill>
          <a:ln>
            <a:noFill/>
          </a:ln>
        </p:spPr>
        <p:txBody>
          <a:bodyPr/>
          <a:lstStyle/>
          <a:p>
            <a:endParaRPr/>
          </a:p>
        </p:txBody>
      </p:sp>
      <p:sp>
        <p:nvSpPr>
          <p:cNvPr id="100157" name="F1T"/>
          <p:cNvSpPr/>
          <p:nvPr/>
        </p:nvSpPr>
        <p:spPr>
          <a:xfrm>
            <a:off x="828000" y="1656000"/>
            <a:ext cx="4860000" cy="468000"/>
          </a:xfrm>
          <a:prstGeom prst="rect">
            <a:avLst/>
          </a:prstGeom>
        </p:spPr>
        <p:txBody>
          <a:bodyPr/>
          <a:lstStyle/>
          <a:p>
            <a:r>
              <a:rPr lang="en-US" sz="1900" b="1">
                <a:solidFill>
                  <a:srgbClr val="000000"/>
                </a:solidFill>
                <a:latin typeface="Malgun Gothic"/>
                <a:ea typeface="Malgun Gothic"/>
              </a:rPr>
              <a:t>화면 — React</a:t>
            </a:r>
          </a:p>
        </p:txBody>
      </p:sp>
      <p:sp>
        <p:nvSpPr>
          <p:cNvPr id="100158" name="F1B"/>
          <p:cNvSpPr/>
          <p:nvPr/>
        </p:nvSpPr>
        <p:spPr>
          <a:xfrm>
            <a:off x="828000" y="2232000"/>
            <a:ext cx="4860000" cy="1332000"/>
          </a:xfrm>
          <a:prstGeom prst="rect">
            <a:avLst/>
          </a:prstGeom>
        </p:spPr>
        <p:txBody>
          <a:bodyPr/>
          <a:lstStyle/>
          <a:p>
            <a:r>
              <a:rPr lang="en-US" sz="1450">
                <a:solidFill>
                  <a:srgbClr val="4B5563"/>
                </a:solidFill>
                <a:latin typeface="Malgun Gothic"/>
                <a:ea typeface="Malgun Gothic"/>
              </a:rPr>
              <a:t>사용자가 보는 웹 화면을 만드는 도구입니다.</a:t>
            </a:r>
          </a:p>
          <a:p>
            <a:r>
              <a:rPr lang="en-US" sz="1450">
                <a:solidFill>
                  <a:srgbClr val="4B5563"/>
                </a:solidFill>
                <a:latin typeface="Malgun Gothic"/>
                <a:ea typeface="Malgun Gothic"/>
              </a:rPr>
              <a:t>전 세계에서 가장 널리 쓰여 자료가 많고 안정적이고,</a:t>
            </a:r>
          </a:p>
          <a:p>
            <a:r>
              <a:rPr lang="en-US" sz="1450">
                <a:solidFill>
                  <a:srgbClr val="4B5563"/>
                </a:solidFill>
                <a:latin typeface="Malgun Gothic"/>
                <a:ea typeface="Malgun Gothic"/>
              </a:rPr>
              <a:t>화면 언어는 TypeScript라 잘못된 값을 미리 잡아 줍니다.</a:t>
            </a:r>
          </a:p>
        </p:txBody>
      </p:sp>
      <p:sp>
        <p:nvSpPr>
          <p:cNvPr id="100159" name="F2"/>
          <p:cNvSpPr/>
          <p:nvPr/>
        </p:nvSpPr>
        <p:spPr>
          <a:xfrm>
            <a:off x="6249600" y="1368000"/>
            <a:ext cx="5421600" cy="2304000"/>
          </a:xfrm>
          <a:prstGeom prst="roundRect">
            <a:avLst/>
          </a:prstGeom>
          <a:solidFill>
            <a:srgbClr val="F5F6F8"/>
          </a:solidFill>
          <a:ln>
            <a:noFill/>
          </a:ln>
        </p:spPr>
        <p:txBody>
          <a:bodyPr/>
          <a:lstStyle/>
          <a:p>
            <a:endParaRPr/>
          </a:p>
        </p:txBody>
      </p:sp>
      <p:sp>
        <p:nvSpPr>
          <p:cNvPr id="100160" name="F2T"/>
          <p:cNvSpPr/>
          <p:nvPr/>
        </p:nvSpPr>
        <p:spPr>
          <a:xfrm>
            <a:off x="6537600" y="1656000"/>
            <a:ext cx="4860000" cy="468000"/>
          </a:xfrm>
          <a:prstGeom prst="rect">
            <a:avLst/>
          </a:prstGeom>
        </p:spPr>
        <p:txBody>
          <a:bodyPr/>
          <a:lstStyle/>
          <a:p>
            <a:r>
              <a:rPr lang="en-US" sz="1900" b="1">
                <a:solidFill>
                  <a:srgbClr val="000000"/>
                </a:solidFill>
                <a:latin typeface="Malgun Gothic"/>
                <a:ea typeface="Malgun Gothic"/>
              </a:rPr>
              <a:t>서버 — Node.js(Express)</a:t>
            </a:r>
          </a:p>
        </p:txBody>
      </p:sp>
      <p:sp>
        <p:nvSpPr>
          <p:cNvPr id="100161" name="F2B"/>
          <p:cNvSpPr/>
          <p:nvPr/>
        </p:nvSpPr>
        <p:spPr>
          <a:xfrm>
            <a:off x="6537600" y="2232000"/>
            <a:ext cx="4860000" cy="1224000"/>
          </a:xfrm>
          <a:prstGeom prst="rect">
            <a:avLst/>
          </a:prstGeom>
        </p:spPr>
        <p:txBody>
          <a:bodyPr/>
          <a:lstStyle/>
          <a:p>
            <a:r>
              <a:rPr lang="en-US" sz="1450">
                <a:solidFill>
                  <a:srgbClr val="4B5563"/>
                </a:solidFill>
                <a:latin typeface="Malgun Gothic"/>
                <a:ea typeface="Malgun Gothic"/>
              </a:rPr>
              <a:t>요청을 받아 일을 처리하는 두뇌 역할입니다.</a:t>
            </a:r>
          </a:p>
          <a:p>
            <a:r>
              <a:rPr lang="en-US" sz="1450">
                <a:solidFill>
                  <a:srgbClr val="4B5563"/>
                </a:solidFill>
                <a:latin typeface="Malgun Gothic"/>
                <a:ea typeface="Malgun Gothic"/>
              </a:rPr>
              <a:t>로그인·기록 저장·AI 호출·공모전 수집 같은</a:t>
            </a:r>
          </a:p>
          <a:p>
            <a:r>
              <a:rPr lang="en-US" sz="1450">
                <a:solidFill>
                  <a:srgbClr val="4B5563"/>
                </a:solidFill>
                <a:latin typeface="Malgun Gothic"/>
                <a:ea typeface="Malgun Gothic"/>
              </a:rPr>
              <a:t>뒷일을 전부 맡습니다.</a:t>
            </a:r>
          </a:p>
        </p:txBody>
      </p:sp>
      <p:sp>
        <p:nvSpPr>
          <p:cNvPr id="100162" name="F3"/>
          <p:cNvSpPr/>
          <p:nvPr/>
        </p:nvSpPr>
        <p:spPr>
          <a:xfrm>
            <a:off x="540000" y="3888000"/>
            <a:ext cx="5421600" cy="2304000"/>
          </a:xfrm>
          <a:prstGeom prst="roundRect">
            <a:avLst/>
          </a:prstGeom>
          <a:solidFill>
            <a:srgbClr val="F5F6F8"/>
          </a:solidFill>
          <a:ln>
            <a:noFill/>
          </a:ln>
        </p:spPr>
        <p:txBody>
          <a:bodyPr/>
          <a:lstStyle/>
          <a:p>
            <a:endParaRPr/>
          </a:p>
        </p:txBody>
      </p:sp>
      <p:sp>
        <p:nvSpPr>
          <p:cNvPr id="100163" name="F3T"/>
          <p:cNvSpPr/>
          <p:nvPr/>
        </p:nvSpPr>
        <p:spPr>
          <a:xfrm>
            <a:off x="828000" y="4176000"/>
            <a:ext cx="4860000" cy="468000"/>
          </a:xfrm>
          <a:prstGeom prst="rect">
            <a:avLst/>
          </a:prstGeom>
        </p:spPr>
        <p:txBody>
          <a:bodyPr/>
          <a:lstStyle/>
          <a:p>
            <a:r>
              <a:rPr lang="en-US" sz="1900" b="1">
                <a:solidFill>
                  <a:srgbClr val="000000"/>
                </a:solidFill>
                <a:latin typeface="Malgun Gothic"/>
                <a:ea typeface="Malgun Gothic"/>
              </a:rPr>
              <a:t>AI 분석 엔진 — OpenAI 호환 API</a:t>
            </a:r>
          </a:p>
        </p:txBody>
      </p:sp>
      <p:sp>
        <p:nvSpPr>
          <p:cNvPr id="100164" name="F3B"/>
          <p:cNvSpPr/>
          <p:nvPr/>
        </p:nvSpPr>
        <p:spPr>
          <a:xfrm>
            <a:off x="828000" y="4752000"/>
            <a:ext cx="4860000" cy="1224000"/>
          </a:xfrm>
          <a:prstGeom prst="rect">
            <a:avLst/>
          </a:prstGeom>
        </p:spPr>
        <p:txBody>
          <a:bodyPr/>
          <a:lstStyle/>
          <a:p>
            <a:r>
              <a:rPr lang="en-US" sz="1450">
                <a:solidFill>
                  <a:srgbClr val="4B5563"/>
                </a:solidFill>
                <a:latin typeface="Malgun Gothic"/>
                <a:ea typeface="Malgun Gothic"/>
              </a:rPr>
              <a:t>아이디어를 읽고 강점·심사 포인트,</a:t>
            </a:r>
          </a:p>
          <a:p>
            <a:r>
              <a:rPr lang="en-US" sz="1450">
                <a:solidFill>
                  <a:srgbClr val="4B5563"/>
                </a:solidFill>
                <a:latin typeface="Malgun Gothic"/>
                <a:ea typeface="Malgun Gothic"/>
              </a:rPr>
              <a:t>공모전마다 적합도 점수와 추천 이유를</a:t>
            </a:r>
          </a:p>
          <a:p>
            <a:r>
              <a:rPr lang="en-US" sz="1450">
                <a:solidFill>
                  <a:srgbClr val="4B5563"/>
                </a:solidFill>
                <a:latin typeface="Malgun Gothic"/>
                <a:ea typeface="Malgun Gothic"/>
              </a:rPr>
              <a:t>써 주는 외부 AI입니다.</a:t>
            </a:r>
          </a:p>
        </p:txBody>
      </p:sp>
      <p:sp>
        <p:nvSpPr>
          <p:cNvPr id="100165" name="F4"/>
          <p:cNvSpPr/>
          <p:nvPr/>
        </p:nvSpPr>
        <p:spPr>
          <a:xfrm>
            <a:off x="6249600" y="3888000"/>
            <a:ext cx="5421600" cy="2304000"/>
          </a:xfrm>
          <a:prstGeom prst="roundRect">
            <a:avLst/>
          </a:prstGeom>
          <a:solidFill>
            <a:srgbClr val="F5F6F8"/>
          </a:solidFill>
          <a:ln>
            <a:noFill/>
          </a:ln>
        </p:spPr>
        <p:txBody>
          <a:bodyPr/>
          <a:lstStyle/>
          <a:p>
            <a:endParaRPr/>
          </a:p>
        </p:txBody>
      </p:sp>
      <p:sp>
        <p:nvSpPr>
          <p:cNvPr id="100166" name="F4T"/>
          <p:cNvSpPr/>
          <p:nvPr/>
        </p:nvSpPr>
        <p:spPr>
          <a:xfrm>
            <a:off x="6537600" y="4176000"/>
            <a:ext cx="4860000" cy="468000"/>
          </a:xfrm>
          <a:prstGeom prst="rect">
            <a:avLst/>
          </a:prstGeom>
        </p:spPr>
        <p:txBody>
          <a:bodyPr/>
          <a:lstStyle/>
          <a:p>
            <a:r>
              <a:rPr lang="en-US" sz="1900" b="1">
                <a:solidFill>
                  <a:srgbClr val="000000"/>
                </a:solidFill>
                <a:latin typeface="Malgun Gothic"/>
                <a:ea typeface="Malgun Gothic"/>
              </a:rPr>
              <a:t>기억 — 브라우저 + 서버 이중 저장</a:t>
            </a:r>
          </a:p>
        </p:txBody>
      </p:sp>
      <p:sp>
        <p:nvSpPr>
          <p:cNvPr id="100167" name="F4B"/>
          <p:cNvSpPr/>
          <p:nvPr/>
        </p:nvSpPr>
        <p:spPr>
          <a:xfrm>
            <a:off x="6537600" y="4752000"/>
            <a:ext cx="4860000" cy="1224000"/>
          </a:xfrm>
          <a:prstGeom prst="rect">
            <a:avLst/>
          </a:prstGeom>
        </p:spPr>
        <p:txBody>
          <a:bodyPr/>
          <a:lstStyle/>
          <a:p>
            <a:r>
              <a:rPr lang="en-US" sz="1450">
                <a:solidFill>
                  <a:srgbClr val="4B5563"/>
                </a:solidFill>
                <a:latin typeface="Malgun Gothic"/>
                <a:ea typeface="Malgun Gothic"/>
              </a:rPr>
              <a:t>찜·아이디어·응모 기록은 브라우저에 즉시 저장되고,</a:t>
            </a:r>
          </a:p>
          <a:p>
            <a:r>
              <a:rPr lang="en-US" sz="1450">
                <a:solidFill>
                  <a:srgbClr val="4B5563"/>
                </a:solidFill>
                <a:latin typeface="Malgun Gothic"/>
                <a:ea typeface="Malgun Gothic"/>
              </a:rPr>
              <a:t>로그인하면 서버에 백업됩니다.</a:t>
            </a:r>
          </a:p>
          <a:p>
            <a:r>
              <a:rPr lang="en-US" sz="1450">
                <a:solidFill>
                  <a:srgbClr val="4B5563"/>
                </a:solidFill>
                <a:latin typeface="Malgun Gothic"/>
                <a:ea typeface="Malgun Gothic"/>
              </a:rPr>
              <a:t>PC를 바꿔도 로그인하면 그대로 복원됩니다.</a:t>
            </a:r>
          </a:p>
        </p:txBody>
      </p:sp>
      <p:sp>
        <p:nvSpPr>
          <p:cNvPr id="100168" name="Foot"/>
          <p:cNvSpPr/>
          <p:nvPr/>
        </p:nvSpPr>
        <p:spPr>
          <a:xfrm>
            <a:off x="540000" y="6336000"/>
            <a:ext cx="11113200" cy="360000"/>
          </a:xfrm>
          <a:prstGeom prst="rect">
            <a:avLst/>
          </a:prstGeom>
        </p:spPr>
        <p:txBody>
          <a:bodyPr/>
          <a:lstStyle/>
          <a:p>
            <a:r>
              <a:rPr lang="en-US" sz="1500">
                <a:solidFill>
                  <a:srgbClr val="6B7280"/>
                </a:solidFill>
                <a:latin typeface="Malgun Gothic"/>
                <a:ea typeface="Malgun Gothic"/>
              </a:rPr>
              <a:t>화면과 서버는 공개된 오픈소스 기술이고, AI는 외부 분석 엔진을 연결해 사용했습니다.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232"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어떻게 만들었나 — 폴더 구조</a:t>
            </a:r>
          </a:p>
        </p:txBody>
      </p:sp>
      <p:sp>
        <p:nvSpPr>
          <p:cNvPr id="100233" name="Code"/>
          <p:cNvSpPr/>
          <p:nvPr/>
        </p:nvSpPr>
        <p:spPr>
          <a:xfrm>
            <a:off x="540000" y="1368000"/>
            <a:ext cx="5940000" cy="4824000"/>
          </a:xfrm>
          <a:prstGeom prst="roundRect">
            <a:avLst/>
          </a:prstGeom>
          <a:solidFill>
            <a:srgbClr val="111827"/>
          </a:solidFill>
          <a:ln>
            <a:noFill/>
          </a:ln>
        </p:spPr>
        <p:txBody>
          <a:bodyPr anchor="ctr"/>
          <a:lstStyle/>
          <a:p>
            <a:r>
              <a:rPr lang="en-US" sz="1300">
                <a:solidFill>
                  <a:srgbClr val="F9FAFB"/>
                </a:solidFill>
                <a:latin typeface="Consolas"/>
                <a:ea typeface="Consolas"/>
              </a:rPr>
              <a:t>공모온/</a:t>
            </a:r>
          </a:p>
          <a:p>
            <a:r>
              <a:rPr lang="en-US" sz="1300">
                <a:solidFill>
                  <a:srgbClr val="F9FAFB"/>
                </a:solidFill>
                <a:latin typeface="Consolas"/>
                <a:ea typeface="Consolas"/>
              </a:rPr>
              <a:t>├─ frontend — 화면</a:t>
            </a:r>
          </a:p>
          <a:p>
            <a:r>
              <a:rPr lang="en-US" sz="1300">
                <a:solidFill>
                  <a:srgbClr val="F9FAFB"/>
                </a:solidFill>
                <a:latin typeface="Consolas"/>
                <a:ea typeface="Consolas"/>
              </a:rPr>
              <a:t>│    └─ src — 화면·기능 코드</a:t>
            </a:r>
          </a:p>
          <a:p>
            <a:r>
              <a:rPr lang="en-US" sz="1300">
                <a:solidFill>
                  <a:srgbClr val="F9FAFB"/>
                </a:solidFill>
                <a:latin typeface="Consolas"/>
                <a:ea typeface="Consolas"/>
              </a:rPr>
              <a:t>├─ backend — 서버</a:t>
            </a:r>
          </a:p>
          <a:p>
            <a:r>
              <a:rPr lang="en-US" sz="1300">
                <a:solidFill>
                  <a:srgbClr val="F9FAFB"/>
                </a:solidFill>
                <a:latin typeface="Consolas"/>
                <a:ea typeface="Consolas"/>
              </a:rPr>
              <a:t>│    └─ src — API·AI 연결·자동 수집</a:t>
            </a:r>
          </a:p>
          <a:p>
            <a:r>
              <a:rPr lang="en-US" sz="1300">
                <a:solidFill>
                  <a:srgbClr val="F9FAFB"/>
                </a:solidFill>
                <a:latin typeface="Consolas"/>
                <a:ea typeface="Consolas"/>
              </a:rPr>
              <a:t>├─ 발표 — 발표 자료·대본</a:t>
            </a:r>
          </a:p>
          <a:p>
            <a:r>
              <a:rPr lang="en-US" sz="1300">
                <a:solidFill>
                  <a:srgbClr val="F9FAFB"/>
                </a:solidFill>
                <a:latin typeface="Consolas"/>
                <a:ea typeface="Consolas"/>
              </a:rPr>
              <a:t>├─ 공모온_기획서.md — 서비스 기획</a:t>
            </a:r>
          </a:p>
          <a:p>
            <a:r>
              <a:rPr lang="en-US" sz="1300">
                <a:solidFill>
                  <a:srgbClr val="F9FAFB"/>
                </a:solidFill>
                <a:latin typeface="Consolas"/>
                <a:ea typeface="Consolas"/>
              </a:rPr>
              <a:t>├─ 공모온_설계서.md — 기술 설계</a:t>
            </a:r>
          </a:p>
          <a:p>
            <a:r>
              <a:rPr lang="en-US" sz="1300">
                <a:solidFill>
                  <a:srgbClr val="F9FAFB"/>
                </a:solidFill>
                <a:latin typeface="Consolas"/>
                <a:ea typeface="Consolas"/>
              </a:rPr>
              <a:t>└─ README.md — 설치·실행·트러블슈팅</a:t>
            </a:r>
          </a:p>
        </p:txBody>
      </p:sp>
      <p:sp>
        <p:nvSpPr>
          <p:cNvPr id="100234" name="E1"/>
          <p:cNvSpPr/>
          <p:nvPr/>
        </p:nvSpPr>
        <p:spPr>
          <a:xfrm>
            <a:off x="6840000" y="1368000"/>
            <a:ext cx="4813200" cy="1440000"/>
          </a:xfrm>
          <a:prstGeom prst="roundRect">
            <a:avLst/>
          </a:prstGeom>
          <a:solidFill>
            <a:srgbClr val="F5F6F8"/>
          </a:solidFill>
          <a:ln>
            <a:noFill/>
          </a:ln>
        </p:spPr>
        <p:txBody>
          <a:bodyPr/>
          <a:lstStyle/>
          <a:p>
            <a:endParaRPr/>
          </a:p>
        </p:txBody>
      </p:sp>
      <p:sp>
        <p:nvSpPr>
          <p:cNvPr id="100235" name="E1T"/>
          <p:cNvSpPr/>
          <p:nvPr/>
        </p:nvSpPr>
        <p:spPr>
          <a:xfrm>
            <a:off x="7128000" y="1584000"/>
            <a:ext cx="4248000" cy="432000"/>
          </a:xfrm>
          <a:prstGeom prst="rect">
            <a:avLst/>
          </a:prstGeom>
        </p:spPr>
        <p:txBody>
          <a:bodyPr/>
          <a:lstStyle/>
          <a:p>
            <a:r>
              <a:rPr lang="en-US" sz="1700" b="1">
                <a:solidFill>
                  <a:srgbClr val="000000"/>
                </a:solidFill>
                <a:latin typeface="Malgun Gothic"/>
                <a:ea typeface="Malgun Gothic"/>
              </a:rPr>
              <a:t>frontend — 사용자가 보는 화면</a:t>
            </a:r>
          </a:p>
        </p:txBody>
      </p:sp>
      <p:sp>
        <p:nvSpPr>
          <p:cNvPr id="100236" name="E1B"/>
          <p:cNvSpPr/>
          <p:nvPr/>
        </p:nvSpPr>
        <p:spPr>
          <a:xfrm>
            <a:off x="7128000" y="2088000"/>
            <a:ext cx="4248000" cy="648000"/>
          </a:xfrm>
          <a:prstGeom prst="rect">
            <a:avLst/>
          </a:prstGeom>
        </p:spPr>
        <p:txBody>
          <a:bodyPr/>
          <a:lstStyle/>
          <a:p>
            <a:r>
              <a:rPr lang="en-US" sz="1400">
                <a:solidFill>
                  <a:srgbClr val="4B5563"/>
                </a:solidFill>
                <a:latin typeface="Malgun Gothic"/>
                <a:ea typeface="Malgun Gothic"/>
              </a:rPr>
              <a:t>화면·기능 코드와</a:t>
            </a:r>
          </a:p>
          <a:p>
            <a:r>
              <a:rPr lang="en-US" sz="1400">
                <a:solidFill>
                  <a:srgbClr val="4B5563"/>
                </a:solidFill>
                <a:latin typeface="Malgun Gothic"/>
                <a:ea typeface="Malgun Gothic"/>
              </a:rPr>
              <a:t>자동 테스트 26개가 담기는 폴더입니다.</a:t>
            </a:r>
          </a:p>
        </p:txBody>
      </p:sp>
      <p:sp>
        <p:nvSpPr>
          <p:cNvPr id="100237" name="E2"/>
          <p:cNvSpPr/>
          <p:nvPr/>
        </p:nvSpPr>
        <p:spPr>
          <a:xfrm>
            <a:off x="6840000" y="3060000"/>
            <a:ext cx="4813200" cy="1440000"/>
          </a:xfrm>
          <a:prstGeom prst="roundRect">
            <a:avLst/>
          </a:prstGeom>
          <a:solidFill>
            <a:srgbClr val="F5F6F8"/>
          </a:solidFill>
          <a:ln>
            <a:noFill/>
          </a:ln>
        </p:spPr>
        <p:txBody>
          <a:bodyPr/>
          <a:lstStyle/>
          <a:p>
            <a:endParaRPr/>
          </a:p>
        </p:txBody>
      </p:sp>
      <p:sp>
        <p:nvSpPr>
          <p:cNvPr id="100238" name="E2T"/>
          <p:cNvSpPr/>
          <p:nvPr/>
        </p:nvSpPr>
        <p:spPr>
          <a:xfrm>
            <a:off x="7128000" y="3276000"/>
            <a:ext cx="4248000" cy="432000"/>
          </a:xfrm>
          <a:prstGeom prst="rect">
            <a:avLst/>
          </a:prstGeom>
        </p:spPr>
        <p:txBody>
          <a:bodyPr/>
          <a:lstStyle/>
          <a:p>
            <a:r>
              <a:rPr lang="en-US" sz="1700" b="1">
                <a:solidFill>
                  <a:srgbClr val="000000"/>
                </a:solidFill>
                <a:latin typeface="Malgun Gothic"/>
                <a:ea typeface="Malgun Gothic"/>
              </a:rPr>
              <a:t>backend — 요청을 처리하는 서버</a:t>
            </a:r>
          </a:p>
        </p:txBody>
      </p:sp>
      <p:sp>
        <p:nvSpPr>
          <p:cNvPr id="100239" name="E2B"/>
          <p:cNvSpPr/>
          <p:nvPr/>
        </p:nvSpPr>
        <p:spPr>
          <a:xfrm>
            <a:off x="7128000" y="3780000"/>
            <a:ext cx="4248000" cy="648000"/>
          </a:xfrm>
          <a:prstGeom prst="rect">
            <a:avLst/>
          </a:prstGeom>
        </p:spPr>
        <p:txBody>
          <a:bodyPr/>
          <a:lstStyle/>
          <a:p>
            <a:r>
              <a:rPr lang="en-US" sz="1400">
                <a:solidFill>
                  <a:srgbClr val="4B5563"/>
                </a:solidFill>
                <a:latin typeface="Malgun Gothic"/>
                <a:ea typeface="Malgun Gothic"/>
              </a:rPr>
              <a:t>로그인·AI 연결·공모전 수집 코드와 테스트 31개가 있습니다.</a:t>
            </a:r>
          </a:p>
        </p:txBody>
      </p:sp>
      <p:sp>
        <p:nvSpPr>
          <p:cNvPr id="100240" name="E3"/>
          <p:cNvSpPr/>
          <p:nvPr/>
        </p:nvSpPr>
        <p:spPr>
          <a:xfrm>
            <a:off x="6840000" y="4752000"/>
            <a:ext cx="4813200" cy="1440000"/>
          </a:xfrm>
          <a:prstGeom prst="roundRect">
            <a:avLst/>
          </a:prstGeom>
          <a:solidFill>
            <a:srgbClr val="F5F6F8"/>
          </a:solidFill>
          <a:ln>
            <a:noFill/>
          </a:ln>
        </p:spPr>
        <p:txBody>
          <a:bodyPr/>
          <a:lstStyle/>
          <a:p>
            <a:endParaRPr/>
          </a:p>
        </p:txBody>
      </p:sp>
      <p:sp>
        <p:nvSpPr>
          <p:cNvPr id="100241" name="E3T"/>
          <p:cNvSpPr/>
          <p:nvPr/>
        </p:nvSpPr>
        <p:spPr>
          <a:xfrm>
            <a:off x="7128000" y="4968000"/>
            <a:ext cx="4248000" cy="432000"/>
          </a:xfrm>
          <a:prstGeom prst="rect">
            <a:avLst/>
          </a:prstGeom>
        </p:spPr>
        <p:txBody>
          <a:bodyPr/>
          <a:lstStyle/>
          <a:p>
            <a:r>
              <a:rPr lang="en-US" sz="1700" b="1">
                <a:solidFill>
                  <a:srgbClr val="000000"/>
                </a:solidFill>
                <a:latin typeface="Malgun Gothic"/>
                <a:ea typeface="Malgun Gothic"/>
              </a:rPr>
              <a:t>문서와 발표 자료</a:t>
            </a:r>
          </a:p>
        </p:txBody>
      </p:sp>
      <p:sp>
        <p:nvSpPr>
          <p:cNvPr id="100242" name="E3B"/>
          <p:cNvSpPr/>
          <p:nvPr/>
        </p:nvSpPr>
        <p:spPr>
          <a:xfrm>
            <a:off x="7128000" y="5472000"/>
            <a:ext cx="4248000" cy="648000"/>
          </a:xfrm>
          <a:prstGeom prst="rect">
            <a:avLst/>
          </a:prstGeom>
        </p:spPr>
        <p:txBody>
          <a:bodyPr/>
          <a:lstStyle/>
          <a:p>
            <a:r>
              <a:rPr lang="en-US" sz="1400">
                <a:solidFill>
                  <a:srgbClr val="4B5563"/>
                </a:solidFill>
                <a:latin typeface="Malgun Gothic"/>
                <a:ea typeface="Malgun Gothic"/>
              </a:rPr>
              <a:t>기획서·설계서·README·발표 자료를 루트에 함께 뒀습니다.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70"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막혔던 순간, 이렇게 풀었습니다</a:t>
            </a:r>
          </a:p>
        </p:txBody>
      </p:sp>
      <p:sp>
        <p:nvSpPr>
          <p:cNvPr id="100171" name="Q1"/>
          <p:cNvSpPr/>
          <p:nvPr/>
        </p:nvSpPr>
        <p:spPr>
          <a:xfrm>
            <a:off x="540000" y="1296000"/>
            <a:ext cx="864000" cy="576000"/>
          </a:xfrm>
          <a:prstGeom prst="rect">
            <a:avLst/>
          </a:prstGeom>
        </p:spPr>
        <p:txBody>
          <a:bodyPr/>
          <a:lstStyle/>
          <a:p>
            <a:r>
              <a:rPr lang="en-US" sz="3000" b="1">
                <a:solidFill>
                  <a:schemeClr val="tx1">
                    <a:lumMod val="85000"/>
                    <a:lumOff val="15000"/>
                  </a:schemeClr>
                </a:solidFill>
                <a:latin typeface="Malgun Gothic"/>
                <a:ea typeface="Malgun Gothic"/>
              </a:rPr>
              <a:t>01</a:t>
            </a:r>
          </a:p>
        </p:txBody>
      </p:sp>
      <p:sp>
        <p:nvSpPr>
          <p:cNvPr id="100172" name="Q1T"/>
          <p:cNvSpPr/>
          <p:nvPr/>
        </p:nvSpPr>
        <p:spPr>
          <a:xfrm>
            <a:off x="1584000" y="1332000"/>
            <a:ext cx="10080000" cy="504000"/>
          </a:xfrm>
          <a:prstGeom prst="rect">
            <a:avLst/>
          </a:prstGeom>
        </p:spPr>
        <p:txBody>
          <a:bodyPr/>
          <a:lstStyle/>
          <a:p>
            <a:r>
              <a:rPr lang="en-US" sz="1900" b="1">
                <a:solidFill>
                  <a:srgbClr val="000000"/>
                </a:solidFill>
                <a:latin typeface="Malgun Gothic"/>
                <a:ea typeface="Malgun Gothic"/>
              </a:rPr>
              <a:t>AI가 없는 공모전을 지어내서 알려 주면?</a:t>
            </a:r>
          </a:p>
        </p:txBody>
      </p:sp>
      <p:sp>
        <p:nvSpPr>
          <p:cNvPr id="100173" name="Q1B"/>
          <p:cNvSpPr/>
          <p:nvPr/>
        </p:nvSpPr>
        <p:spPr>
          <a:xfrm>
            <a:off x="1584000" y="1908000"/>
            <a:ext cx="10080000" cy="792000"/>
          </a:xfrm>
          <a:prstGeom prst="rect">
            <a:avLst/>
          </a:prstGeom>
        </p:spPr>
        <p:txBody>
          <a:bodyPr/>
          <a:lstStyle/>
          <a:p>
            <a:r>
              <a:rPr lang="en-US" sz="1500">
                <a:solidFill>
                  <a:srgbClr val="4B5563"/>
                </a:solidFill>
                <a:latin typeface="Malgun Gothic"/>
                <a:ea typeface="Malgun Gothic"/>
              </a:rPr>
              <a:t>해결 — AI가 돌려준 답에서 요청한 적 없는 공모전은 서버가 잘라냅니다.</a:t>
            </a:r>
          </a:p>
          <a:p>
            <a:r>
              <a:rPr lang="en-US" sz="1500">
                <a:solidFill>
                  <a:srgbClr val="4B5563"/>
                </a:solidFill>
                <a:latin typeface="Malgun Gothic"/>
                <a:ea typeface="Malgun Gothic"/>
              </a:rPr>
              <a:t>점수와 이유는 실제로 보낸 공모전에만 붙고, 지어낸 답은 화면까지 갈 수 없습니다.</a:t>
            </a:r>
          </a:p>
        </p:txBody>
      </p:sp>
      <p:sp>
        <p:nvSpPr>
          <p:cNvPr id="100174" name="Q2"/>
          <p:cNvSpPr/>
          <p:nvPr/>
        </p:nvSpPr>
        <p:spPr>
          <a:xfrm>
            <a:off x="540000" y="2664000"/>
            <a:ext cx="864000" cy="576000"/>
          </a:xfrm>
          <a:prstGeom prst="rect">
            <a:avLst/>
          </a:prstGeom>
        </p:spPr>
        <p:txBody>
          <a:bodyPr/>
          <a:lstStyle/>
          <a:p>
            <a:r>
              <a:rPr lang="en-US" sz="3000" b="1">
                <a:solidFill>
                  <a:schemeClr val="tx1">
                    <a:lumMod val="85000"/>
                    <a:lumOff val="15000"/>
                  </a:schemeClr>
                </a:solidFill>
                <a:latin typeface="Malgun Gothic"/>
                <a:ea typeface="Malgun Gothic"/>
              </a:rPr>
              <a:t>02</a:t>
            </a:r>
          </a:p>
        </p:txBody>
      </p:sp>
      <p:sp>
        <p:nvSpPr>
          <p:cNvPr id="100175" name="Q2T"/>
          <p:cNvSpPr/>
          <p:nvPr/>
        </p:nvSpPr>
        <p:spPr>
          <a:xfrm>
            <a:off x="1584000" y="2700000"/>
            <a:ext cx="10080000" cy="504000"/>
          </a:xfrm>
          <a:prstGeom prst="rect">
            <a:avLst/>
          </a:prstGeom>
        </p:spPr>
        <p:txBody>
          <a:bodyPr/>
          <a:lstStyle/>
          <a:p>
            <a:r>
              <a:rPr lang="en-US" sz="1900" b="1">
                <a:solidFill>
                  <a:srgbClr val="000000"/>
                </a:solidFill>
                <a:latin typeface="Malgun Gothic"/>
                <a:ea typeface="Malgun Gothic"/>
              </a:rPr>
              <a:t>AI가 멈추면 서비스도 멈출까?</a:t>
            </a:r>
          </a:p>
        </p:txBody>
      </p:sp>
      <p:sp>
        <p:nvSpPr>
          <p:cNvPr id="100176" name="Q2B"/>
          <p:cNvSpPr/>
          <p:nvPr/>
        </p:nvSpPr>
        <p:spPr>
          <a:xfrm>
            <a:off x="1584000" y="3276000"/>
            <a:ext cx="10080000" cy="792000"/>
          </a:xfrm>
          <a:prstGeom prst="rect">
            <a:avLst/>
          </a:prstGeom>
        </p:spPr>
        <p:txBody>
          <a:bodyPr/>
          <a:lstStyle/>
          <a:p>
            <a:r>
              <a:rPr lang="en-US" sz="1500">
                <a:solidFill>
                  <a:srgbClr val="4B5563"/>
                </a:solidFill>
                <a:latin typeface="Malgun Gothic"/>
                <a:ea typeface="Malgun Gothic"/>
              </a:rPr>
              <a:t>해결 — AI 실패 시 준비된 데모 분석으로 자동 전환합니다.</a:t>
            </a:r>
          </a:p>
          <a:p>
            <a:r>
              <a:rPr lang="en-US" sz="1500">
                <a:solidFill>
                  <a:srgbClr val="4B5563"/>
                </a:solidFill>
                <a:latin typeface="Malgun Gothic"/>
                <a:ea typeface="Malgun Gothic"/>
              </a:rPr>
              <a:t>API 키가 만료되거나 네트워크가 끊겨도 화면은 계속 동작합니다.</a:t>
            </a:r>
          </a:p>
        </p:txBody>
      </p:sp>
      <p:sp>
        <p:nvSpPr>
          <p:cNvPr id="100177" name="Q3"/>
          <p:cNvSpPr/>
          <p:nvPr/>
        </p:nvSpPr>
        <p:spPr>
          <a:xfrm>
            <a:off x="540000" y="4032000"/>
            <a:ext cx="864000" cy="576000"/>
          </a:xfrm>
          <a:prstGeom prst="rect">
            <a:avLst/>
          </a:prstGeom>
        </p:spPr>
        <p:txBody>
          <a:bodyPr/>
          <a:lstStyle/>
          <a:p>
            <a:r>
              <a:rPr lang="en-US" sz="3000" b="1">
                <a:solidFill>
                  <a:schemeClr val="tx1">
                    <a:lumMod val="85000"/>
                    <a:lumOff val="15000"/>
                  </a:schemeClr>
                </a:solidFill>
                <a:latin typeface="Malgun Gothic"/>
                <a:ea typeface="Malgun Gothic"/>
              </a:rPr>
              <a:t>03</a:t>
            </a:r>
          </a:p>
        </p:txBody>
      </p:sp>
      <p:sp>
        <p:nvSpPr>
          <p:cNvPr id="100178" name="Q3T"/>
          <p:cNvSpPr/>
          <p:nvPr/>
        </p:nvSpPr>
        <p:spPr>
          <a:xfrm>
            <a:off x="1584000" y="4068000"/>
            <a:ext cx="10080000" cy="504000"/>
          </a:xfrm>
          <a:prstGeom prst="rect">
            <a:avLst/>
          </a:prstGeom>
        </p:spPr>
        <p:txBody>
          <a:bodyPr/>
          <a:lstStyle/>
          <a:p>
            <a:r>
              <a:rPr lang="en-US" sz="1900" b="1">
                <a:solidFill>
                  <a:srgbClr val="000000"/>
                </a:solidFill>
                <a:latin typeface="Malgun Gothic"/>
                <a:ea typeface="Malgun Gothic"/>
              </a:rPr>
              <a:t>공모전 정보를 매일 손으로 옮길 수는 없을까?</a:t>
            </a:r>
          </a:p>
        </p:txBody>
      </p:sp>
      <p:sp>
        <p:nvSpPr>
          <p:cNvPr id="100179" name="Q3B"/>
          <p:cNvSpPr/>
          <p:nvPr/>
        </p:nvSpPr>
        <p:spPr>
          <a:xfrm>
            <a:off x="1584000" y="4644000"/>
            <a:ext cx="10080000" cy="792000"/>
          </a:xfrm>
          <a:prstGeom prst="rect">
            <a:avLst/>
          </a:prstGeom>
        </p:spPr>
        <p:txBody>
          <a:bodyPr/>
          <a:lstStyle/>
          <a:p>
            <a:r>
              <a:rPr lang="en-US" sz="1500">
                <a:solidFill>
                  <a:srgbClr val="4B5563"/>
                </a:solidFill>
                <a:latin typeface="Malgun Gothic"/>
                <a:ea typeface="Malgun Gothic"/>
              </a:rPr>
              <a:t>해결 — 위비티·콘테스트코리아에서 접수 중·접수 예정 공모전을 자동 수집합니다.</a:t>
            </a:r>
          </a:p>
          <a:p>
            <a:r>
              <a:rPr lang="en-US" sz="1500">
                <a:solidFill>
                  <a:srgbClr val="4B5563"/>
                </a:solidFill>
                <a:latin typeface="Malgun Gothic"/>
                <a:ea typeface="Malgun Gothic"/>
              </a:rPr>
              <a:t>사람이 하던 정보 정리를 프로그램이 대신합니다.</a:t>
            </a:r>
          </a:p>
        </p:txBody>
      </p:sp>
      <p:sp>
        <p:nvSpPr>
          <p:cNvPr id="100243" name="Q4"/>
          <p:cNvSpPr/>
          <p:nvPr/>
        </p:nvSpPr>
        <p:spPr>
          <a:xfrm>
            <a:off x="540000" y="5400000"/>
            <a:ext cx="864000" cy="576000"/>
          </a:xfrm>
          <a:prstGeom prst="rect">
            <a:avLst/>
          </a:prstGeom>
        </p:spPr>
        <p:txBody>
          <a:bodyPr/>
          <a:lstStyle/>
          <a:p>
            <a:r>
              <a:rPr lang="en-US" sz="3000" b="1">
                <a:solidFill>
                  <a:schemeClr val="tx1">
                    <a:lumMod val="85000"/>
                    <a:lumOff val="15000"/>
                  </a:schemeClr>
                </a:solidFill>
                <a:latin typeface="Malgun Gothic"/>
                <a:ea typeface="Malgun Gothic"/>
              </a:rPr>
              <a:t>04</a:t>
            </a:r>
          </a:p>
        </p:txBody>
      </p:sp>
      <p:sp>
        <p:nvSpPr>
          <p:cNvPr id="100244" name="Q4T"/>
          <p:cNvSpPr/>
          <p:nvPr/>
        </p:nvSpPr>
        <p:spPr>
          <a:xfrm>
            <a:off x="1584000" y="5436000"/>
            <a:ext cx="10080000" cy="504000"/>
          </a:xfrm>
          <a:prstGeom prst="rect">
            <a:avLst/>
          </a:prstGeom>
        </p:spPr>
        <p:txBody>
          <a:bodyPr/>
          <a:lstStyle/>
          <a:p>
            <a:r>
              <a:rPr lang="en-US" sz="1900" b="1">
                <a:solidFill>
                  <a:srgbClr val="000000"/>
                </a:solidFill>
                <a:latin typeface="Malgun Gothic"/>
                <a:ea typeface="Malgun Gothic"/>
              </a:rPr>
              <a:t>다른 PC·새로고침에서 데이터가 사라진다면?</a:t>
            </a:r>
          </a:p>
        </p:txBody>
      </p:sp>
      <p:sp>
        <p:nvSpPr>
          <p:cNvPr id="100245" name="Q4B"/>
          <p:cNvSpPr/>
          <p:nvPr/>
        </p:nvSpPr>
        <p:spPr>
          <a:xfrm>
            <a:off x="1584000" y="6012000"/>
            <a:ext cx="10080000" cy="720000"/>
          </a:xfrm>
          <a:prstGeom prst="rect">
            <a:avLst/>
          </a:prstGeom>
        </p:spPr>
        <p:txBody>
          <a:bodyPr/>
          <a:lstStyle/>
          <a:p>
            <a:r>
              <a:rPr lang="en-US" sz="1500">
                <a:solidFill>
                  <a:srgbClr val="4B5563"/>
                </a:solidFill>
                <a:latin typeface="Malgun Gothic"/>
                <a:ea typeface="Malgun Gothic"/>
              </a:rPr>
              <a:t>해결 — 찜·응모 기록은 브라우저에 즉시 저장하고, 로그인하면 서버에 백업해 복원합니다.</a:t>
            </a:r>
          </a:p>
          <a:p>
            <a:r>
              <a:rPr lang="en-US" sz="1500">
                <a:solidFill>
                  <a:srgbClr val="4B5563"/>
                </a:solidFill>
                <a:latin typeface="Malgun Gothic"/>
                <a:ea typeface="Malgun Gothic"/>
              </a:rPr>
              <a:t>주소(포트)를 고정해 저장 공간이 바뀌지 않게 만들었습니다.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82" name="Title"/>
          <p:cNvSpPr/>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어떻게 동작하나 — 화면 뒤에서 일어나는 일</a:t>
            </a:r>
          </a:p>
        </p:txBody>
      </p:sp>
      <p:sp>
        <p:nvSpPr>
          <p:cNvPr id="100183" name="Box1"/>
          <p:cNvSpPr/>
          <p:nvPr/>
        </p:nvSpPr>
        <p:spPr>
          <a:xfrm>
            <a:off x="540000" y="1656000"/>
            <a:ext cx="2077200" cy="1512000"/>
          </a:xfrm>
          <a:prstGeom prst="roundRect">
            <a:avLst/>
          </a:prstGeom>
          <a:solidFill>
            <a:srgbClr val="2563EB"/>
          </a:solidFill>
          <a:ln>
            <a:noFill/>
          </a:ln>
        </p:spPr>
        <p:txBody>
          <a:bodyPr anchor="ctr"/>
          <a:lstStyle/>
          <a:p>
            <a:pPr algn="ctr"/>
            <a:r>
              <a:rPr lang="en-US" sz="1600" b="1">
                <a:solidFill>
                  <a:srgbClr val="FFFFFF"/>
                </a:solidFill>
                <a:latin typeface="Malgun Gothic"/>
                <a:ea typeface="Malgun Gothic"/>
              </a:rPr>
              <a:t>아이디어 입력</a:t>
            </a:r>
          </a:p>
          <a:p>
            <a:pPr algn="ctr"/>
            <a:r>
              <a:rPr lang="en-US" sz="1600" b="1">
                <a:solidFill>
                  <a:srgbClr val="FFFFFF"/>
                </a:solidFill>
                <a:latin typeface="Malgun Gothic"/>
                <a:ea typeface="Malgun Gothic"/>
              </a:rPr>
              <a:t>제목·설명·분야</a:t>
            </a:r>
          </a:p>
        </p:txBody>
      </p:sp>
      <p:sp>
        <p:nvSpPr>
          <p:cNvPr id="100184" name="Box2"/>
          <p:cNvSpPr/>
          <p:nvPr/>
        </p:nvSpPr>
        <p:spPr>
          <a:xfrm>
            <a:off x="2797200" y="1656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서버로 전달</a:t>
            </a:r>
          </a:p>
          <a:p>
            <a:pPr algn="ctr"/>
            <a:r>
              <a:rPr lang="en-US" sz="1600" b="1">
                <a:solidFill>
                  <a:srgbClr val="000000"/>
                </a:solidFill>
                <a:latin typeface="Malgun Gothic"/>
                <a:ea typeface="Malgun Gothic"/>
              </a:rPr>
              <a:t>요청을 정리·전송</a:t>
            </a:r>
          </a:p>
        </p:txBody>
      </p:sp>
      <p:sp>
        <p:nvSpPr>
          <p:cNvPr id="100185" name="Box3"/>
          <p:cNvSpPr/>
          <p:nvPr/>
        </p:nvSpPr>
        <p:spPr>
          <a:xfrm>
            <a:off x="5054400" y="1656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AI 분석</a:t>
            </a:r>
          </a:p>
          <a:p>
            <a:pPr algn="ctr"/>
            <a:r>
              <a:rPr lang="en-US" sz="1600" b="1">
                <a:solidFill>
                  <a:srgbClr val="000000"/>
                </a:solidFill>
                <a:latin typeface="Malgun Gothic"/>
                <a:ea typeface="Malgun Gothic"/>
              </a:rPr>
              <a:t>점수·이유 작성</a:t>
            </a:r>
          </a:p>
        </p:txBody>
      </p:sp>
      <p:sp>
        <p:nvSpPr>
          <p:cNvPr id="100186" name="Box4"/>
          <p:cNvSpPr/>
          <p:nvPr/>
        </p:nvSpPr>
        <p:spPr>
          <a:xfrm>
            <a:off x="7311600" y="1656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서버 검증</a:t>
            </a:r>
          </a:p>
          <a:p>
            <a:pPr algn="ctr"/>
            <a:r>
              <a:rPr lang="en-US" sz="1600" b="1">
                <a:solidFill>
                  <a:srgbClr val="000000"/>
                </a:solidFill>
                <a:latin typeface="Malgun Gothic"/>
                <a:ea typeface="Malgun Gothic"/>
              </a:rPr>
              <a:t>지어낸 답은 차단</a:t>
            </a:r>
          </a:p>
        </p:txBody>
      </p:sp>
      <p:sp>
        <p:nvSpPr>
          <p:cNvPr id="100187" name="Box5"/>
          <p:cNvSpPr/>
          <p:nvPr/>
        </p:nvSpPr>
        <p:spPr>
          <a:xfrm>
            <a:off x="9568800" y="1656000"/>
            <a:ext cx="2077200" cy="1512000"/>
          </a:xfrm>
          <a:prstGeom prst="roundRect">
            <a:avLst/>
          </a:prstGeom>
          <a:solidFill>
            <a:srgbClr val="F5F6F8"/>
          </a:solidFill>
          <a:ln>
            <a:noFill/>
          </a:ln>
        </p:spPr>
        <p:txBody>
          <a:bodyPr anchor="ctr"/>
          <a:lstStyle/>
          <a:p>
            <a:pPr algn="ctr"/>
            <a:r>
              <a:rPr lang="en-US" sz="1600" b="1">
                <a:solidFill>
                  <a:srgbClr val="000000"/>
                </a:solidFill>
                <a:latin typeface="Malgun Gothic"/>
                <a:ea typeface="Malgun Gothic"/>
              </a:rPr>
              <a:t>결과 표시</a:t>
            </a:r>
          </a:p>
          <a:p>
            <a:pPr algn="ctr"/>
            <a:r>
              <a:rPr lang="en-US" sz="1600" b="1">
                <a:solidFill>
                  <a:srgbClr val="000000"/>
                </a:solidFill>
                <a:latin typeface="Malgun Gothic"/>
                <a:ea typeface="Malgun Gothic"/>
              </a:rPr>
              <a:t>순위·제안서 초안</a:t>
            </a:r>
          </a:p>
        </p:txBody>
      </p:sp>
      <p:cxnSp>
        <p:nvCxnSpPr>
          <p:cNvPr id="100188" name="Connector 1"/>
          <p:cNvCxnSpPr>
            <a:stCxn id="100183" idx="0"/>
            <a:endCxn id="100184" idx="0"/>
          </p:cNvCxnSpPr>
          <p:nvPr/>
        </p:nvCxnSpPr>
        <p:spPr>
          <a:xfrm>
            <a:off x="2617200" y="2412000"/>
            <a:ext cx="180000" cy="0"/>
          </a:xfrm>
          <a:prstGeom prst="bentConnector3">
            <a:avLst/>
          </a:prstGeom>
          <a:ln w="12700">
            <a:solidFill>
              <a:srgbClr val="9CA3AF"/>
            </a:solidFill>
            <a:tailEnd type="triangle"/>
          </a:ln>
        </p:spPr>
      </p:cxnSp>
      <p:cxnSp>
        <p:nvCxnSpPr>
          <p:cNvPr id="100189" name="Connector 2"/>
          <p:cNvCxnSpPr>
            <a:stCxn id="100184" idx="0"/>
            <a:endCxn id="100185" idx="0"/>
          </p:cNvCxnSpPr>
          <p:nvPr/>
        </p:nvCxnSpPr>
        <p:spPr>
          <a:xfrm>
            <a:off x="4874400" y="2412000"/>
            <a:ext cx="180000" cy="0"/>
          </a:xfrm>
          <a:prstGeom prst="bentConnector3">
            <a:avLst/>
          </a:prstGeom>
          <a:ln w="12700">
            <a:solidFill>
              <a:srgbClr val="9CA3AF"/>
            </a:solidFill>
            <a:tailEnd type="triangle"/>
          </a:ln>
        </p:spPr>
      </p:cxnSp>
      <p:cxnSp>
        <p:nvCxnSpPr>
          <p:cNvPr id="100190" name="Connector 3"/>
          <p:cNvCxnSpPr>
            <a:stCxn id="100185" idx="0"/>
            <a:endCxn id="100186" idx="0"/>
          </p:cNvCxnSpPr>
          <p:nvPr/>
        </p:nvCxnSpPr>
        <p:spPr>
          <a:xfrm>
            <a:off x="7131600" y="2412000"/>
            <a:ext cx="180000" cy="0"/>
          </a:xfrm>
          <a:prstGeom prst="bentConnector3">
            <a:avLst/>
          </a:prstGeom>
          <a:ln w="12700">
            <a:solidFill>
              <a:srgbClr val="9CA3AF"/>
            </a:solidFill>
            <a:tailEnd type="triangle"/>
          </a:ln>
        </p:spPr>
      </p:cxnSp>
      <p:cxnSp>
        <p:nvCxnSpPr>
          <p:cNvPr id="100191" name="Connector 4"/>
          <p:cNvCxnSpPr>
            <a:stCxn id="100186" idx="0"/>
            <a:endCxn id="100187" idx="0"/>
          </p:cNvCxnSpPr>
          <p:nvPr/>
        </p:nvCxnSpPr>
        <p:spPr>
          <a:xfrm>
            <a:off x="9388800" y="2412000"/>
            <a:ext cx="180000" cy="0"/>
          </a:xfrm>
          <a:prstGeom prst="bentConnector3">
            <a:avLst/>
          </a:prstGeom>
          <a:ln w="12700">
            <a:solidFill>
              <a:srgbClr val="9CA3AF"/>
            </a:solidFill>
            <a:tailEnd type="triangle"/>
          </a:ln>
        </p:spPr>
      </p:cxnSp>
      <p:sp>
        <p:nvSpPr>
          <p:cNvPr id="100192" name="Hint"/>
          <p:cNvSpPr/>
          <p:nvPr/>
        </p:nvSpPr>
        <p:spPr>
          <a:xfrm>
            <a:off x="540000" y="3384000"/>
            <a:ext cx="11113200" cy="432000"/>
          </a:xfrm>
          <a:prstGeom prst="rect">
            <a:avLst/>
          </a:prstGeom>
        </p:spPr>
        <p:txBody>
          <a:bodyPr/>
          <a:lstStyle/>
          <a:p>
            <a:r>
              <a:rPr lang="en-US" sz="1500">
                <a:solidFill>
                  <a:srgbClr val="6B7280"/>
                </a:solidFill>
                <a:latin typeface="Malgun Gothic"/>
                <a:ea typeface="Malgun Gothic"/>
              </a:rPr>
              <a:t>사용자는 기다리기만 하면 됩니다 — 그 사이에 서버와 AI가 주고받고, 검증까지 마친 결과만 화면에 나옵니다.</a:t>
            </a:r>
          </a:p>
        </p:txBody>
      </p:sp>
      <p:sp>
        <p:nvSpPr>
          <p:cNvPr id="100193" name="Store"/>
          <p:cNvSpPr/>
          <p:nvPr/>
        </p:nvSpPr>
        <p:spPr>
          <a:xfrm>
            <a:off x="540000" y="3888000"/>
            <a:ext cx="11113200" cy="936000"/>
          </a:xfrm>
          <a:prstGeom prst="roundRect">
            <a:avLst/>
          </a:prstGeom>
          <a:solidFill>
            <a:srgbClr val="F5F6F8"/>
          </a:solidFill>
          <a:ln>
            <a:noFill/>
          </a:ln>
        </p:spPr>
        <p:txBody>
          <a:bodyPr anchor="ctr"/>
          <a:lstStyle/>
          <a:p>
            <a:pPr algn="ctr"/>
            <a:r>
              <a:rPr lang="en-US" sz="1500" b="1">
                <a:solidFill>
                  <a:srgbClr val="000000"/>
                </a:solidFill>
                <a:latin typeface="Malgun Gothic"/>
                <a:ea typeface="Malgun Gothic"/>
              </a:rPr>
              <a:t>데이터는 이중 저장 — 찜·응모 기록은 브라우저에 저장, 로그인하면 서버 백업으로 PC를 바꿔도 복원됩니다</a:t>
            </a:r>
          </a:p>
        </p:txBody>
      </p:sp>
      <p:sp>
        <p:nvSpPr>
          <p:cNvPr id="100194" name="Fallback"/>
          <p:cNvSpPr/>
          <p:nvPr/>
        </p:nvSpPr>
        <p:spPr>
          <a:xfrm>
            <a:off x="540000" y="4968000"/>
            <a:ext cx="11113200" cy="936000"/>
          </a:xfrm>
          <a:prstGeom prst="roundRect">
            <a:avLst/>
          </a:prstGeom>
          <a:solidFill>
            <a:srgbClr val="F5F6F8"/>
          </a:solidFill>
          <a:ln>
            <a:noFill/>
          </a:ln>
        </p:spPr>
        <p:txBody>
          <a:bodyPr anchor="ctr"/>
          <a:lstStyle/>
          <a:p>
            <a:pPr algn="ctr"/>
            <a:r>
              <a:rPr lang="en-US" sz="1600">
                <a:solidFill>
                  <a:srgbClr val="4B5563"/>
                </a:solidFill>
                <a:latin typeface="Malgun Gothic"/>
                <a:ea typeface="Malgun Gothic"/>
              </a:rPr>
              <a:t>AI가 멈추면? — 준비된 데모 분석으로 자동 전환돼 화면은 끊기지 않습니다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0103" name="Title"/>
          <p:cNvSpPr txBox="1"/>
          <p:nvPr/>
        </p:nvSpPr>
        <p:spPr>
          <a:xfrm>
            <a:off x="828000" y="288000"/>
            <a:ext cx="10440000" cy="720000"/>
          </a:xfrm>
          <a:prstGeom prst="rect">
            <a:avLst/>
          </a:prstGeom>
        </p:spPr>
        <p:txBody>
          <a:bodyPr/>
          <a:lstStyle/>
          <a:p>
            <a:r>
              <a:rPr lang="en-US" sz="3600" b="1">
                <a:solidFill>
                  <a:srgbClr val="FFFFFF"/>
                </a:solidFill>
                <a:latin typeface="Malgun Gothic"/>
                <a:ea typeface="Malgun Gothic"/>
              </a:rPr>
              <a:t>직접 보시죠</a:t>
            </a:r>
          </a:p>
        </p:txBody>
      </p:sp>
      <p:sp>
        <p:nvSpPr>
          <p:cNvPr id="100104" name="N1"/>
          <p:cNvSpPr/>
          <p:nvPr/>
        </p:nvSpPr>
        <p:spPr>
          <a:xfrm>
            <a:off x="949124" y="1800000"/>
            <a:ext cx="418876" cy="418876"/>
          </a:xfrm>
          <a:prstGeom prst="ellipse">
            <a:avLst/>
          </a:prstGeom>
          <a:solidFill>
            <a:schemeClr val="bg1"/>
          </a:solidFill>
          <a:ln>
            <a:noFill/>
          </a:ln>
        </p:spPr>
        <p:txBody>
          <a:bodyPr anchor="ctr"/>
          <a:lstStyle/>
          <a:p>
            <a:pPr algn="ctr"/>
            <a:r>
              <a:rPr lang="en-US" sz="1800" b="1">
                <a:latin typeface="Malgun Gothic"/>
                <a:ea typeface="Malgun Gothic"/>
              </a:rPr>
              <a:t>1</a:t>
            </a:r>
          </a:p>
        </p:txBody>
      </p:sp>
      <p:sp>
        <p:nvSpPr>
          <p:cNvPr id="100105" name="H1"/>
          <p:cNvSpPr txBox="1"/>
          <p:nvPr/>
        </p:nvSpPr>
        <p:spPr>
          <a:xfrm>
            <a:off x="1656000" y="1764000"/>
            <a:ext cx="9360000" cy="504000"/>
          </a:xfrm>
          <a:prstGeom prst="rect">
            <a:avLst/>
          </a:prstGeom>
        </p:spPr>
        <p:txBody>
          <a:bodyPr/>
          <a:lstStyle/>
          <a:p>
            <a:r>
              <a:rPr lang="en-US" sz="2200" b="1">
                <a:solidFill>
                  <a:srgbClr val="FFFFFF"/>
                </a:solidFill>
                <a:latin typeface="Malgun Gothic"/>
                <a:ea typeface="Malgun Gothic"/>
              </a:rPr>
              <a:t>유형 검사 — 몇 문항 풀고 결과까지</a:t>
            </a:r>
          </a:p>
        </p:txBody>
      </p:sp>
      <p:sp>
        <p:nvSpPr>
          <p:cNvPr id="100106" name="D1"/>
          <p:cNvSpPr txBox="1"/>
          <p:nvPr/>
        </p:nvSpPr>
        <p:spPr>
          <a:xfrm>
            <a:off x="1656000" y="2304000"/>
            <a:ext cx="9360000" cy="360000"/>
          </a:xfrm>
          <a:prstGeom prst="rect">
            <a:avLst/>
          </a:prstGeom>
        </p:spPr>
        <p:txBody>
          <a:bodyPr/>
          <a:lstStyle/>
          <a:p>
            <a:r>
              <a:rPr lang="en-US" sz="1500">
                <a:solidFill>
                  <a:srgbClr val="D1D5DB"/>
                </a:solidFill>
                <a:latin typeface="Malgun Gothic"/>
                <a:ea typeface="Malgun Gothic"/>
              </a:rPr>
              <a:t>일치율과 강점·보완점 리포트, 아이디어 힌트로 이어지는 흐름을 보여 줍니다</a:t>
            </a:r>
          </a:p>
        </p:txBody>
      </p:sp>
      <p:sp>
        <p:nvSpPr>
          <p:cNvPr id="100107" name="N2"/>
          <p:cNvSpPr/>
          <p:nvPr/>
        </p:nvSpPr>
        <p:spPr>
          <a:xfrm>
            <a:off x="949124" y="3240000"/>
            <a:ext cx="418876" cy="418876"/>
          </a:xfrm>
          <a:prstGeom prst="ellipse">
            <a:avLst/>
          </a:prstGeom>
          <a:solidFill>
            <a:schemeClr val="bg1"/>
          </a:solidFill>
          <a:ln>
            <a:noFill/>
          </a:ln>
        </p:spPr>
        <p:txBody>
          <a:bodyPr anchor="ctr"/>
          <a:lstStyle/>
          <a:p>
            <a:pPr algn="ctr"/>
            <a:r>
              <a:rPr lang="en-US" sz="1800" b="1">
                <a:latin typeface="Malgun Gothic"/>
                <a:ea typeface="Malgun Gothic"/>
              </a:rPr>
              <a:t>2</a:t>
            </a:r>
          </a:p>
        </p:txBody>
      </p:sp>
      <p:sp>
        <p:nvSpPr>
          <p:cNvPr id="100108" name="H2"/>
          <p:cNvSpPr txBox="1"/>
          <p:nvPr/>
        </p:nvSpPr>
        <p:spPr>
          <a:xfrm>
            <a:off x="1656000" y="3204000"/>
            <a:ext cx="9360000" cy="504000"/>
          </a:xfrm>
          <a:prstGeom prst="rect">
            <a:avLst/>
          </a:prstGeom>
        </p:spPr>
        <p:txBody>
          <a:bodyPr/>
          <a:lstStyle/>
          <a:p>
            <a:r>
              <a:rPr lang="en-US" sz="2200" b="1">
                <a:solidFill>
                  <a:srgbClr val="FFFFFF"/>
                </a:solidFill>
                <a:latin typeface="Malgun Gothic"/>
                <a:ea typeface="Malgun Gothic"/>
              </a:rPr>
              <a:t>아이디어 입력 → AI 분석</a:t>
            </a:r>
          </a:p>
        </p:txBody>
      </p:sp>
      <p:sp>
        <p:nvSpPr>
          <p:cNvPr id="100109" name="D2"/>
          <p:cNvSpPr txBox="1"/>
          <p:nvPr/>
        </p:nvSpPr>
        <p:spPr>
          <a:xfrm>
            <a:off x="1656000" y="3744000"/>
            <a:ext cx="9360000" cy="360000"/>
          </a:xfrm>
          <a:prstGeom prst="rect">
            <a:avLst/>
          </a:prstGeom>
        </p:spPr>
        <p:txBody>
          <a:bodyPr/>
          <a:lstStyle/>
          <a:p>
            <a:r>
              <a:rPr lang="en-US" sz="1500">
                <a:solidFill>
                  <a:srgbClr val="D1D5DB"/>
                </a:solidFill>
                <a:latin typeface="Malgun Gothic"/>
                <a:ea typeface="Malgun Gothic"/>
              </a:rPr>
              <a:t>한 줄 요약·강점·심사 포인트·확장 아이디어가 나오는 장면을 보여 줍니다</a:t>
            </a:r>
          </a:p>
        </p:txBody>
      </p:sp>
      <p:sp>
        <p:nvSpPr>
          <p:cNvPr id="100110" name="N3"/>
          <p:cNvSpPr/>
          <p:nvPr/>
        </p:nvSpPr>
        <p:spPr>
          <a:xfrm>
            <a:off x="949124" y="4680000"/>
            <a:ext cx="418876" cy="418876"/>
          </a:xfrm>
          <a:prstGeom prst="ellipse">
            <a:avLst/>
          </a:prstGeom>
          <a:solidFill>
            <a:schemeClr val="bg1"/>
          </a:solidFill>
          <a:ln>
            <a:noFill/>
          </a:ln>
        </p:spPr>
        <p:txBody>
          <a:bodyPr anchor="ctr"/>
          <a:lstStyle/>
          <a:p>
            <a:pPr algn="ctr"/>
            <a:r>
              <a:rPr lang="en-US" sz="1800" b="1">
                <a:latin typeface="Malgun Gothic"/>
                <a:ea typeface="Malgun Gothic"/>
              </a:rPr>
              <a:t>3</a:t>
            </a:r>
          </a:p>
        </p:txBody>
      </p:sp>
      <p:sp>
        <p:nvSpPr>
          <p:cNvPr id="100111" name="H3"/>
          <p:cNvSpPr txBox="1"/>
          <p:nvPr/>
        </p:nvSpPr>
        <p:spPr>
          <a:xfrm>
            <a:off x="1656000" y="4644000"/>
            <a:ext cx="9360000" cy="504000"/>
          </a:xfrm>
          <a:prstGeom prst="rect">
            <a:avLst/>
          </a:prstGeom>
        </p:spPr>
        <p:txBody>
          <a:bodyPr/>
          <a:lstStyle/>
          <a:p>
            <a:r>
              <a:rPr lang="en-US" sz="2200" b="1">
                <a:solidFill>
                  <a:srgbClr val="FFFFFF"/>
                </a:solidFill>
                <a:latin typeface="Malgun Gothic"/>
                <a:ea typeface="Malgun Gothic"/>
              </a:rPr>
              <a:t>추천 공모전 · 제안서 초안</a:t>
            </a:r>
          </a:p>
        </p:txBody>
      </p:sp>
      <p:sp>
        <p:nvSpPr>
          <p:cNvPr id="100112" name="D3"/>
          <p:cNvSpPr txBox="1"/>
          <p:nvPr/>
        </p:nvSpPr>
        <p:spPr>
          <a:xfrm>
            <a:off x="1656000" y="5184000"/>
            <a:ext cx="9360000" cy="360000"/>
          </a:xfrm>
          <a:prstGeom prst="rect">
            <a:avLst/>
          </a:prstGeom>
        </p:spPr>
        <p:txBody>
          <a:bodyPr/>
          <a:lstStyle/>
          <a:p>
            <a:r>
              <a:rPr lang="en-US" sz="1500">
                <a:solidFill>
                  <a:srgbClr val="D1D5DB"/>
                </a:solidFill>
                <a:latin typeface="Malgun Gothic"/>
                <a:ea typeface="Malgun Gothic"/>
              </a:rPr>
              <a:t>적합도 순위와 추천 이유, 6섹션 기획서 TXT 내려받기까지 보여 줍니다</a:t>
            </a:r>
          </a:p>
        </p:txBody>
      </p:sp>
      <p:sp>
        <p:nvSpPr>
          <p:cNvPr id="100113" name="Meta"/>
          <p:cNvSpPr txBox="1"/>
          <p:nvPr/>
        </p:nvSpPr>
        <p:spPr>
          <a:xfrm>
            <a:off x="540000" y="6120000"/>
            <a:ext cx="11113200" cy="360000"/>
          </a:xfrm>
          <a:prstGeom prst="rect">
            <a:avLst/>
          </a:prstGeom>
        </p:spPr>
        <p:txBody>
          <a:bodyPr/>
          <a:lstStyle/>
          <a:p>
            <a:r>
              <a:rPr lang="en-US" sz="1300">
                <a:solidFill>
                  <a:srgbClr val="9CA3AF"/>
                </a:solidFill>
                <a:latin typeface="Malgun Gothic"/>
                <a:ea typeface="Malgun Gothic"/>
              </a:rPr>
              <a:t>실제 화면 시연 · 약 2분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15" name="Title"/>
          <p:cNvSpPr txBox="1"/>
          <p:nvPr/>
        </p:nvSpPr>
        <p:spPr>
          <a:xfrm>
            <a:off x="828000" y="288000"/>
            <a:ext cx="10440000" cy="720000"/>
          </a:xfrm>
          <a:prstGeom prst="rect">
            <a:avLst/>
          </a:prstGeom>
        </p:spPr>
        <p:txBody>
          <a:bodyPr/>
          <a:lstStyle/>
          <a:p>
            <a:r>
              <a:rPr lang="en-US" sz="3600" b="1">
                <a:solidFill>
                  <a:srgbClr val="000000"/>
                </a:solidFill>
                <a:latin typeface="Malgun Gothic"/>
                <a:ea typeface="Malgun Gothic"/>
              </a:rPr>
              <a:t>이 서비스가 바꾸는 것</a:t>
            </a:r>
          </a:p>
        </p:txBody>
      </p:sp>
      <p:sp>
        <p:nvSpPr>
          <p:cNvPr id="100116" name="Card1"/>
          <p:cNvSpPr/>
          <p:nvPr/>
        </p:nvSpPr>
        <p:spPr>
          <a:xfrm>
            <a:off x="540000" y="1368000"/>
            <a:ext cx="3520800" cy="3420000"/>
          </a:xfrm>
          <a:prstGeom prst="roundRect">
            <a:avLst/>
          </a:prstGeom>
          <a:solidFill>
            <a:srgbClr val="F5F6F8"/>
          </a:solidFill>
          <a:ln>
            <a:noFill/>
          </a:ln>
        </p:spPr>
        <p:txBody>
          <a:bodyPr/>
          <a:lstStyle/>
          <a:p>
            <a:endParaRPr/>
          </a:p>
        </p:txBody>
      </p:sp>
      <p:sp>
        <p:nvSpPr>
          <p:cNvPr id="100117" name="C1T"/>
          <p:cNvSpPr txBox="1"/>
          <p:nvPr/>
        </p:nvSpPr>
        <p:spPr>
          <a:xfrm>
            <a:off x="756000" y="1656000"/>
            <a:ext cx="3096000" cy="504000"/>
          </a:xfrm>
          <a:prstGeom prst="rect">
            <a:avLst/>
          </a:prstGeom>
        </p:spPr>
        <p:txBody>
          <a:bodyPr/>
          <a:lstStyle/>
          <a:p>
            <a:r>
              <a:rPr lang="en-US" sz="2100" b="1">
                <a:solidFill>
                  <a:srgbClr val="2563EB"/>
                </a:solidFill>
                <a:latin typeface="Malgun Gothic"/>
                <a:ea typeface="Malgun Gothic"/>
              </a:rPr>
              <a:t>시간 절감</a:t>
            </a:r>
          </a:p>
        </p:txBody>
      </p:sp>
      <p:sp>
        <p:nvSpPr>
          <p:cNvPr id="100118" name="C1B"/>
          <p:cNvSpPr txBox="1"/>
          <p:nvPr/>
        </p:nvSpPr>
        <p:spPr>
          <a:xfrm>
            <a:off x="756000" y="2376000"/>
            <a:ext cx="3096000" cy="2016000"/>
          </a:xfrm>
          <a:prstGeom prst="rect">
            <a:avLst/>
          </a:prstGeom>
        </p:spPr>
        <p:txBody>
          <a:bodyPr/>
          <a:lstStyle/>
          <a:p>
            <a:r>
              <a:rPr lang="en-US" sz="1500">
                <a:solidFill>
                  <a:srgbClr val="374151"/>
                </a:solidFill>
                <a:latin typeface="Malgun Gothic"/>
                <a:ea typeface="Malgun Gothic"/>
              </a:rPr>
              <a:t>흩어진 공모전 정보를</a:t>
            </a:r>
          </a:p>
          <a:p>
            <a:r>
              <a:rPr lang="en-US" sz="1500">
                <a:solidFill>
                  <a:srgbClr val="374151"/>
                </a:solidFill>
                <a:latin typeface="Malgun Gothic"/>
                <a:ea typeface="Malgun Gothic"/>
              </a:rPr>
              <a:t>찾아다니는 시간 대신</a:t>
            </a:r>
          </a:p>
          <a:p>
            <a:r>
              <a:rPr lang="en-US" sz="1500">
                <a:solidFill>
                  <a:srgbClr val="374151"/>
                </a:solidFill>
                <a:latin typeface="Malgun Gothic"/>
                <a:ea typeface="Malgun Gothic"/>
              </a:rPr>
              <a:t>내 아이디어에 맞는 곳을</a:t>
            </a:r>
          </a:p>
          <a:p>
            <a:r>
              <a:rPr lang="en-US" sz="1500">
                <a:solidFill>
                  <a:srgbClr val="374151"/>
                </a:solidFill>
                <a:latin typeface="Malgun Gothic"/>
                <a:ea typeface="Malgun Gothic"/>
              </a:rPr>
              <a:t>바로 제시합니다.</a:t>
            </a:r>
          </a:p>
        </p:txBody>
      </p:sp>
      <p:sp>
        <p:nvSpPr>
          <p:cNvPr id="100119" name="Card2"/>
          <p:cNvSpPr/>
          <p:nvPr/>
        </p:nvSpPr>
        <p:spPr>
          <a:xfrm>
            <a:off x="4334400" y="1368000"/>
            <a:ext cx="3520800" cy="3420000"/>
          </a:xfrm>
          <a:prstGeom prst="roundRect">
            <a:avLst/>
          </a:prstGeom>
          <a:solidFill>
            <a:srgbClr val="F5F6F8"/>
          </a:solidFill>
          <a:ln>
            <a:noFill/>
          </a:ln>
        </p:spPr>
        <p:txBody>
          <a:bodyPr/>
          <a:lstStyle/>
          <a:p>
            <a:endParaRPr/>
          </a:p>
        </p:txBody>
      </p:sp>
      <p:sp>
        <p:nvSpPr>
          <p:cNvPr id="100120" name="C2T"/>
          <p:cNvSpPr txBox="1"/>
          <p:nvPr/>
        </p:nvSpPr>
        <p:spPr>
          <a:xfrm>
            <a:off x="4550400" y="1656000"/>
            <a:ext cx="3096000" cy="504000"/>
          </a:xfrm>
          <a:prstGeom prst="rect">
            <a:avLst/>
          </a:prstGeom>
        </p:spPr>
        <p:txBody>
          <a:bodyPr/>
          <a:lstStyle/>
          <a:p>
            <a:r>
              <a:rPr lang="en-US" sz="2100" b="1">
                <a:solidFill>
                  <a:srgbClr val="2563EB"/>
                </a:solidFill>
                <a:latin typeface="Malgun Gothic"/>
                <a:ea typeface="Malgun Gothic"/>
              </a:rPr>
              <a:t>완주율 향상</a:t>
            </a:r>
          </a:p>
        </p:txBody>
      </p:sp>
      <p:sp>
        <p:nvSpPr>
          <p:cNvPr id="100121" name="C2B"/>
          <p:cNvSpPr txBox="1"/>
          <p:nvPr/>
        </p:nvSpPr>
        <p:spPr>
          <a:xfrm>
            <a:off x="4550400" y="2376000"/>
            <a:ext cx="3096000" cy="2016000"/>
          </a:xfrm>
          <a:prstGeom prst="rect">
            <a:avLst/>
          </a:prstGeom>
        </p:spPr>
        <p:txBody>
          <a:bodyPr/>
          <a:lstStyle/>
          <a:p>
            <a:r>
              <a:rPr lang="en-US" sz="1500">
                <a:solidFill>
                  <a:srgbClr val="374151"/>
                </a:solidFill>
                <a:latin typeface="Malgun Gothic"/>
                <a:ea typeface="Malgun Gothic"/>
              </a:rPr>
              <a:t>분석 → 초안 → 연습의</a:t>
            </a:r>
          </a:p>
          <a:p>
            <a:r>
              <a:rPr lang="en-US" sz="1500">
                <a:solidFill>
                  <a:srgbClr val="374151"/>
                </a:solidFill>
                <a:latin typeface="Malgun Gothic"/>
                <a:ea typeface="Malgun Gothic"/>
              </a:rPr>
              <a:t>단계별 지원으로</a:t>
            </a:r>
          </a:p>
          <a:p>
            <a:r>
              <a:rPr lang="en-US" sz="1500">
                <a:solidFill>
                  <a:srgbClr val="374151"/>
                </a:solidFill>
                <a:latin typeface="Malgun Gothic"/>
                <a:ea typeface="Malgun Gothic"/>
              </a:rPr>
              <a:t>막막함에서 포기하는</a:t>
            </a:r>
          </a:p>
          <a:p>
            <a:r>
              <a:rPr lang="en-US" sz="1500">
                <a:solidFill>
                  <a:srgbClr val="374151"/>
                </a:solidFill>
                <a:latin typeface="Malgun Gothic"/>
                <a:ea typeface="Malgun Gothic"/>
              </a:rPr>
              <a:t>이유를 줄입니다.</a:t>
            </a:r>
          </a:p>
        </p:txBody>
      </p:sp>
      <p:sp>
        <p:nvSpPr>
          <p:cNvPr id="100122" name="Card3"/>
          <p:cNvSpPr/>
          <p:nvPr/>
        </p:nvSpPr>
        <p:spPr>
          <a:xfrm>
            <a:off x="8128800" y="1368000"/>
            <a:ext cx="3520800" cy="3420000"/>
          </a:xfrm>
          <a:prstGeom prst="roundRect">
            <a:avLst/>
          </a:prstGeom>
          <a:solidFill>
            <a:srgbClr val="F5F6F8"/>
          </a:solidFill>
          <a:ln>
            <a:noFill/>
          </a:ln>
        </p:spPr>
        <p:txBody>
          <a:bodyPr/>
          <a:lstStyle/>
          <a:p>
            <a:endParaRPr/>
          </a:p>
        </p:txBody>
      </p:sp>
      <p:sp>
        <p:nvSpPr>
          <p:cNvPr id="100123" name="C3T"/>
          <p:cNvSpPr txBox="1"/>
          <p:nvPr/>
        </p:nvSpPr>
        <p:spPr>
          <a:xfrm>
            <a:off x="8344800" y="1656000"/>
            <a:ext cx="3096000" cy="504000"/>
          </a:xfrm>
          <a:prstGeom prst="rect">
            <a:avLst/>
          </a:prstGeom>
        </p:spPr>
        <p:txBody>
          <a:bodyPr/>
          <a:lstStyle/>
          <a:p>
            <a:r>
              <a:rPr lang="en-US" sz="2100" b="1">
                <a:solidFill>
                  <a:srgbClr val="2563EB"/>
                </a:solidFill>
                <a:latin typeface="Malgun Gothic"/>
                <a:ea typeface="Malgun Gothic"/>
              </a:rPr>
              <a:t>성장 축적</a:t>
            </a:r>
          </a:p>
        </p:txBody>
      </p:sp>
      <p:sp>
        <p:nvSpPr>
          <p:cNvPr id="100124" name="C3B"/>
          <p:cNvSpPr txBox="1"/>
          <p:nvPr/>
        </p:nvSpPr>
        <p:spPr>
          <a:xfrm>
            <a:off x="8344800" y="2376000"/>
            <a:ext cx="3096000" cy="2016000"/>
          </a:xfrm>
          <a:prstGeom prst="rect">
            <a:avLst/>
          </a:prstGeom>
        </p:spPr>
        <p:txBody>
          <a:bodyPr/>
          <a:lstStyle/>
          <a:p>
            <a:r>
              <a:rPr lang="en-US" sz="1500">
                <a:solidFill>
                  <a:srgbClr val="374151"/>
                </a:solidFill>
                <a:latin typeface="Malgun Gothic"/>
                <a:ea typeface="Malgun Gothic"/>
              </a:rPr>
              <a:t>도전 히스토리와 연습 노트가</a:t>
            </a:r>
          </a:p>
          <a:p>
            <a:r>
              <a:rPr lang="en-US" sz="1500">
                <a:solidFill>
                  <a:srgbClr val="374151"/>
                </a:solidFill>
                <a:latin typeface="Malgun Gothic"/>
                <a:ea typeface="Malgun Gothic"/>
              </a:rPr>
              <a:t>쌓여 나만의 공모전</a:t>
            </a:r>
          </a:p>
          <a:p>
            <a:r>
              <a:rPr lang="en-US" sz="1500">
                <a:solidFill>
                  <a:srgbClr val="374151"/>
                </a:solidFill>
                <a:latin typeface="Malgun Gothic"/>
                <a:ea typeface="Malgun Gothic"/>
              </a:rPr>
              <a:t>포트폴리오가 됩니다.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0126" name="Title"/>
          <p:cNvSpPr txBox="1"/>
          <p:nvPr/>
        </p:nvSpPr>
        <p:spPr>
          <a:xfrm>
            <a:off x="720000" y="2232000"/>
            <a:ext cx="10753200" cy="936000"/>
          </a:xfrm>
          <a:prstGeom prst="rect">
            <a:avLst/>
          </a:prstGeom>
        </p:spPr>
        <p:txBody>
          <a:bodyPr/>
          <a:lstStyle/>
          <a:p>
            <a:pPr algn="ctr"/>
            <a:r>
              <a:rPr lang="en-US" sz="4400" b="1">
                <a:solidFill>
                  <a:srgbClr val="FFFFFF"/>
                </a:solidFill>
                <a:latin typeface="Malgun Gothic"/>
                <a:ea typeface="Malgun Gothic"/>
              </a:rPr>
              <a:t>막막함을 첫 걸음으로.</a:t>
            </a:r>
          </a:p>
        </p:txBody>
      </p:sp>
      <p:sp>
        <p:nvSpPr>
          <p:cNvPr id="100127" name="Sub"/>
          <p:cNvSpPr txBox="1"/>
          <p:nvPr/>
        </p:nvSpPr>
        <p:spPr>
          <a:xfrm>
            <a:off x="720000" y="3456000"/>
            <a:ext cx="10753200" cy="504000"/>
          </a:xfrm>
          <a:prstGeom prst="rect">
            <a:avLst/>
          </a:prstGeom>
        </p:spPr>
        <p:txBody>
          <a:bodyPr/>
          <a:lstStyle/>
          <a:p>
            <a:pPr algn="ctr"/>
            <a:r>
              <a:rPr lang="en-US" sz="1800">
                <a:solidFill>
                  <a:srgbClr val="D1D5DB"/>
                </a:solidFill>
                <a:latin typeface="Malgun Gothic"/>
                <a:ea typeface="Malgun Gothic"/>
              </a:rPr>
              <a:t>공모온 — 아이디어에서 공모전까지, 가장 빠른 지름길</a:t>
            </a:r>
          </a:p>
        </p:txBody>
      </p:sp>
      <p:sp>
        <p:nvSpPr>
          <p:cNvPr id="100128" name="Thanks"/>
          <p:cNvSpPr txBox="1"/>
          <p:nvPr/>
        </p:nvSpPr>
        <p:spPr>
          <a:xfrm>
            <a:off x="719400" y="4716000"/>
            <a:ext cx="10753200" cy="360000"/>
          </a:xfrm>
          <a:prstGeom prst="rect">
            <a:avLst/>
          </a:prstGeom>
        </p:spPr>
        <p:txBody>
          <a:bodyPr/>
          <a:lstStyle/>
          <a:p>
            <a:pPr algn="ctr"/>
            <a:r>
              <a:rPr lang="en-US" sz="1600" dirty="0" err="1">
                <a:solidFill>
                  <a:srgbClr val="9CA3AF"/>
                </a:solidFill>
                <a:latin typeface="Malgun Gothic"/>
                <a:ea typeface="Malgun Gothic"/>
              </a:rPr>
              <a:t>감사합니다</a:t>
            </a:r>
            <a:r>
              <a:rPr lang="en-US" sz="1600" dirty="0">
                <a:solidFill>
                  <a:srgbClr val="9CA3AF"/>
                </a:solidFill>
                <a:latin typeface="Malgun Gothic"/>
                <a:ea typeface="Malgun Gothic"/>
              </a:rPr>
              <a:t>. </a:t>
            </a:r>
            <a:r>
              <a:rPr lang="en-US" sz="1600" dirty="0" err="1">
                <a:solidFill>
                  <a:srgbClr val="9CA3AF"/>
                </a:solidFill>
                <a:latin typeface="Malgun Gothic"/>
                <a:ea typeface="Malgun Gothic"/>
              </a:rPr>
              <a:t>질문</a:t>
            </a:r>
            <a:r>
              <a:rPr lang="en-US" sz="1600" dirty="0">
                <a:solidFill>
                  <a:srgbClr val="9CA3AF"/>
                </a:solidFill>
                <a:latin typeface="Malgun Gothic"/>
                <a:ea typeface="Malgun Gothic"/>
              </a:rPr>
              <a:t> </a:t>
            </a:r>
            <a:r>
              <a:rPr lang="en-US" sz="1600" dirty="0" err="1">
                <a:solidFill>
                  <a:srgbClr val="9CA3AF"/>
                </a:solidFill>
                <a:latin typeface="Malgun Gothic"/>
                <a:ea typeface="Malgun Gothic"/>
              </a:rPr>
              <a:t>받겠습니다</a:t>
            </a:r>
            <a:r>
              <a:rPr lang="en-US" sz="1600" dirty="0">
                <a:solidFill>
                  <a:srgbClr val="9CA3AF"/>
                </a:solidFill>
                <a:latin typeface="Malgun Gothic"/>
                <a:ea typeface="Malgun Gothic"/>
              </a:rPr>
              <a:t>.</a:t>
            </a:r>
          </a:p>
        </p:txBody>
      </p:sp>
      <p:sp>
        <p:nvSpPr>
          <p:cNvPr id="100129" name="Tech"/>
          <p:cNvSpPr txBox="1"/>
          <p:nvPr/>
        </p:nvSpPr>
        <p:spPr>
          <a:xfrm>
            <a:off x="720000" y="5940000"/>
            <a:ext cx="10753200" cy="360000"/>
          </a:xfrm>
          <a:prstGeom prst="rect">
            <a:avLst/>
          </a:prstGeom>
        </p:spPr>
        <p:txBody>
          <a:bodyPr/>
          <a:lstStyle/>
          <a:p>
            <a:pPr algn="ctr"/>
            <a:r>
              <a:rPr lang="en-US" sz="1200">
                <a:solidFill>
                  <a:srgbClr val="6B7280"/>
                </a:solidFill>
                <a:latin typeface="Malgun Gothic"/>
                <a:ea typeface="Malgun Gothic"/>
              </a:rPr>
              <a:t>React + TypeScript · Node.js Express · OpenAI 호환 LLM 게이트웨이</a:t>
            </a:r>
          </a:p>
        </p:txBody>
      </p:sp>
    </p:spTree>
  </p:cSld>
  <p:clrMapOvr>
    <a:masterClrMapping/>
  </p:clrMapOvr>
</p:sld>
</file>

<file path=ppt/slides/slide20.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246" name="Title"/>
          <p:cNvSpPr txBox="1"/>
          <p:nvPr/>
        </p:nvSpPr>
        <p:spPr>
          <a:xfrm xmlns:a="http://schemas.openxmlformats.org/drawingml/2006/main">
            <a:off x="828000" y="288000"/>
            <a:ext cx="104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00000"/>
                </a:solidFill>
                <a:latin typeface="Malgun Gothic"/>
                <a:ea typeface="Malgun Gothic"/>
              </a:rPr>
              <a:t>어떻게 만들었나 — 서비스 전체 구조</a:t>
            </a:r>
          </a:p>
        </p:txBody>
      </p:sp>
      <p:sp>
        <p:nvSpPr>
          <p:cNvPr id="100247" name="Sub"/>
          <p:cNvSpPr txBox="1"/>
          <p:nvPr/>
        </p:nvSpPr>
        <p:spPr>
          <a:xfrm xmlns:a="http://schemas.openxmlformats.org/drawingml/2006/main">
            <a:off x="828000" y="1044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6B7280"/>
                </a:solidFill>
                <a:latin typeface="Malgun Gothic"/>
                <a:ea typeface="Malgun Gothic"/>
              </a:rPr>
              <a:t>지금까지 본 도구들이 이렇게 연결됩니다 — 화면 · 서버 · 세 가지 도우미</a:t>
            </a:r>
          </a:p>
        </p:txBody>
      </p:sp>
      <p:sp>
        <p:nvSpPr>
          <p:cNvPr id="100248" name="Browser"/>
          <p:cNvSpPr/>
          <p:nvPr/>
        </p:nvSpPr>
        <p:spPr>
          <a:xfrm xmlns:a="http://schemas.openxmlformats.org/drawingml/2006/main">
            <a:off x="3744000" y="1512000"/>
            <a:ext cx="4680000" cy="1080000"/>
          </a:xfrm>
          <a:prstGeom xmlns:a="http://schemas.openxmlformats.org/drawingml/2006/main" prst="roundRect">
            <a:avLst/>
          </a:prstGeom>
          <a:solidFill xmlns:a="http://schemas.openxmlformats.org/drawingml/2006/main">
            <a:srgbClr val="2563EB"/>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1">
                <a:solidFill>
                  <a:srgbClr val="FFFFFF"/>
                </a:solidFill>
                <a:latin typeface="Malgun Gothic"/>
                <a:ea typeface="Malgun Gothic"/>
              </a:rPr>
              <a:t>브라우저 — 사용자가 보는 화면</a:t>
            </a:r>
          </a:p>
          <a:p xmlns:a="http://schemas.openxmlformats.org/drawingml/2006/main">
            <a:pPr algn="ctr"/>
            <a:r>
              <a:rPr lang="en-US" sz="1300">
                <a:solidFill>
                  <a:srgbClr val="DBEAFE"/>
                </a:solidFill>
                <a:latin typeface="Malgun Gothic"/>
                <a:ea typeface="Malgun Gothic"/>
              </a:rPr>
              <a:t>React · 포트 5173</a:t>
            </a:r>
          </a:p>
        </p:txBody>
      </p:sp>
      <p:sp>
        <p:nvSpPr>
          <p:cNvPr id="100249" name="Server"/>
          <p:cNvSpPr/>
          <p:nvPr/>
        </p:nvSpPr>
        <p:spPr>
          <a:xfrm xmlns:a="http://schemas.openxmlformats.org/drawingml/2006/main">
            <a:off x="3744000" y="3024000"/>
            <a:ext cx="4680000" cy="1080000"/>
          </a:xfrm>
          <a:prstGeom xmlns:a="http://schemas.openxmlformats.org/drawingml/2006/main" prst="roundRect">
            <a:avLst/>
          </a:prstGeom>
          <a:solidFill xmlns:a="http://schemas.openxmlformats.org/drawingml/2006/main">
            <a:srgbClr val="111827"/>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1">
                <a:solidFill>
                  <a:srgbClr val="FFFFFF"/>
                </a:solidFill>
                <a:latin typeface="Malgun Gothic"/>
                <a:ea typeface="Malgun Gothic"/>
              </a:rPr>
              <a:t>서버 — 요청을 받아 처리</a:t>
            </a:r>
          </a:p>
          <a:p xmlns:a="http://schemas.openxmlformats.org/drawingml/2006/main">
            <a:pPr algn="ctr"/>
            <a:r>
              <a:rPr lang="en-US" sz="1300">
                <a:solidFill>
                  <a:srgbClr val="D1D5DB"/>
                </a:solidFill>
                <a:latin typeface="Malgun Gothic"/>
                <a:ea typeface="Malgun Gothic"/>
              </a:rPr>
              <a:t>Node.js (Express) · 포트 3000</a:t>
            </a:r>
          </a:p>
        </p:txBody>
      </p:sp>
      <p:sp>
        <p:nvSpPr>
          <p:cNvPr id="100250" name="FlowLabel"/>
          <p:cNvSpPr txBox="1"/>
          <p:nvPr/>
        </p:nvSpPr>
        <p:spPr>
          <a:xfrm xmlns:a="http://schemas.openxmlformats.org/drawingml/2006/main">
            <a:off x="6552000" y="2610000"/>
            <a:ext cx="23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6B7280"/>
                </a:solidFill>
                <a:latin typeface="Malgun Gothic"/>
                <a:ea typeface="Malgun Gothic"/>
              </a:rPr>
              <a:t>요청 · 응답 (JSON)</a:t>
            </a:r>
          </a:p>
        </p:txBody>
      </p:sp>
      <p:sp>
        <p:nvSpPr>
          <p:cNvPr id="100251" name="HelperAI"/>
          <p:cNvSpPr/>
          <p:nvPr/>
        </p:nvSpPr>
        <p:spPr>
          <a:xfrm xmlns:a="http://schemas.openxmlformats.org/drawingml/2006/main">
            <a:off x="540000" y="4608000"/>
            <a:ext cx="3492000" cy="1224000"/>
          </a:xfrm>
          <a:prstGeom xmlns:a="http://schemas.openxmlformats.org/drawingml/2006/main" prst="roundRect">
            <a:avLst/>
          </a:prstGeom>
          <a:solidFill xmlns:a="http://schemas.openxmlformats.org/drawingml/2006/main">
            <a:srgbClr val="F5F6F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000000"/>
                </a:solidFill>
                <a:latin typeface="Malgun Gothic"/>
                <a:ea typeface="Malgun Gothic"/>
              </a:rPr>
              <a:t>AI 분석 엔진</a:t>
            </a:r>
          </a:p>
          <a:p xmlns:a="http://schemas.openxmlformats.org/drawingml/2006/main">
            <a:pPr algn="ctr"/>
            <a:r>
              <a:rPr lang="en-US" sz="1200">
                <a:solidFill>
                  <a:srgbClr val="4B5563"/>
                </a:solidFill>
                <a:latin typeface="Malgun Gothic"/>
                <a:ea typeface="Malgun Gothic"/>
              </a:rPr>
              <a:t>외부 AI 게이트웨이가
아이디어를 읽고 점수·이유 작성</a:t>
            </a:r>
          </a:p>
        </p:txBody>
      </p:sp>
      <p:sp>
        <p:nvSpPr>
          <p:cNvPr id="100252" name="HelperMail"/>
          <p:cNvSpPr/>
          <p:nvPr/>
        </p:nvSpPr>
        <p:spPr>
          <a:xfrm xmlns:a="http://schemas.openxmlformats.org/drawingml/2006/main">
            <a:off x="4356000" y="4608000"/>
            <a:ext cx="3492000" cy="1224000"/>
          </a:xfrm>
          <a:prstGeom xmlns:a="http://schemas.openxmlformats.org/drawingml/2006/main" prst="roundRect">
            <a:avLst/>
          </a:prstGeom>
          <a:solidFill xmlns:a="http://schemas.openxmlformats.org/drawingml/2006/main">
            <a:srgbClr val="F5F6F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500" b="1">
                <a:solidFill>
                  <a:srgbClr val="000000"/>
                </a:solidFill>
                <a:latin typeface="Malgun Gothic"/>
                <a:ea typeface="Malgun Gothic"/>
              </a:rPr>
              <a:t>이메일 발송</a:t>
            </a:r>
          </a:p>
          <a:p xmlns:a="http://schemas.openxmlformats.org/drawingml/2006/main">
            <a:pPr algn="ctr"/>
            <a:r>
              <a:rPr lang="en-US" sz="1200">
                <a:solidFill>
                  <a:srgbClr val="4B5563"/>
                </a:solidFill>
                <a:latin typeface="Malgun Gothic"/>
                <a:ea typeface="Malgun Gothic"/>
              </a:rPr>
              <a:t>구독 환영 · 주간 소식 · 마감 알림
SMTP 미설정 시 기록 모드</a:t>
            </a:r>
          </a:p>
        </p:txBody>
      </p:sp>
      <p:sp>
        <p:nvSpPr>
          <p:cNvPr id="100253" name="HelperData"/>
          <p:cNvSpPr/>
          <p:nvPr/>
        </p:nvSpPr>
        <p:spPr>
          <a:xfrm xmlns:a="http://schemas.openxmlformats.org/drawingml/2006/main">
            <a:off x="8172000" y="4608000"/>
            <a:ext cx="3492000" cy="1224000"/>
          </a:xfrm>
          <a:prstGeom xmlns:a="http://schemas.openxmlformats.org/drawingml/2006/main" prst="roundRect">
            <a:avLst/>
          </a:prstGeom>
          <a:solidFill xmlns:a="http://schemas.openxmlformats.org/drawingml/2006/main">
            <a:srgbClr val="F5F6F8"/>
          </a:solidFill>
          <a:ln xmlns:a="http://schemas.openxmlformats.org/drawingml/2006/main">
            <a:noFill/>
          </a:ln>
        </p:spPr>
        <p:txBody>
          <a:bodyPr xmlns:a="http://schemas.openxmlformats.org/drawingml/2006/main" anchor="ctr"/>
          <a:lstStyle xmlns:a="http://schemas.openxmlformats.org/drawingml/2006/main"/>
          <a:p>
            <a:pPr algn="ctr"/>
            <a:r>
              <a:rPr lang="en-US" sz="1500" b="1">
                <a:solidFill>
                  <a:srgbClr val="000000"/>
                </a:solidFill>
                <a:latin typeface="Malgun Gothic"/>
                <a:ea typeface="Malgun Gothic"/>
              </a:rPr>
              <a:t>데이터 저장</a:t>
            </a:r>
          </a:p>
          <a:p>
            <a:pPr algn="ctr"/>
            <a:r>
              <a:rPr lang="en-US" sz="1200" b="0">
                <a:solidFill>
                  <a:srgbClr val="4B5563"/>
                </a:solidFill>
                <a:latin typeface="Malgun Gothic"/>
                <a:ea typeface="Malgun Gothic"/>
              </a:rPr>
              <a:t>PostgreSQL 8테이블 — 계정 · 사용자 기록</a:t>
            </a:r>
          </a:p>
          <a:p>
            <a:pPr algn="ctr"/>
            <a:r>
              <a:rPr lang="en-US" sz="1200" b="0">
                <a:solidFill>
                  <a:srgbClr val="4B5563"/>
                </a:solidFill>
                <a:latin typeface="Malgun Gothic"/>
                <a:ea typeface="Malgun Gothic"/>
              </a:rPr>
              <a:t>공모전 DB · 발송 · 문의 기록 (Docker)</a:t>
            </a:r>
          </a:p>
        </p:txBody>
      </p:sp>
      <p:cxnSp>
        <p:nvCxnSpPr>
          <p:cNvPr id="100254" name="C1"/>
          <p:cNvCxnSpPr>
            <a:stCxn xmlns:a="http://schemas.openxmlformats.org/drawingml/2006/main" id="100248" idx="0"/>
            <a:endCxn xmlns:a="http://schemas.openxmlformats.org/drawingml/2006/main" id="100249" idx="0"/>
          </p:cNvCxnSpPr>
          <p:nvPr/>
        </p:nvCxnSpPr>
        <p:spPr>
          <a:xfrm xmlns:a="http://schemas.openxmlformats.org/drawingml/2006/main">
            <a:off x="6084000" y="2592000"/>
            <a:ext cx="0" cy="432000"/>
          </a:xfrm>
          <a:prstGeom xmlns:a="http://schemas.openxmlformats.org/drawingml/2006/main" prst="straightConnector1">
            <a:avLst/>
          </a:prstGeom>
          <a:ln xmlns:a="http://schemas.openxmlformats.org/drawingml/2006/main" w="19050">
            <a:solidFill>
              <a:srgbClr val="9CA3AF"/>
            </a:solidFill>
            <a:tailEnd type="triangle"/>
          </a:ln>
        </p:spPr>
      </p:cxnSp>
      <p:cxnSp>
        <p:nvCxnSpPr>
          <p:cNvPr id="100255" name="C2"/>
          <p:cNvCxnSpPr>
            <a:stCxn xmlns:a="http://schemas.openxmlformats.org/drawingml/2006/main" id="100249" idx="0"/>
            <a:endCxn xmlns:a="http://schemas.openxmlformats.org/drawingml/2006/main" id="100251" idx="0"/>
          </p:cNvCxnSpPr>
          <p:nvPr/>
        </p:nvCxnSpPr>
        <p:spPr>
          <a:xfrm xmlns:a="http://schemas.openxmlformats.org/drawingml/2006/main" flipH="1">
            <a:off x="2286000" y="4104000"/>
            <a:ext cx="3798000" cy="504000"/>
          </a:xfrm>
          <a:prstGeom xmlns:a="http://schemas.openxmlformats.org/drawingml/2006/main" prst="bentConnector3">
            <a:avLst/>
          </a:prstGeom>
          <a:ln xmlns:a="http://schemas.openxmlformats.org/drawingml/2006/main" w="12700">
            <a:solidFill>
              <a:srgbClr val="9CA3AF"/>
            </a:solidFill>
            <a:tailEnd type="triangle"/>
          </a:ln>
        </p:spPr>
      </p:cxnSp>
      <p:cxnSp>
        <p:nvCxnSpPr>
          <p:cNvPr id="100256" name="C3"/>
          <p:cNvCxnSpPr>
            <a:stCxn xmlns:a="http://schemas.openxmlformats.org/drawingml/2006/main" id="100249" idx="0"/>
            <a:endCxn xmlns:a="http://schemas.openxmlformats.org/drawingml/2006/main" id="100252" idx="0"/>
          </p:cNvCxnSpPr>
          <p:nvPr/>
        </p:nvCxnSpPr>
        <p:spPr>
          <a:xfrm xmlns:a="http://schemas.openxmlformats.org/drawingml/2006/main">
            <a:off x="6084000" y="4104000"/>
            <a:ext cx="18000" cy="504000"/>
          </a:xfrm>
          <a:prstGeom xmlns:a="http://schemas.openxmlformats.org/drawingml/2006/main" prst="straightConnector1">
            <a:avLst/>
          </a:prstGeom>
          <a:ln xmlns:a="http://schemas.openxmlformats.org/drawingml/2006/main" w="12700">
            <a:solidFill>
              <a:srgbClr val="9CA3AF"/>
            </a:solidFill>
            <a:tailEnd type="triangle"/>
          </a:ln>
        </p:spPr>
      </p:cxnSp>
      <p:cxnSp>
        <p:nvCxnSpPr>
          <p:cNvPr id="100257" name="C4"/>
          <p:cNvCxnSpPr>
            <a:stCxn xmlns:a="http://schemas.openxmlformats.org/drawingml/2006/main" id="100249" idx="0"/>
            <a:endCxn xmlns:a="http://schemas.openxmlformats.org/drawingml/2006/main" id="100253" idx="0"/>
          </p:cNvCxnSpPr>
          <p:nvPr/>
        </p:nvCxnSpPr>
        <p:spPr>
          <a:xfrm xmlns:a="http://schemas.openxmlformats.org/drawingml/2006/main">
            <a:off x="6084000" y="4104000"/>
            <a:ext cx="3834000" cy="504000"/>
          </a:xfrm>
          <a:prstGeom xmlns:a="http://schemas.openxmlformats.org/drawingml/2006/main" prst="bentConnector3">
            <a:avLst/>
          </a:prstGeom>
          <a:ln xmlns:a="http://schemas.openxmlformats.org/drawingml/2006/main" w="12700">
            <a:solidFill>
              <a:srgbClr val="9CA3AF"/>
            </a:solidFill>
            <a:tailEnd type="triangle"/>
          </a:ln>
        </p:spPr>
      </p:cxnSp>
      <p:sp>
        <p:nvSpPr>
          <p:cNvPr id="100258" name="Hint"/>
          <p:cNvSpPr txBox="1"/>
          <p:nvPr/>
        </p:nvSpPr>
        <p:spPr>
          <a:xfrm xmlns:a="http://schemas.openxmlformats.org/drawingml/2006/main">
            <a:off x="540000" y="6120000"/>
            <a:ext cx="111132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6B7280"/>
                </a:solidFill>
                <a:latin typeface="Malgun Gothic"/>
                <a:ea typeface="Malgun Gothic"/>
              </a:rPr>
              <a:t>화면과 서버가 나뉘어 있어도 사용자는 하나의 서비스처럼 씁니다 — 찜·기록은 브라우저에, 계정·백업은 서버에 저장됩니다.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맑은 고딕"/>
        <a:cs typeface=""/>
      </a:majorFont>
      <a:minorFont>
        <a:latin typeface="Calibri"/>
        <a:ea typeface="맑은 고딕"/>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맑은 고딕"/>
        <a:cs typeface=""/>
      </a:majorFont>
      <a:minorFont>
        <a:latin typeface="Calibri"/>
        <a:ea typeface="맑은 고딕"/>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2729</Words>
  <Application>Microsoft Office PowerPoint</Application>
  <PresentationFormat>와이드스크린</PresentationFormat>
  <Paragraphs>285</Paragraphs>
  <Slides>19</Slides>
  <Notes>19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19</vt:i4>
      </vt:variant>
    </vt:vector>
  </HeadingPairs>
  <TitlesOfParts>
    <vt:vector size="24"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gaeul kim</cp:lastModifiedBy>
  <cp:revision>4</cp:revision>
  <dcterms:created xsi:type="dcterms:W3CDTF">2026-10-14T06:21:03Z</dcterms:created>
  <dcterms:modified xsi:type="dcterms:W3CDTF">2026-10-15T05:01:05Z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1.0.143</vt:lpwstr>
  </op:property>
  <op:property fmtid="{D5CDD505-2E9C-101B-9397-08002B2CF9AE}" pid="3" name="OfficeCLI.LastModified">
    <vt:lpwstr>2026-10-15T05:56:37Z</vt:lpwstr>
  </op:property>
</op:Properties>
</file>